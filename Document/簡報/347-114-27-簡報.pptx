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01" r:id="rId1"/>
  </p:sldMasterIdLst>
  <p:notesMasterIdLst>
    <p:notesMasterId r:id="rId40"/>
  </p:notesMasterIdLst>
  <p:handoutMasterIdLst>
    <p:handoutMasterId r:id="rId41"/>
  </p:handoutMasterIdLst>
  <p:sldIdLst>
    <p:sldId id="930" r:id="rId2"/>
    <p:sldId id="933" r:id="rId3"/>
    <p:sldId id="1000" r:id="rId4"/>
    <p:sldId id="999" r:id="rId5"/>
    <p:sldId id="947" r:id="rId6"/>
    <p:sldId id="972" r:id="rId7"/>
    <p:sldId id="971" r:id="rId8"/>
    <p:sldId id="998" r:id="rId9"/>
    <p:sldId id="975" r:id="rId10"/>
    <p:sldId id="997" r:id="rId11"/>
    <p:sldId id="996" r:id="rId12"/>
    <p:sldId id="955" r:id="rId13"/>
    <p:sldId id="980" r:id="rId14"/>
    <p:sldId id="981" r:id="rId15"/>
    <p:sldId id="962" r:id="rId16"/>
    <p:sldId id="983" r:id="rId17"/>
    <p:sldId id="945" r:id="rId18"/>
    <p:sldId id="984" r:id="rId19"/>
    <p:sldId id="1002" r:id="rId20"/>
    <p:sldId id="1003" r:id="rId21"/>
    <p:sldId id="963" r:id="rId22"/>
    <p:sldId id="968" r:id="rId23"/>
    <p:sldId id="978" r:id="rId24"/>
    <p:sldId id="976" r:id="rId25"/>
    <p:sldId id="992" r:id="rId26"/>
    <p:sldId id="985" r:id="rId27"/>
    <p:sldId id="991" r:id="rId28"/>
    <p:sldId id="1006" r:id="rId29"/>
    <p:sldId id="1008" r:id="rId30"/>
    <p:sldId id="1004" r:id="rId31"/>
    <p:sldId id="993" r:id="rId32"/>
    <p:sldId id="994" r:id="rId33"/>
    <p:sldId id="956" r:id="rId34"/>
    <p:sldId id="915" r:id="rId35"/>
    <p:sldId id="966" r:id="rId36"/>
    <p:sldId id="970" r:id="rId37"/>
    <p:sldId id="969" r:id="rId38"/>
    <p:sldId id="94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src" initials="s" lastIdx="3" clrIdx="0">
    <p:extLst>
      <p:ext uri="{19B8F6BF-5375-455C-9EA6-DF929625EA0E}">
        <p15:presenceInfo xmlns:p15="http://schemas.microsoft.com/office/powerpoint/2012/main" userId=" src" providerId="None"/>
      </p:ext>
    </p:extLst>
  </p:cmAuthor>
  <p:cmAuthor id="2" name="聖博 林" initials="聖博" lastIdx="1" clrIdx="1">
    <p:extLst>
      <p:ext uri="{19B8F6BF-5375-455C-9EA6-DF929625EA0E}">
        <p15:presenceInfo xmlns:p15="http://schemas.microsoft.com/office/powerpoint/2012/main" userId="24c87805fcb9cc4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18B760"/>
    <a:srgbClr val="E7E7E7"/>
    <a:srgbClr val="002060"/>
    <a:srgbClr val="47C37F"/>
    <a:srgbClr val="FFCCCC"/>
    <a:srgbClr val="E6E6E6"/>
    <a:srgbClr val="CCCCCC"/>
    <a:srgbClr val="FFFFFF"/>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58" autoAdjust="0"/>
    <p:restoredTop sz="97013"/>
  </p:normalViewPr>
  <p:slideViewPr>
    <p:cSldViewPr snapToGrid="0" snapToObjects="1">
      <p:cViewPr varScale="1">
        <p:scale>
          <a:sx n="117" d="100"/>
          <a:sy n="117" d="100"/>
        </p:scale>
        <p:origin x="270" y="96"/>
      </p:cViewPr>
      <p:guideLst/>
    </p:cSldViewPr>
  </p:slideViewPr>
  <p:notesTextViewPr>
    <p:cViewPr>
      <p:scale>
        <a:sx n="150" d="100"/>
        <a:sy n="150" d="100"/>
      </p:scale>
      <p:origin x="0" y="0"/>
    </p:cViewPr>
  </p:notesTextViewPr>
  <p:sorterViewPr>
    <p:cViewPr>
      <p:scale>
        <a:sx n="66" d="100"/>
        <a:sy n="66" d="100"/>
      </p:scale>
      <p:origin x="0" y="0"/>
    </p:cViewPr>
  </p:sorterViewPr>
  <p:notesViewPr>
    <p:cSldViewPr snapToGrid="0" snapToObjects="1" showGuides="1">
      <p:cViewPr varScale="1">
        <p:scale>
          <a:sx n="57" d="100"/>
          <a:sy n="57" d="100"/>
        </p:scale>
        <p:origin x="2754" y="6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D8CFB6"/>
              </a:solidFill>
              <a:ln w="19050">
                <a:solidFill>
                  <a:schemeClr val="lt1"/>
                </a:solidFill>
              </a:ln>
              <a:effectLst/>
            </c:spPr>
            <c:extLst>
              <c:ext xmlns:c16="http://schemas.microsoft.com/office/drawing/2014/chart" uri="{C3380CC4-5D6E-409C-BE32-E72D297353CC}">
                <c16:uniqueId val="{00000004-C1DF-4CB7-B141-E1E4808BE44D}"/>
              </c:ext>
            </c:extLst>
          </c:dPt>
          <c:dPt>
            <c:idx val="1"/>
            <c:bubble3D val="0"/>
            <c:spPr>
              <a:solidFill>
                <a:srgbClr val="B9AF9D"/>
              </a:solidFill>
              <a:ln w="19050">
                <a:solidFill>
                  <a:schemeClr val="lt1"/>
                </a:solidFill>
              </a:ln>
              <a:effectLst/>
            </c:spPr>
            <c:extLst>
              <c:ext xmlns:c16="http://schemas.microsoft.com/office/drawing/2014/chart" uri="{C3380CC4-5D6E-409C-BE32-E72D297353CC}">
                <c16:uniqueId val="{00000003-C1DF-4CB7-B141-E1E4808BE44D}"/>
              </c:ext>
            </c:extLst>
          </c:dPt>
          <c:dPt>
            <c:idx val="2"/>
            <c:bubble3D val="0"/>
            <c:spPr>
              <a:solidFill>
                <a:srgbClr val="758187"/>
              </a:solidFill>
              <a:ln w="19050">
                <a:solidFill>
                  <a:schemeClr val="lt1"/>
                </a:solidFill>
              </a:ln>
              <a:effectLst/>
            </c:spPr>
            <c:extLst>
              <c:ext xmlns:c16="http://schemas.microsoft.com/office/drawing/2014/chart" uri="{C3380CC4-5D6E-409C-BE32-E72D297353CC}">
                <c16:uniqueId val="{00000002-C1DF-4CB7-B141-E1E4808BE44D}"/>
              </c:ext>
            </c:extLst>
          </c:dPt>
          <c:dPt>
            <c:idx val="3"/>
            <c:bubble3D val="0"/>
            <c:spPr>
              <a:solidFill>
                <a:srgbClr val="929292"/>
              </a:solidFill>
              <a:ln w="19050">
                <a:solidFill>
                  <a:schemeClr val="lt1"/>
                </a:solidFill>
              </a:ln>
              <a:effectLst/>
            </c:spPr>
            <c:extLst>
              <c:ext xmlns:c16="http://schemas.microsoft.com/office/drawing/2014/chart" uri="{C3380CC4-5D6E-409C-BE32-E72D297353CC}">
                <c16:uniqueId val="{00000001-C1DF-4CB7-B141-E1E4808BE44D}"/>
              </c:ext>
            </c:extLst>
          </c:dPt>
          <c:dLbls>
            <c:dLbl>
              <c:idx val="0"/>
              <c:layout>
                <c:manualLayout>
                  <c:x val="0.20553421136675265"/>
                  <c:y val="-4.0464237231417545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4-C1DF-4CB7-B141-E1E4808BE44D}"/>
                </c:ext>
              </c:extLst>
            </c:dLbl>
            <c:dLbl>
              <c:idx val="1"/>
              <c:layout>
                <c:manualLayout>
                  <c:x val="-0.23071708187435339"/>
                  <c:y val="4.4483110921478976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1DF-4CB7-B141-E1E4808BE44D}"/>
                </c:ext>
              </c:extLst>
            </c:dLbl>
            <c:dLbl>
              <c:idx val="2"/>
              <c:layout>
                <c:manualLayout>
                  <c:x val="0.13515596152486403"/>
                  <c:y val="0.13021417173701647"/>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2-C1DF-4CB7-B141-E1E4808BE44D}"/>
                </c:ext>
              </c:extLst>
            </c:dLbl>
            <c:dLbl>
              <c:idx val="3"/>
              <c:layout>
                <c:manualLayout>
                  <c:x val="5.5873992096517805E-2"/>
                  <c:y val="0.1465881756469010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1DF-4CB7-B141-E1E4808BE44D}"/>
                </c:ext>
              </c:extLst>
            </c:dLbl>
            <c:spPr>
              <a:noFill/>
              <a:ln>
                <a:noFill/>
              </a:ln>
              <a:effectLst/>
            </c:spPr>
            <c:txPr>
              <a:bodyPr rot="0" spcFirstLastPara="1" vertOverflow="ellipsis" vert="horz" wrap="square" lIns="38100" tIns="19050" rIns="38100" bIns="19050" anchor="ctr" anchorCtr="1">
                <a:spAutoFit/>
              </a:bodyPr>
              <a:lstStyle/>
              <a:p>
                <a:pPr>
                  <a:defRPr sz="1500" b="0" i="0" u="none" strike="noStrike" kern="1200" baseline="0">
                    <a:solidFill>
                      <a:schemeClr val="bg1"/>
                    </a:solidFill>
                    <a:latin typeface="+mn-lt"/>
                    <a:ea typeface="+mn-ea"/>
                    <a:cs typeface="+mn-cs"/>
                  </a:defRPr>
                </a:pPr>
                <a:endParaRPr lang="zh-TW"/>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Sheet1!$A$4:$A$5</c:f>
              <c:strCache>
                <c:ptCount val="2"/>
                <c:pt idx="0">
                  <c:v>林聖博</c:v>
                </c:pt>
                <c:pt idx="1">
                  <c:v>余貫瑒</c:v>
                </c:pt>
              </c:strCache>
            </c:strRef>
          </c:cat>
          <c:val>
            <c:numRef>
              <c:f>Sheet1!$B$4:$B$5</c:f>
              <c:numCache>
                <c:formatCode>General</c:formatCode>
                <c:ptCount val="2"/>
                <c:pt idx="0">
                  <c:v>75</c:v>
                </c:pt>
                <c:pt idx="1">
                  <c:v>25</c:v>
                </c:pt>
              </c:numCache>
            </c:numRef>
          </c:val>
          <c:extLst>
            <c:ext xmlns:c16="http://schemas.microsoft.com/office/drawing/2014/chart" uri="{C3380CC4-5D6E-409C-BE32-E72D297353CC}">
              <c16:uniqueId val="{00000000-C1DF-4CB7-B141-E1E4808BE44D}"/>
            </c:ext>
          </c:extLst>
        </c:ser>
        <c:dLbls>
          <c:dLblPos val="inEnd"/>
          <c:showLegendKey val="0"/>
          <c:showVal val="0"/>
          <c:showCatName val="0"/>
          <c:showSerName val="0"/>
          <c:showPercent val="1"/>
          <c:showBubbleSize val="0"/>
          <c:showLeaderLines val="1"/>
        </c:dLbls>
        <c:firstSliceAng val="13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D4DFA9-38CF-7D4C-9EB4-7A6A0A01A9C5}" type="datetimeFigureOut">
              <a:rPr lang="en-US" smtClean="0"/>
              <a:t>11/27/2024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8C5D27-E275-914C-B9A8-807C55B0069F}" type="slidenum">
              <a:rPr lang="en-US" smtClean="0"/>
              <a:t>‹#›</a:t>
            </a:fld>
            <a:endParaRPr lang="en-US"/>
          </a:p>
        </p:txBody>
      </p:sp>
    </p:spTree>
    <p:extLst>
      <p:ext uri="{BB962C8B-B14F-4D97-AF65-F5344CB8AC3E}">
        <p14:creationId xmlns:p14="http://schemas.microsoft.com/office/powerpoint/2010/main" val="48029849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09CB90-614C-5144-87C1-67812BEDF5FB}" type="datetimeFigureOut">
              <a:rPr lang="en-US" smtClean="0"/>
              <a:t>11/27/2024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6E7EC0-9BE3-5541-9D76-7DE32A6C9D42}" type="slidenum">
              <a:rPr lang="en-US" smtClean="0"/>
              <a:t>‹#›</a:t>
            </a:fld>
            <a:endParaRPr lang="en-US"/>
          </a:p>
        </p:txBody>
      </p:sp>
    </p:spTree>
    <p:extLst>
      <p:ext uri="{BB962C8B-B14F-4D97-AF65-F5344CB8AC3E}">
        <p14:creationId xmlns:p14="http://schemas.microsoft.com/office/powerpoint/2010/main" val="2001100545"/>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5" name="Footer Placeholder 4"/>
          <p:cNvSpPr>
            <a:spLocks noGrp="1"/>
          </p:cNvSpPr>
          <p:nvPr>
            <p:ph type="ftr" sz="quarter" idx="11"/>
          </p:nvPr>
        </p:nvSpPr>
        <p:spPr/>
        <p:txBody>
          <a:bodyPr/>
          <a:lstStyle/>
          <a:p>
            <a:r>
              <a:rPr lang="en-US"/>
              <a:t>www.infographic.com</a:t>
            </a:r>
            <a:endParaRPr lang="en-US" dirty="0"/>
          </a:p>
        </p:txBody>
      </p:sp>
      <p:sp>
        <p:nvSpPr>
          <p:cNvPr id="6" name="Slide Number Placeholder 5"/>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39222093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5" name="Footer Placeholder 4"/>
          <p:cNvSpPr>
            <a:spLocks noGrp="1"/>
          </p:cNvSpPr>
          <p:nvPr>
            <p:ph type="ftr" sz="quarter" idx="11"/>
          </p:nvPr>
        </p:nvSpPr>
        <p:spPr/>
        <p:txBody>
          <a:bodyPr/>
          <a:lstStyle/>
          <a:p>
            <a:r>
              <a:rPr lang="en-US"/>
              <a:t>www.infographic.com</a:t>
            </a:r>
            <a:endParaRPr lang="en-US" dirty="0"/>
          </a:p>
        </p:txBody>
      </p:sp>
      <p:sp>
        <p:nvSpPr>
          <p:cNvPr id="6" name="Slide Number Placeholder 5"/>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419900170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5" name="Footer Placeholder 4"/>
          <p:cNvSpPr>
            <a:spLocks noGrp="1"/>
          </p:cNvSpPr>
          <p:nvPr>
            <p:ph type="ftr" sz="quarter" idx="11"/>
          </p:nvPr>
        </p:nvSpPr>
        <p:spPr/>
        <p:txBody>
          <a:bodyPr/>
          <a:lstStyle/>
          <a:p>
            <a:r>
              <a:rPr lang="en-US"/>
              <a:t>www.infographic.com</a:t>
            </a:r>
            <a:endParaRPr lang="en-US" dirty="0"/>
          </a:p>
        </p:txBody>
      </p:sp>
      <p:sp>
        <p:nvSpPr>
          <p:cNvPr id="6" name="Slide Number Placeholder 5"/>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15763090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6" name="Footer Placeholder 5"/>
          <p:cNvSpPr>
            <a:spLocks noGrp="1"/>
          </p:cNvSpPr>
          <p:nvPr>
            <p:ph type="ftr" sz="quarter" idx="11"/>
          </p:nvPr>
        </p:nvSpPr>
        <p:spPr/>
        <p:txBody>
          <a:bodyPr/>
          <a:lstStyle/>
          <a:p>
            <a:r>
              <a:rPr lang="en-US"/>
              <a:t>www.infographic.com</a:t>
            </a:r>
            <a:endParaRPr lang="en-US" dirty="0"/>
          </a:p>
        </p:txBody>
      </p:sp>
      <p:sp>
        <p:nvSpPr>
          <p:cNvPr id="7" name="Slide Number Placeholder 6"/>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36034756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8" name="Footer Placeholder 7"/>
          <p:cNvSpPr>
            <a:spLocks noGrp="1"/>
          </p:cNvSpPr>
          <p:nvPr>
            <p:ph type="ftr" sz="quarter" idx="11"/>
          </p:nvPr>
        </p:nvSpPr>
        <p:spPr/>
        <p:txBody>
          <a:bodyPr/>
          <a:lstStyle/>
          <a:p>
            <a:r>
              <a:rPr lang="en-US"/>
              <a:t>www.infographic.com</a:t>
            </a:r>
            <a:endParaRPr lang="en-US" dirty="0"/>
          </a:p>
        </p:txBody>
      </p:sp>
      <p:sp>
        <p:nvSpPr>
          <p:cNvPr id="9" name="Slide Number Placeholder 8"/>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21191581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4" name="Footer Placeholder 3"/>
          <p:cNvSpPr>
            <a:spLocks noGrp="1"/>
          </p:cNvSpPr>
          <p:nvPr>
            <p:ph type="ftr" sz="quarter" idx="11"/>
          </p:nvPr>
        </p:nvSpPr>
        <p:spPr/>
        <p:txBody>
          <a:bodyPr/>
          <a:lstStyle/>
          <a:p>
            <a:r>
              <a:rPr lang="en-US"/>
              <a:t>www.infographic.com</a:t>
            </a:r>
            <a:endParaRPr lang="en-US" dirty="0"/>
          </a:p>
        </p:txBody>
      </p:sp>
      <p:sp>
        <p:nvSpPr>
          <p:cNvPr id="5" name="Slide Number Placeholder 4"/>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13792290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3" name="Footer Placeholder 2"/>
          <p:cNvSpPr>
            <a:spLocks noGrp="1"/>
          </p:cNvSpPr>
          <p:nvPr>
            <p:ph type="ftr" sz="quarter" idx="11"/>
          </p:nvPr>
        </p:nvSpPr>
        <p:spPr/>
        <p:txBody>
          <a:bodyPr/>
          <a:lstStyle/>
          <a:p>
            <a:r>
              <a:rPr lang="en-US"/>
              <a:t>www.infographic.com</a:t>
            </a:r>
            <a:endParaRPr lang="en-US" dirty="0"/>
          </a:p>
        </p:txBody>
      </p:sp>
      <p:sp>
        <p:nvSpPr>
          <p:cNvPr id="4" name="Slide Number Placeholder 3"/>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32210119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6" name="Footer Placeholder 5"/>
          <p:cNvSpPr>
            <a:spLocks noGrp="1"/>
          </p:cNvSpPr>
          <p:nvPr>
            <p:ph type="ftr" sz="quarter" idx="11"/>
          </p:nvPr>
        </p:nvSpPr>
        <p:spPr/>
        <p:txBody>
          <a:bodyPr/>
          <a:lstStyle/>
          <a:p>
            <a:r>
              <a:rPr lang="en-US"/>
              <a:t>www.infographic.com</a:t>
            </a:r>
            <a:endParaRPr lang="en-US" dirty="0"/>
          </a:p>
        </p:txBody>
      </p:sp>
      <p:sp>
        <p:nvSpPr>
          <p:cNvPr id="7" name="Slide Number Placeholder 6"/>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83593047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6" name="Footer Placeholder 5"/>
          <p:cNvSpPr>
            <a:spLocks noGrp="1"/>
          </p:cNvSpPr>
          <p:nvPr>
            <p:ph type="ftr" sz="quarter" idx="11"/>
          </p:nvPr>
        </p:nvSpPr>
        <p:spPr/>
        <p:txBody>
          <a:bodyPr/>
          <a:lstStyle/>
          <a:p>
            <a:r>
              <a:rPr lang="en-US"/>
              <a:t>www.infographic.com</a:t>
            </a:r>
            <a:endParaRPr lang="en-US" dirty="0"/>
          </a:p>
        </p:txBody>
      </p:sp>
      <p:sp>
        <p:nvSpPr>
          <p:cNvPr id="7" name="Slide Number Placeholder 6"/>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22813919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5" name="Footer Placeholder 4"/>
          <p:cNvSpPr>
            <a:spLocks noGrp="1"/>
          </p:cNvSpPr>
          <p:nvPr>
            <p:ph type="ftr" sz="quarter" idx="11"/>
          </p:nvPr>
        </p:nvSpPr>
        <p:spPr/>
        <p:txBody>
          <a:bodyPr/>
          <a:lstStyle/>
          <a:p>
            <a:r>
              <a:rPr lang="en-US"/>
              <a:t>www.infographic.com</a:t>
            </a:r>
            <a:endParaRPr lang="en-US" dirty="0"/>
          </a:p>
        </p:txBody>
      </p:sp>
      <p:sp>
        <p:nvSpPr>
          <p:cNvPr id="6" name="Slide Number Placeholder 5"/>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33928825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6CF0B10-8B4F-436F-8B2B-4396FE78C967}" type="datetimeFigureOut">
              <a:rPr lang="zh-TW" altLang="en-US" smtClean="0"/>
              <a:t>2024/11/27</a:t>
            </a:fld>
            <a:endParaRPr lang="zh-TW" altLang="en-US"/>
          </a:p>
        </p:txBody>
      </p:sp>
      <p:sp>
        <p:nvSpPr>
          <p:cNvPr id="5" name="Footer Placeholder 4"/>
          <p:cNvSpPr>
            <a:spLocks noGrp="1"/>
          </p:cNvSpPr>
          <p:nvPr>
            <p:ph type="ftr" sz="quarter" idx="11"/>
          </p:nvPr>
        </p:nvSpPr>
        <p:spPr/>
        <p:txBody>
          <a:bodyPr/>
          <a:lstStyle/>
          <a:p>
            <a:r>
              <a:rPr lang="en-US"/>
              <a:t>www.infographic.com</a:t>
            </a:r>
            <a:endParaRPr lang="en-US" dirty="0"/>
          </a:p>
        </p:txBody>
      </p:sp>
      <p:sp>
        <p:nvSpPr>
          <p:cNvPr id="6" name="Slide Number Placeholder 5"/>
          <p:cNvSpPr>
            <a:spLocks noGrp="1"/>
          </p:cNvSpPr>
          <p:nvPr>
            <p:ph type="sldNum" sz="quarter" idx="12"/>
          </p:nvPr>
        </p:nvSpPr>
        <p:spPr/>
        <p:txBody>
          <a:body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179741176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10E75E3A-C0D6-41DF-A8CE-B80891B9A516}"/>
              </a:ext>
            </a:extLst>
          </p:cNvPr>
          <p:cNvSpPr/>
          <p:nvPr userDrawn="1"/>
        </p:nvSpPr>
        <p:spPr>
          <a:xfrm>
            <a:off x="11642724" y="6308727"/>
            <a:ext cx="368300" cy="3683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B3C6570-3CA3-47B4-B4B3-7A9929FD6AAD}"/>
              </a:ext>
            </a:extLst>
          </p:cNvPr>
          <p:cNvSpPr/>
          <p:nvPr userDrawn="1"/>
        </p:nvSpPr>
        <p:spPr>
          <a:xfrm>
            <a:off x="0" y="0"/>
            <a:ext cx="12192000" cy="6858000"/>
          </a:xfrm>
          <a:prstGeom prst="rect">
            <a:avLst/>
          </a:prstGeom>
          <a:solidFill>
            <a:srgbClr val="758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796584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1146E637-009C-4DD1-BE66-71A94C50657B}"/>
              </a:ext>
            </a:extLst>
          </p:cNvPr>
          <p:cNvSpPr>
            <a:spLocks noGrp="1"/>
          </p:cNvSpPr>
          <p:nvPr>
            <p:ph type="pic" sz="quarter" idx="14"/>
          </p:nvPr>
        </p:nvSpPr>
        <p:spPr>
          <a:xfrm>
            <a:off x="4781550" y="0"/>
            <a:ext cx="7410450" cy="6858000"/>
          </a:xfrm>
          <a:custGeom>
            <a:avLst/>
            <a:gdLst>
              <a:gd name="connsiteX0" fmla="*/ 0 w 7410450"/>
              <a:gd name="connsiteY0" fmla="*/ 0 h 6858000"/>
              <a:gd name="connsiteX1" fmla="*/ 7410450 w 7410450"/>
              <a:gd name="connsiteY1" fmla="*/ 0 h 6858000"/>
              <a:gd name="connsiteX2" fmla="*/ 7410450 w 7410450"/>
              <a:gd name="connsiteY2" fmla="*/ 6858000 h 6858000"/>
              <a:gd name="connsiteX3" fmla="*/ 0 w 74104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10450" h="6858000">
                <a:moveTo>
                  <a:pt x="0" y="0"/>
                </a:moveTo>
                <a:lnTo>
                  <a:pt x="7410450" y="0"/>
                </a:lnTo>
                <a:lnTo>
                  <a:pt x="7410450" y="6858000"/>
                </a:lnTo>
                <a:lnTo>
                  <a:pt x="0" y="6858000"/>
                </a:lnTo>
                <a:close/>
              </a:path>
            </a:pathLst>
          </a:custGeom>
        </p:spPr>
        <p:txBody>
          <a:bodyPr wrap="square" anchor="ctr">
            <a:noAutofit/>
          </a:bodyPr>
          <a:lstStyle>
            <a:lvl1pPr marL="0" indent="0" algn="ctr">
              <a:buNone/>
              <a:defRPr sz="1200"/>
            </a:lvl1pPr>
          </a:lstStyle>
          <a:p>
            <a:endParaRPr lang="en-US" dirty="0"/>
          </a:p>
        </p:txBody>
      </p:sp>
    </p:spTree>
    <p:extLst>
      <p:ext uri="{BB962C8B-B14F-4D97-AF65-F5344CB8AC3E}">
        <p14:creationId xmlns:p14="http://schemas.microsoft.com/office/powerpoint/2010/main" val="152742206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1DB5CB1-8721-4C17-A53B-54C39B0C7FFB}"/>
              </a:ext>
            </a:extLst>
          </p:cNvPr>
          <p:cNvSpPr>
            <a:spLocks noGrp="1"/>
          </p:cNvSpPr>
          <p:nvPr>
            <p:ph type="pic" sz="quarter" idx="14"/>
          </p:nvPr>
        </p:nvSpPr>
        <p:spPr>
          <a:xfrm>
            <a:off x="2776771" y="2505193"/>
            <a:ext cx="2489200" cy="2489200"/>
          </a:xfrm>
          <a:custGeom>
            <a:avLst/>
            <a:gdLst>
              <a:gd name="connsiteX0" fmla="*/ 1244600 w 2489200"/>
              <a:gd name="connsiteY0" fmla="*/ 0 h 2489200"/>
              <a:gd name="connsiteX1" fmla="*/ 2489200 w 2489200"/>
              <a:gd name="connsiteY1" fmla="*/ 1244600 h 2489200"/>
              <a:gd name="connsiteX2" fmla="*/ 1244600 w 2489200"/>
              <a:gd name="connsiteY2" fmla="*/ 2489200 h 2489200"/>
              <a:gd name="connsiteX3" fmla="*/ 0 w 2489200"/>
              <a:gd name="connsiteY3" fmla="*/ 1244600 h 2489200"/>
              <a:gd name="connsiteX4" fmla="*/ 1244600 w 2489200"/>
              <a:gd name="connsiteY4" fmla="*/ 0 h 248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9200" h="2489200">
                <a:moveTo>
                  <a:pt x="1244600" y="0"/>
                </a:moveTo>
                <a:cubicBezTo>
                  <a:pt x="1931974" y="0"/>
                  <a:pt x="2489200" y="557226"/>
                  <a:pt x="2489200" y="1244600"/>
                </a:cubicBezTo>
                <a:cubicBezTo>
                  <a:pt x="2489200" y="1931974"/>
                  <a:pt x="1931974" y="2489200"/>
                  <a:pt x="1244600" y="2489200"/>
                </a:cubicBezTo>
                <a:cubicBezTo>
                  <a:pt x="557226" y="2489200"/>
                  <a:pt x="0" y="1931974"/>
                  <a:pt x="0" y="1244600"/>
                </a:cubicBezTo>
                <a:cubicBezTo>
                  <a:pt x="0" y="557226"/>
                  <a:pt x="557226" y="0"/>
                  <a:pt x="1244600" y="0"/>
                </a:cubicBezTo>
                <a:close/>
              </a:path>
            </a:pathLst>
          </a:custGeom>
        </p:spPr>
        <p:txBody>
          <a:bodyPr wrap="square" anchor="ctr">
            <a:noAutofit/>
          </a:bodyPr>
          <a:lstStyle>
            <a:lvl1pPr marL="0" indent="0" algn="ctr">
              <a:buNone/>
              <a:defRPr sz="1200"/>
            </a:lvl1pPr>
          </a:lstStyle>
          <a:p>
            <a:endParaRPr lang="en-US" dirty="0"/>
          </a:p>
        </p:txBody>
      </p:sp>
    </p:spTree>
    <p:extLst>
      <p:ext uri="{BB962C8B-B14F-4D97-AF65-F5344CB8AC3E}">
        <p14:creationId xmlns:p14="http://schemas.microsoft.com/office/powerpoint/2010/main" val="420084259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6644683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59697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2BBFBA7-335E-4BC6-9B00-9B869EBD79CC}"/>
              </a:ext>
            </a:extLst>
          </p:cNvPr>
          <p:cNvSpPr>
            <a:spLocks noGrp="1"/>
          </p:cNvSpPr>
          <p:nvPr>
            <p:ph type="pic" sz="quarter" idx="14"/>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txBody>
          <a:bodyPr wrap="square" anchor="ctr">
            <a:noAutofit/>
          </a:bodyPr>
          <a:lstStyle>
            <a:lvl1pPr marL="0" indent="0" algn="ctr">
              <a:buNone/>
              <a:defRPr sz="1200"/>
            </a:lvl1pPr>
          </a:lstStyle>
          <a:p>
            <a:endParaRPr lang="en-US" dirty="0"/>
          </a:p>
        </p:txBody>
      </p:sp>
    </p:spTree>
    <p:extLst>
      <p:ext uri="{BB962C8B-B14F-4D97-AF65-F5344CB8AC3E}">
        <p14:creationId xmlns:p14="http://schemas.microsoft.com/office/powerpoint/2010/main" val="268580634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CF0B10-8B4F-436F-8B2B-4396FE78C967}" type="datetimeFigureOut">
              <a:rPr lang="zh-TW" altLang="en-US" smtClean="0"/>
              <a:t>2024/11/27</a:t>
            </a:fld>
            <a:endParaRPr lang="zh-TW"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www.infographic.com</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7ECB15-F748-C140-A5C3-CF0090C943BA}" type="slidenum">
              <a:rPr lang="en-US" smtClean="0"/>
              <a:pPr/>
              <a:t>‹#›</a:t>
            </a:fld>
            <a:endParaRPr lang="en-US" dirty="0"/>
          </a:p>
        </p:txBody>
      </p:sp>
    </p:spTree>
    <p:extLst>
      <p:ext uri="{BB962C8B-B14F-4D97-AF65-F5344CB8AC3E}">
        <p14:creationId xmlns:p14="http://schemas.microsoft.com/office/powerpoint/2010/main" val="4069846612"/>
      </p:ext>
    </p:extLst>
  </p:cSld>
  <p:clrMap bg1="lt1" tx1="dk1" bg2="lt2" tx2="dk2" accent1="accent1" accent2="accent2" accent3="accent3" accent4="accent4" accent5="accent5" accent6="accent6" hlink="hlink" folHlink="folHlink"/>
  <p:sldLayoutIdLst>
    <p:sldLayoutId id="2147484102" r:id="rId1"/>
    <p:sldLayoutId id="2147484103" r:id="rId2"/>
    <p:sldLayoutId id="2147484104" r:id="rId3"/>
    <p:sldLayoutId id="2147484105" r:id="rId4"/>
    <p:sldLayoutId id="2147484106" r:id="rId5"/>
    <p:sldLayoutId id="2147484107" r:id="rId6"/>
    <p:sldLayoutId id="2147484108" r:id="rId7"/>
    <p:sldLayoutId id="2147484109" r:id="rId8"/>
    <p:sldLayoutId id="2147484110" r:id="rId9"/>
    <p:sldLayoutId id="2147484111" r:id="rId10"/>
    <p:sldLayoutId id="2147484112" r:id="rId11"/>
    <p:sldLayoutId id="2147484113" r:id="rId12"/>
    <p:sldLayoutId id="2147484114" r:id="rId13"/>
    <p:sldLayoutId id="2147484115" r:id="rId14"/>
    <p:sldLayoutId id="2147483724" r:id="rId15"/>
    <p:sldLayoutId id="2147484050" r:id="rId16"/>
    <p:sldLayoutId id="2147484051" r:id="rId17"/>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4.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Layout" Target="../slideLayouts/slideLayout1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Layout" Target="../slideLayouts/slideLayout1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Layout" Target="../slideLayouts/slideLayout1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Layout" Target="../slideLayouts/slideLayout1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1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jpg"/><Relationship Id="rId1" Type="http://schemas.openxmlformats.org/officeDocument/2006/relationships/slideLayout" Target="../slideLayouts/slideLayout13.xml"/><Relationship Id="rId5" Type="http://schemas.microsoft.com/office/2007/relationships/hdphoto" Target="../media/hdphoto1.wdp"/><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jpg"/><Relationship Id="rId1" Type="http://schemas.openxmlformats.org/officeDocument/2006/relationships/slideLayout" Target="../slideLayouts/slideLayout13.xml"/><Relationship Id="rId5" Type="http://schemas.microsoft.com/office/2007/relationships/hdphoto" Target="../media/hdphoto1.wdp"/><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8.svg"/></Relationships>
</file>

<file path=ppt/slides/_rels/slide2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jpg"/><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Spl6026/DevOps-Docker-ssl" TargetMode="External"/><Relationship Id="rId2"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hyperlink" Target="http://spl.sytes.net:8080/" TargetMode="External"/><Relationship Id="rId5" Type="http://schemas.openxmlformats.org/officeDocument/2006/relationships/hyperlink" Target="https://spl.sytes.net/php/" TargetMode="External"/><Relationship Id="rId4" Type="http://schemas.openxmlformats.org/officeDocument/2006/relationships/hyperlink" Target="https://spl.sytes.net/transch/"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jpg"/><Relationship Id="rId1" Type="http://schemas.openxmlformats.org/officeDocument/2006/relationships/slideLayout" Target="../slideLayouts/slideLayout13.xml"/><Relationship Id="rId4" Type="http://schemas.openxmlformats.org/officeDocument/2006/relationships/image" Target="../media/image43.svg"/></Relationships>
</file>

<file path=ppt/slides/_rels/slide3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46.png"/><Relationship Id="rId1" Type="http://schemas.openxmlformats.org/officeDocument/2006/relationships/slideLayout" Target="../slideLayouts/slideLayout13.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1</a:t>
            </a:fld>
            <a:endParaRPr lang="en-US" dirty="0"/>
          </a:p>
        </p:txBody>
      </p:sp>
      <p:sp>
        <p:nvSpPr>
          <p:cNvPr id="5" name="Oval 4">
            <a:extLst>
              <a:ext uri="{FF2B5EF4-FFF2-40B4-BE49-F238E27FC236}">
                <a16:creationId xmlns:a16="http://schemas.microsoft.com/office/drawing/2014/main" id="{E494BC60-FC6C-4704-AD8A-EF78486A1360}"/>
              </a:ext>
            </a:extLst>
          </p:cNvPr>
          <p:cNvSpPr/>
          <p:nvPr/>
        </p:nvSpPr>
        <p:spPr>
          <a:xfrm>
            <a:off x="-5220935" y="-781491"/>
            <a:ext cx="11005431" cy="11005431"/>
          </a:xfrm>
          <a:prstGeom prst="ellipse">
            <a:avLst/>
          </a:prstGeom>
          <a:solidFill>
            <a:srgbClr val="D8CFB6">
              <a:alpha val="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128">
            <a:extLst>
              <a:ext uri="{FF2B5EF4-FFF2-40B4-BE49-F238E27FC236}">
                <a16:creationId xmlns:a16="http://schemas.microsoft.com/office/drawing/2014/main" id="{B51239EC-C453-4FAC-9436-F1C4030E4B69}"/>
              </a:ext>
            </a:extLst>
          </p:cNvPr>
          <p:cNvSpPr txBox="1">
            <a:spLocks/>
          </p:cNvSpPr>
          <p:nvPr/>
        </p:nvSpPr>
        <p:spPr>
          <a:xfrm>
            <a:off x="4038600" y="3744471"/>
            <a:ext cx="4114800" cy="263524"/>
          </a:xfrm>
          <a:prstGeom prst="rect">
            <a:avLst/>
          </a:prstGeom>
        </p:spPr>
        <p:txBody>
          <a:bodyPr vert="horz" lIns="91440" tIns="45720" rIns="91440" bIns="45720" rtlCol="0" anchor="ctr"/>
          <a:lstStyle>
            <a:defPPr>
              <a:defRPr lang="en-US"/>
            </a:defPPr>
            <a:lvl1pPr marL="0" algn="r" defTabSz="914400" rtl="0" eaLnBrk="1" latinLnBrk="0" hangingPunct="1">
              <a:defRPr sz="1000" b="1" kern="1200">
                <a:solidFill>
                  <a:schemeClr val="bg1">
                    <a:lumMod val="65000"/>
                  </a:schemeClr>
                </a:solidFill>
                <a:latin typeface="Montserrat Light" panose="00000400000000000000"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TW" sz="1500" dirty="0">
              <a:solidFill>
                <a:schemeClr val="bg1"/>
              </a:solidFill>
            </a:endParaRPr>
          </a:p>
          <a:p>
            <a:pPr algn="ctr"/>
            <a:r>
              <a:rPr lang="zh-TW" altLang="en-US" sz="1500" dirty="0">
                <a:solidFill>
                  <a:schemeClr val="bg1"/>
                </a:solidFill>
              </a:rPr>
              <a:t>指導教授 </a:t>
            </a:r>
            <a:r>
              <a:rPr lang="en-US" altLang="zh-TW" sz="1500" dirty="0">
                <a:solidFill>
                  <a:schemeClr val="bg1"/>
                </a:solidFill>
              </a:rPr>
              <a:t>– </a:t>
            </a:r>
            <a:r>
              <a:rPr lang="zh-TW" altLang="en-US" sz="1500">
                <a:solidFill>
                  <a:schemeClr val="bg1"/>
                </a:solidFill>
              </a:rPr>
              <a:t>李龍盛</a:t>
            </a:r>
            <a:endParaRPr lang="en-US" altLang="zh-TW" sz="1500" dirty="0">
              <a:solidFill>
                <a:schemeClr val="bg1"/>
              </a:solidFill>
            </a:endParaRPr>
          </a:p>
          <a:p>
            <a:pPr algn="ctr"/>
            <a:r>
              <a:rPr lang="zh-TW" altLang="en-US" sz="1500" dirty="0">
                <a:solidFill>
                  <a:schemeClr val="bg1"/>
                </a:solidFill>
              </a:rPr>
              <a:t>組員 </a:t>
            </a:r>
            <a:r>
              <a:rPr lang="en-US" altLang="zh-TW" sz="1500" dirty="0">
                <a:solidFill>
                  <a:schemeClr val="bg1"/>
                </a:solidFill>
              </a:rPr>
              <a:t>- </a:t>
            </a:r>
            <a:r>
              <a:rPr lang="zh-TW" altLang="en-US" sz="1500" dirty="0">
                <a:solidFill>
                  <a:schemeClr val="bg1"/>
                </a:solidFill>
              </a:rPr>
              <a:t>林聖博 余貫瑒</a:t>
            </a:r>
            <a:endParaRPr lang="en-US" sz="1500" dirty="0">
              <a:solidFill>
                <a:schemeClr val="bg1"/>
              </a:solidFill>
            </a:endParaRPr>
          </a:p>
        </p:txBody>
      </p:sp>
      <p:sp>
        <p:nvSpPr>
          <p:cNvPr id="7" name="TextBox 6">
            <a:extLst>
              <a:ext uri="{FF2B5EF4-FFF2-40B4-BE49-F238E27FC236}">
                <a16:creationId xmlns:a16="http://schemas.microsoft.com/office/drawing/2014/main" id="{B574C94C-1EFC-43B0-B3D4-443719475F38}"/>
              </a:ext>
            </a:extLst>
          </p:cNvPr>
          <p:cNvSpPr txBox="1"/>
          <p:nvPr/>
        </p:nvSpPr>
        <p:spPr>
          <a:xfrm>
            <a:off x="0" y="3113529"/>
            <a:ext cx="12192000" cy="630942"/>
          </a:xfrm>
          <a:prstGeom prst="rect">
            <a:avLst/>
          </a:prstGeom>
          <a:noFill/>
        </p:spPr>
        <p:txBody>
          <a:bodyPr wrap="square" rtlCol="0">
            <a:spAutoFit/>
          </a:bodyPr>
          <a:lstStyle/>
          <a:p>
            <a:pPr algn="ctr"/>
            <a:r>
              <a:rPr lang="en-US" altLang="zh-TW" sz="3500" b="1" dirty="0">
                <a:solidFill>
                  <a:schemeClr val="bg1"/>
                </a:solidFill>
                <a:latin typeface="Montserrat Light" panose="00000400000000000000" pitchFamily="50" charset="0"/>
              </a:rPr>
              <a:t>DevOps</a:t>
            </a:r>
            <a:r>
              <a:rPr lang="zh-TW" altLang="en-US" sz="3500" b="1" dirty="0">
                <a:solidFill>
                  <a:schemeClr val="bg1"/>
                </a:solidFill>
                <a:latin typeface="Montserrat Light" panose="00000400000000000000" pitchFamily="50" charset="0"/>
              </a:rPr>
              <a:t>－自動化建置環境與憑證</a:t>
            </a:r>
            <a:endParaRPr lang="en-US" sz="3500" b="1" dirty="0">
              <a:solidFill>
                <a:schemeClr val="bg1"/>
              </a:solidFill>
              <a:latin typeface="Montserrat Light" panose="00000400000000000000" pitchFamily="50" charset="0"/>
            </a:endParaRPr>
          </a:p>
        </p:txBody>
      </p:sp>
      <p:sp>
        <p:nvSpPr>
          <p:cNvPr id="8" name="Oval 7">
            <a:extLst>
              <a:ext uri="{FF2B5EF4-FFF2-40B4-BE49-F238E27FC236}">
                <a16:creationId xmlns:a16="http://schemas.microsoft.com/office/drawing/2014/main" id="{C0DF3E42-8DA2-4D49-9E97-7FBD5929EBD8}"/>
              </a:ext>
            </a:extLst>
          </p:cNvPr>
          <p:cNvSpPr/>
          <p:nvPr/>
        </p:nvSpPr>
        <p:spPr>
          <a:xfrm>
            <a:off x="7753350" y="2184400"/>
            <a:ext cx="5073650" cy="507365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AC4E035-48D7-4745-BB20-F77D4E2805B3}"/>
              </a:ext>
            </a:extLst>
          </p:cNvPr>
          <p:cNvSpPr/>
          <p:nvPr/>
        </p:nvSpPr>
        <p:spPr>
          <a:xfrm>
            <a:off x="8153400" y="1255271"/>
            <a:ext cx="2489200" cy="2489200"/>
          </a:xfrm>
          <a:prstGeom prst="ellipse">
            <a:avLst/>
          </a:prstGeom>
          <a:solidFill>
            <a:srgbClr val="B9AF9D">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B0CF3BF-6B48-441B-8197-AB14D7D75EFE}"/>
              </a:ext>
            </a:extLst>
          </p:cNvPr>
          <p:cNvSpPr/>
          <p:nvPr/>
        </p:nvSpPr>
        <p:spPr>
          <a:xfrm>
            <a:off x="-1307567" y="2664360"/>
            <a:ext cx="4711167" cy="4711167"/>
          </a:xfrm>
          <a:prstGeom prst="ellipse">
            <a:avLst/>
          </a:prstGeom>
          <a:solidFill>
            <a:srgbClr val="929292">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163233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a:t>
            </a:fld>
            <a:endParaRPr lang="en-US" dirty="0"/>
          </a:p>
        </p:txBody>
      </p:sp>
      <p:sp>
        <p:nvSpPr>
          <p:cNvPr id="8" name="Oval 7">
            <a:extLst>
              <a:ext uri="{FF2B5EF4-FFF2-40B4-BE49-F238E27FC236}">
                <a16:creationId xmlns:a16="http://schemas.microsoft.com/office/drawing/2014/main" id="{289E9AFE-6180-41D3-ACB5-18E4A27FB1BD}"/>
              </a:ext>
            </a:extLst>
          </p:cNvPr>
          <p:cNvSpPr/>
          <p:nvPr/>
        </p:nvSpPr>
        <p:spPr>
          <a:xfrm>
            <a:off x="2357394" y="2130218"/>
            <a:ext cx="2489200" cy="248920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1DA2C80-5B30-4261-BA75-E9CB21A87BDF}"/>
              </a:ext>
            </a:extLst>
          </p:cNvPr>
          <p:cNvSpPr/>
          <p:nvPr/>
        </p:nvSpPr>
        <p:spPr>
          <a:xfrm>
            <a:off x="980706" y="2749550"/>
            <a:ext cx="2489200" cy="2489200"/>
          </a:xfrm>
          <a:prstGeom prst="ellipse">
            <a:avLst/>
          </a:prstGeom>
          <a:solidFill>
            <a:srgbClr val="B9AF9D">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C8C31AB-714E-42FF-96A1-2E9037DEA18C}"/>
              </a:ext>
            </a:extLst>
          </p:cNvPr>
          <p:cNvSpPr/>
          <p:nvPr/>
        </p:nvSpPr>
        <p:spPr>
          <a:xfrm>
            <a:off x="1001465" y="1504950"/>
            <a:ext cx="2489200" cy="2489200"/>
          </a:xfrm>
          <a:prstGeom prst="ellipse">
            <a:avLst/>
          </a:prstGeom>
          <a:solidFill>
            <a:srgbClr val="92929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5779EA7-01C7-46A1-9EE2-1F0FD87BB7AE}"/>
              </a:ext>
            </a:extLst>
          </p:cNvPr>
          <p:cNvSpPr/>
          <p:nvPr/>
        </p:nvSpPr>
        <p:spPr>
          <a:xfrm>
            <a:off x="1927924" y="980999"/>
            <a:ext cx="2489200" cy="248920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18DD9D6-4300-482B-AE03-B43D9B2222AA}"/>
              </a:ext>
            </a:extLst>
          </p:cNvPr>
          <p:cNvSpPr/>
          <p:nvPr/>
        </p:nvSpPr>
        <p:spPr>
          <a:xfrm>
            <a:off x="3045738" y="3273501"/>
            <a:ext cx="2489200" cy="2489200"/>
          </a:xfrm>
          <a:prstGeom prst="ellipse">
            <a:avLst/>
          </a:prstGeom>
          <a:solidFill>
            <a:srgbClr val="B9AF9D">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矩形 1">
            <a:extLst>
              <a:ext uri="{FF2B5EF4-FFF2-40B4-BE49-F238E27FC236}">
                <a16:creationId xmlns:a16="http://schemas.microsoft.com/office/drawing/2014/main" id="{C039A4C6-D16E-43B8-B22A-ECF1674BBCDA}"/>
              </a:ext>
            </a:extLst>
          </p:cNvPr>
          <p:cNvSpPr/>
          <p:nvPr/>
        </p:nvSpPr>
        <p:spPr>
          <a:xfrm>
            <a:off x="6400800" y="0"/>
            <a:ext cx="5791200" cy="6858000"/>
          </a:xfrm>
          <a:prstGeom prst="rect">
            <a:avLst/>
          </a:prstGeom>
          <a:solidFill>
            <a:schemeClr val="bg1"/>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dirty="0"/>
          </a:p>
        </p:txBody>
      </p:sp>
      <p:sp>
        <p:nvSpPr>
          <p:cNvPr id="16" name="Footer Placeholder 128">
            <a:extLst>
              <a:ext uri="{FF2B5EF4-FFF2-40B4-BE49-F238E27FC236}">
                <a16:creationId xmlns:a16="http://schemas.microsoft.com/office/drawing/2014/main" id="{F6DA01E4-9515-40BC-9B57-66345286A5C4}"/>
              </a:ext>
            </a:extLst>
          </p:cNvPr>
          <p:cNvSpPr txBox="1">
            <a:spLocks/>
          </p:cNvSpPr>
          <p:nvPr/>
        </p:nvSpPr>
        <p:spPr>
          <a:xfrm>
            <a:off x="6400799" y="1351370"/>
            <a:ext cx="5791200" cy="5506630"/>
          </a:xfrm>
          <a:prstGeom prst="rect">
            <a:avLst/>
          </a:prstGeom>
        </p:spPr>
        <p:txBody>
          <a:bodyPr vert="horz" lIns="91440" tIns="45720" rIns="91440" bIns="45720" rtlCol="0" anchor="ctr"/>
          <a:lstStyle>
            <a:defPPr>
              <a:defRPr lang="en-US"/>
            </a:defPPr>
            <a:lvl1pPr marL="0" algn="r" defTabSz="914400" rtl="0" eaLnBrk="1" latinLnBrk="0" hangingPunct="1">
              <a:defRPr sz="1000" b="1" kern="1200">
                <a:solidFill>
                  <a:schemeClr val="bg1">
                    <a:lumMod val="65000"/>
                  </a:schemeClr>
                </a:solidFill>
                <a:latin typeface="Montserrat Light" panose="00000400000000000000"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zh-TW" altLang="en-US" sz="1600" dirty="0">
                <a:latin typeface="微軟正黑體" panose="020B0604030504040204" pitchFamily="34" charset="-120"/>
                <a:ea typeface="微軟正黑體" panose="020B0604030504040204" pitchFamily="34" charset="-120"/>
              </a:rPr>
              <a:t>簡介</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r>
              <a:rPr lang="zh-TW" altLang="en-US" sz="1600" b="0" dirty="0">
                <a:solidFill>
                  <a:schemeClr val="tx1"/>
                </a:solidFill>
                <a:latin typeface="微軟正黑體" panose="020B0604030504040204" pitchFamily="34" charset="-120"/>
                <a:ea typeface="微軟正黑體" panose="020B0604030504040204" pitchFamily="34" charset="-120"/>
              </a:rPr>
              <a:t>研究動機</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r>
              <a:rPr lang="zh-TW" altLang="en-US" sz="1600" b="0" dirty="0">
                <a:solidFill>
                  <a:schemeClr val="tx1"/>
                </a:solidFill>
                <a:latin typeface="微軟正黑體" panose="020B0604030504040204" pitchFamily="34" charset="-120"/>
                <a:ea typeface="微軟正黑體" panose="020B0604030504040204" pitchFamily="34" charset="-120"/>
              </a:rPr>
              <a:t>既有系統服務探討</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r>
              <a:rPr lang="zh-TW" altLang="en-US" sz="1600" b="0" dirty="0">
                <a:solidFill>
                  <a:schemeClr val="tx1"/>
                </a:solidFill>
                <a:latin typeface="微軟正黑體" panose="020B0604030504040204" pitchFamily="34" charset="-120"/>
                <a:ea typeface="微軟正黑體" panose="020B0604030504040204" pitchFamily="34" charset="-120"/>
              </a:rPr>
              <a:t>專題方法與系統開發相關技術</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endParaRPr lang="en-US" altLang="zh-TW" sz="1600" dirty="0">
              <a:latin typeface="微軟正黑體" panose="020B0604030504040204" pitchFamily="34" charset="-120"/>
              <a:ea typeface="微軟正黑體" panose="020B0604030504040204" pitchFamily="34" charset="-120"/>
            </a:endParaRPr>
          </a:p>
          <a:p>
            <a:pPr lvl="1"/>
            <a:r>
              <a:rPr lang="zh-TW" altLang="en-US" sz="1600" dirty="0">
                <a:latin typeface="微軟正黑體" panose="020B0604030504040204" pitchFamily="34" charset="-120"/>
                <a:ea typeface="微軟正黑體" panose="020B0604030504040204" pitchFamily="34" charset="-120"/>
              </a:rPr>
              <a:t>已有</a:t>
            </a:r>
            <a:r>
              <a:rPr lang="zh-TW" altLang="en-US" sz="1600" b="0" dirty="0">
                <a:solidFill>
                  <a:schemeClr val="tx1"/>
                </a:solidFill>
                <a:latin typeface="微軟正黑體" panose="020B0604030504040204" pitchFamily="34" charset="-120"/>
                <a:ea typeface="微軟正黑體" panose="020B0604030504040204" pitchFamily="34" charset="-120"/>
              </a:rPr>
              <a:t>成果</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r>
              <a:rPr lang="zh-TW" altLang="en-US" sz="1600" dirty="0">
                <a:latin typeface="微軟正黑體" panose="020B0604030504040204" pitchFamily="34" charset="-120"/>
                <a:ea typeface="微軟正黑體" panose="020B0604030504040204" pitchFamily="34" charset="-120"/>
              </a:rPr>
              <a:t>未來工作</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r>
              <a:rPr lang="zh-TW" altLang="en-US" sz="1600" b="0" dirty="0">
                <a:solidFill>
                  <a:schemeClr val="tx1"/>
                </a:solidFill>
                <a:latin typeface="微軟正黑體" panose="020B0604030504040204" pitchFamily="34" charset="-120"/>
                <a:ea typeface="微軟正黑體" panose="020B0604030504040204" pitchFamily="34" charset="-120"/>
              </a:rPr>
              <a:t>參與人員分工與時數分配</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lvl="1"/>
            <a:endParaRPr lang="zh-TW" altLang="en-US" sz="1600" b="0" dirty="0">
              <a:solidFill>
                <a:schemeClr val="tx1"/>
              </a:solidFill>
              <a:latin typeface="微軟正黑體" panose="020B0604030504040204" pitchFamily="34" charset="-120"/>
              <a:ea typeface="微軟正黑體" panose="020B0604030504040204" pitchFamily="34" charset="-120"/>
            </a:endParaRPr>
          </a:p>
          <a:p>
            <a:pPr lvl="1"/>
            <a:r>
              <a:rPr lang="zh-TW" altLang="en-US" sz="1600" b="0" dirty="0">
                <a:solidFill>
                  <a:schemeClr val="tx1"/>
                </a:solidFill>
                <a:latin typeface="微軟正黑體" panose="020B0604030504040204" pitchFamily="34" charset="-120"/>
                <a:ea typeface="微軟正黑體" panose="020B0604030504040204" pitchFamily="34" charset="-120"/>
              </a:rPr>
              <a:t>結論</a:t>
            </a:r>
            <a:endParaRPr lang="en-US" altLang="zh-TW" sz="1600" b="0" dirty="0">
              <a:solidFill>
                <a:schemeClr val="tx1"/>
              </a:solidFill>
              <a:latin typeface="微軟正黑體" panose="020B0604030504040204" pitchFamily="34" charset="-120"/>
              <a:ea typeface="微軟正黑體" panose="020B0604030504040204" pitchFamily="34" charset="-120"/>
            </a:endParaRPr>
          </a:p>
        </p:txBody>
      </p:sp>
      <p:sp>
        <p:nvSpPr>
          <p:cNvPr id="17" name="TextBox 6">
            <a:extLst>
              <a:ext uri="{FF2B5EF4-FFF2-40B4-BE49-F238E27FC236}">
                <a16:creationId xmlns:a16="http://schemas.microsoft.com/office/drawing/2014/main" id="{28C96445-269A-471F-AAA3-7CEEDF075F10}"/>
              </a:ext>
            </a:extLst>
          </p:cNvPr>
          <p:cNvSpPr txBox="1"/>
          <p:nvPr/>
        </p:nvSpPr>
        <p:spPr>
          <a:xfrm>
            <a:off x="6400800" y="481714"/>
            <a:ext cx="5791199" cy="630942"/>
          </a:xfrm>
          <a:prstGeom prst="rect">
            <a:avLst/>
          </a:prstGeom>
          <a:noFill/>
        </p:spPr>
        <p:txBody>
          <a:bodyPr wrap="square" rtlCol="0">
            <a:spAutoFit/>
          </a:bodyPr>
          <a:lstStyle/>
          <a:p>
            <a:pPr algn="ctr"/>
            <a:r>
              <a:rPr lang="zh-TW" altLang="en-US" sz="3500" dirty="0">
                <a:latin typeface="微軟正黑體" panose="020B0604030504040204" pitchFamily="34" charset="-120"/>
                <a:ea typeface="微軟正黑體" panose="020B0604030504040204" pitchFamily="34" charset="-120"/>
              </a:rPr>
              <a:t>大綱</a:t>
            </a:r>
            <a:endParaRPr lang="en-US" sz="35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47116943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1E1BE739-D888-4754-8F0E-6AB2BB084B7B}"/>
              </a:ext>
            </a:extLst>
          </p:cNvPr>
          <p:cNvSpPr/>
          <p:nvPr/>
        </p:nvSpPr>
        <p:spPr>
          <a:xfrm>
            <a:off x="0" y="0"/>
            <a:ext cx="12192000" cy="6858000"/>
          </a:xfrm>
          <a:prstGeom prst="rect">
            <a:avLst/>
          </a:prstGeom>
          <a:solidFill>
            <a:srgbClr val="B6AF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3</a:t>
            </a:fld>
            <a:endParaRPr lang="en-US" dirty="0"/>
          </a:p>
        </p:txBody>
      </p:sp>
      <p:sp>
        <p:nvSpPr>
          <p:cNvPr id="17" name="Oval 16">
            <a:extLst>
              <a:ext uri="{FF2B5EF4-FFF2-40B4-BE49-F238E27FC236}">
                <a16:creationId xmlns:a16="http://schemas.microsoft.com/office/drawing/2014/main" id="{5A1A481B-CE42-4717-8548-B752C57D5720}"/>
              </a:ext>
            </a:extLst>
          </p:cNvPr>
          <p:cNvSpPr/>
          <p:nvPr/>
        </p:nvSpPr>
        <p:spPr>
          <a:xfrm>
            <a:off x="1236133" y="3374818"/>
            <a:ext cx="2489200" cy="248920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1739584-F126-46E5-B03A-77F1F1754AF3}"/>
              </a:ext>
            </a:extLst>
          </p:cNvPr>
          <p:cNvSpPr/>
          <p:nvPr/>
        </p:nvSpPr>
        <p:spPr>
          <a:xfrm>
            <a:off x="1578007" y="3230032"/>
            <a:ext cx="2489200" cy="2489200"/>
          </a:xfrm>
          <a:prstGeom prst="ellipse">
            <a:avLst/>
          </a:prstGeom>
          <a:solidFill>
            <a:srgbClr val="B9AF9D">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56F1420-3585-43A1-9B3F-475BF0E2498D}"/>
              </a:ext>
            </a:extLst>
          </p:cNvPr>
          <p:cNvSpPr/>
          <p:nvPr/>
        </p:nvSpPr>
        <p:spPr>
          <a:xfrm>
            <a:off x="1236133" y="1504950"/>
            <a:ext cx="2489200" cy="2489200"/>
          </a:xfrm>
          <a:prstGeom prst="ellipse">
            <a:avLst/>
          </a:prstGeom>
          <a:solidFill>
            <a:srgbClr val="92929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0D5475C-ED4E-43D1-939D-AD4D971A1725}"/>
              </a:ext>
            </a:extLst>
          </p:cNvPr>
          <p:cNvSpPr/>
          <p:nvPr/>
        </p:nvSpPr>
        <p:spPr>
          <a:xfrm>
            <a:off x="2429207" y="2259578"/>
            <a:ext cx="2489200" cy="2489200"/>
          </a:xfrm>
          <a:prstGeom prst="ellipse">
            <a:avLst/>
          </a:prstGeom>
          <a:solidFill>
            <a:srgbClr val="D8CFB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8A86E4F-C248-4407-ACC2-D7629B6E6345}"/>
              </a:ext>
            </a:extLst>
          </p:cNvPr>
          <p:cNvSpPr/>
          <p:nvPr/>
        </p:nvSpPr>
        <p:spPr>
          <a:xfrm>
            <a:off x="3280406" y="3273501"/>
            <a:ext cx="2489200" cy="2489200"/>
          </a:xfrm>
          <a:prstGeom prst="ellipse">
            <a:avLst/>
          </a:prstGeom>
          <a:solidFill>
            <a:srgbClr val="B9AF9D">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B869AE7-C2C3-4F36-A449-324A496B53D1}"/>
              </a:ext>
            </a:extLst>
          </p:cNvPr>
          <p:cNvSpPr txBox="1"/>
          <p:nvPr/>
        </p:nvSpPr>
        <p:spPr>
          <a:xfrm>
            <a:off x="5711576" y="3230032"/>
            <a:ext cx="5334000" cy="630942"/>
          </a:xfrm>
          <a:prstGeom prst="rect">
            <a:avLst/>
          </a:prstGeom>
          <a:noFill/>
        </p:spPr>
        <p:txBody>
          <a:bodyPr wrap="square" rtlCol="0">
            <a:spAutoFit/>
          </a:bodyPr>
          <a:lstStyle/>
          <a:p>
            <a:pPr algn="ctr"/>
            <a:r>
              <a:rPr lang="zh-TW" altLang="en-US" sz="3500" b="1" dirty="0">
                <a:solidFill>
                  <a:schemeClr val="bg1"/>
                </a:solidFill>
                <a:latin typeface="Montserrat ExtraBold" panose="00000900000000000000" pitchFamily="50" charset="0"/>
              </a:rPr>
              <a:t>簡介</a:t>
            </a:r>
            <a:endParaRPr lang="en-US" sz="3500" b="1" dirty="0">
              <a:solidFill>
                <a:schemeClr val="bg1"/>
              </a:solidFill>
              <a:latin typeface="Montserrat ExtraBold" panose="00000900000000000000" pitchFamily="50" charset="0"/>
            </a:endParaRPr>
          </a:p>
        </p:txBody>
      </p:sp>
      <p:pic>
        <p:nvPicPr>
          <p:cNvPr id="3" name="圖形 2">
            <a:extLst>
              <a:ext uri="{FF2B5EF4-FFF2-40B4-BE49-F238E27FC236}">
                <a16:creationId xmlns:a16="http://schemas.microsoft.com/office/drawing/2014/main" id="{D21F4E26-8DE4-45DD-89B1-0DEE13E177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0207" y="2780578"/>
            <a:ext cx="1447200" cy="1447200"/>
          </a:xfrm>
          <a:prstGeom prst="rect">
            <a:avLst/>
          </a:prstGeom>
        </p:spPr>
      </p:pic>
    </p:spTree>
    <p:extLst>
      <p:ext uri="{BB962C8B-B14F-4D97-AF65-F5344CB8AC3E}">
        <p14:creationId xmlns:p14="http://schemas.microsoft.com/office/powerpoint/2010/main" val="25710147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4</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簡介</a:t>
            </a:r>
          </a:p>
        </p:txBody>
      </p:sp>
      <p:sp>
        <p:nvSpPr>
          <p:cNvPr id="6" name="矩形: 圓角 5">
            <a:extLst>
              <a:ext uri="{FF2B5EF4-FFF2-40B4-BE49-F238E27FC236}">
                <a16:creationId xmlns:a16="http://schemas.microsoft.com/office/drawing/2014/main" id="{4A5037B7-08FC-48A3-B263-2B3F38D12FFA}"/>
              </a:ext>
            </a:extLst>
          </p:cNvPr>
          <p:cNvSpPr/>
          <p:nvPr/>
        </p:nvSpPr>
        <p:spPr>
          <a:xfrm>
            <a:off x="3714750" y="3468215"/>
            <a:ext cx="4762500" cy="1038225"/>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rgbClr val="A0A09E"/>
                </a:solidFill>
                <a:latin typeface="微軟正黑體" panose="020B0604030504040204" pitchFamily="34" charset="-120"/>
                <a:ea typeface="微軟正黑體" panose="020B0604030504040204" pitchFamily="34" charset="-120"/>
              </a:rPr>
              <a:t>運用</a:t>
            </a:r>
            <a:r>
              <a:rPr lang="en-US" altLang="zh-TW" dirty="0">
                <a:solidFill>
                  <a:srgbClr val="A0A09E"/>
                </a:solidFill>
                <a:latin typeface="微軟正黑體" panose="020B0604030504040204" pitchFamily="34" charset="-120"/>
                <a:ea typeface="微軟正黑體" panose="020B0604030504040204" pitchFamily="34" charset="-120"/>
              </a:rPr>
              <a:t>Docker</a:t>
            </a:r>
            <a:r>
              <a:rPr lang="zh-TW" altLang="en-US" dirty="0">
                <a:solidFill>
                  <a:srgbClr val="A0A09E"/>
                </a:solidFill>
                <a:latin typeface="微軟正黑體" panose="020B0604030504040204" pitchFamily="34" charset="-120"/>
                <a:ea typeface="微軟正黑體" panose="020B0604030504040204" pitchFamily="34" charset="-120"/>
              </a:rPr>
              <a:t>支援多種環境的使用</a:t>
            </a:r>
          </a:p>
        </p:txBody>
      </p:sp>
      <p:sp>
        <p:nvSpPr>
          <p:cNvPr id="9" name="矩形: 圓角 8">
            <a:extLst>
              <a:ext uri="{FF2B5EF4-FFF2-40B4-BE49-F238E27FC236}">
                <a16:creationId xmlns:a16="http://schemas.microsoft.com/office/drawing/2014/main" id="{5ED34E89-D3DF-457A-97E8-9A88433A8799}"/>
              </a:ext>
            </a:extLst>
          </p:cNvPr>
          <p:cNvSpPr/>
          <p:nvPr/>
        </p:nvSpPr>
        <p:spPr>
          <a:xfrm>
            <a:off x="3714750" y="4780502"/>
            <a:ext cx="4762500" cy="1038224"/>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rgbClr val="A0A09E"/>
                </a:solidFill>
                <a:latin typeface="微軟正黑體" panose="020B0604030504040204" pitchFamily="34" charset="-120"/>
                <a:ea typeface="微軟正黑體" panose="020B0604030504040204" pitchFamily="34" charset="-120"/>
              </a:rPr>
              <a:t>使用</a:t>
            </a:r>
            <a:r>
              <a:rPr lang="en-US" altLang="zh-TW" dirty="0">
                <a:solidFill>
                  <a:srgbClr val="A0A09E"/>
                </a:solidFill>
                <a:latin typeface="微軟正黑體" panose="020B0604030504040204" pitchFamily="34" charset="-120"/>
                <a:ea typeface="微軟正黑體" panose="020B0604030504040204" pitchFamily="34" charset="-120"/>
              </a:rPr>
              <a:t>Reverse</a:t>
            </a:r>
            <a:r>
              <a:rPr lang="zh-TW" altLang="en-US" dirty="0">
                <a:solidFill>
                  <a:srgbClr val="A0A09E"/>
                </a:solidFill>
                <a:latin typeface="微軟正黑體" panose="020B0604030504040204" pitchFamily="34" charset="-120"/>
                <a:ea typeface="微軟正黑體" panose="020B0604030504040204" pitchFamily="34" charset="-120"/>
              </a:rPr>
              <a:t> </a:t>
            </a:r>
            <a:r>
              <a:rPr lang="en-US" altLang="zh-TW" dirty="0">
                <a:solidFill>
                  <a:srgbClr val="A0A09E"/>
                </a:solidFill>
                <a:latin typeface="微軟正黑體" panose="020B0604030504040204" pitchFamily="34" charset="-120"/>
                <a:ea typeface="微軟正黑體" panose="020B0604030504040204" pitchFamily="34" charset="-120"/>
              </a:rPr>
              <a:t>Proxy</a:t>
            </a:r>
            <a:r>
              <a:rPr lang="zh-TW" altLang="en-US" dirty="0">
                <a:solidFill>
                  <a:srgbClr val="A0A09E"/>
                </a:solidFill>
                <a:latin typeface="微軟正黑體" panose="020B0604030504040204" pitchFamily="34" charset="-120"/>
                <a:ea typeface="微軟正黑體" panose="020B0604030504040204" pitchFamily="34" charset="-120"/>
              </a:rPr>
              <a:t>轉入容器</a:t>
            </a:r>
          </a:p>
        </p:txBody>
      </p:sp>
      <p:sp>
        <p:nvSpPr>
          <p:cNvPr id="10" name="矩形: 圓角 9">
            <a:extLst>
              <a:ext uri="{FF2B5EF4-FFF2-40B4-BE49-F238E27FC236}">
                <a16:creationId xmlns:a16="http://schemas.microsoft.com/office/drawing/2014/main" id="{789F9905-BCEB-478B-80BF-4F3BE8012122}"/>
              </a:ext>
            </a:extLst>
          </p:cNvPr>
          <p:cNvSpPr/>
          <p:nvPr/>
        </p:nvSpPr>
        <p:spPr>
          <a:xfrm>
            <a:off x="3714750" y="2155928"/>
            <a:ext cx="4762500" cy="1038225"/>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rgbClr val="A0A09E"/>
                </a:solidFill>
                <a:latin typeface="微軟正黑體" panose="020B0604030504040204" pitchFamily="34" charset="-120"/>
                <a:ea typeface="微軟正黑體" panose="020B0604030504040204" pitchFamily="34" charset="-120"/>
              </a:rPr>
              <a:t>快速建立具備憑證的網路應用程式伺服器 </a:t>
            </a:r>
          </a:p>
        </p:txBody>
      </p:sp>
    </p:spTree>
    <p:extLst>
      <p:ext uri="{BB962C8B-B14F-4D97-AF65-F5344CB8AC3E}">
        <p14:creationId xmlns:p14="http://schemas.microsoft.com/office/powerpoint/2010/main" val="310486646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1E1BE739-D888-4754-8F0E-6AB2BB084B7B}"/>
              </a:ext>
            </a:extLst>
          </p:cNvPr>
          <p:cNvSpPr/>
          <p:nvPr/>
        </p:nvSpPr>
        <p:spPr>
          <a:xfrm>
            <a:off x="0" y="0"/>
            <a:ext cx="12192000" cy="6858000"/>
          </a:xfrm>
          <a:prstGeom prst="rect">
            <a:avLst/>
          </a:prstGeom>
          <a:solidFill>
            <a:srgbClr val="B6AF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5</a:t>
            </a:fld>
            <a:endParaRPr lang="en-US" dirty="0"/>
          </a:p>
        </p:txBody>
      </p:sp>
      <p:sp>
        <p:nvSpPr>
          <p:cNvPr id="17" name="Oval 16">
            <a:extLst>
              <a:ext uri="{FF2B5EF4-FFF2-40B4-BE49-F238E27FC236}">
                <a16:creationId xmlns:a16="http://schemas.microsoft.com/office/drawing/2014/main" id="{5A1A481B-CE42-4717-8548-B752C57D5720}"/>
              </a:ext>
            </a:extLst>
          </p:cNvPr>
          <p:cNvSpPr/>
          <p:nvPr/>
        </p:nvSpPr>
        <p:spPr>
          <a:xfrm>
            <a:off x="1236133" y="3374818"/>
            <a:ext cx="2489200" cy="248920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1739584-F126-46E5-B03A-77F1F1754AF3}"/>
              </a:ext>
            </a:extLst>
          </p:cNvPr>
          <p:cNvSpPr/>
          <p:nvPr/>
        </p:nvSpPr>
        <p:spPr>
          <a:xfrm>
            <a:off x="1578007" y="3230032"/>
            <a:ext cx="2489200" cy="2489200"/>
          </a:xfrm>
          <a:prstGeom prst="ellipse">
            <a:avLst/>
          </a:prstGeom>
          <a:solidFill>
            <a:srgbClr val="B9AF9D">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56F1420-3585-43A1-9B3F-475BF0E2498D}"/>
              </a:ext>
            </a:extLst>
          </p:cNvPr>
          <p:cNvSpPr/>
          <p:nvPr/>
        </p:nvSpPr>
        <p:spPr>
          <a:xfrm>
            <a:off x="1236133" y="1504950"/>
            <a:ext cx="2489200" cy="2489200"/>
          </a:xfrm>
          <a:prstGeom prst="ellipse">
            <a:avLst/>
          </a:prstGeom>
          <a:solidFill>
            <a:srgbClr val="92929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0D5475C-ED4E-43D1-939D-AD4D971A1725}"/>
              </a:ext>
            </a:extLst>
          </p:cNvPr>
          <p:cNvSpPr/>
          <p:nvPr/>
        </p:nvSpPr>
        <p:spPr>
          <a:xfrm>
            <a:off x="2429207" y="2259578"/>
            <a:ext cx="2489200" cy="2489200"/>
          </a:xfrm>
          <a:prstGeom prst="ellipse">
            <a:avLst/>
          </a:prstGeom>
          <a:solidFill>
            <a:srgbClr val="D8CFB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8A86E4F-C248-4407-ACC2-D7629B6E6345}"/>
              </a:ext>
            </a:extLst>
          </p:cNvPr>
          <p:cNvSpPr/>
          <p:nvPr/>
        </p:nvSpPr>
        <p:spPr>
          <a:xfrm>
            <a:off x="3280406" y="3273501"/>
            <a:ext cx="2489200" cy="2489200"/>
          </a:xfrm>
          <a:prstGeom prst="ellipse">
            <a:avLst/>
          </a:prstGeom>
          <a:solidFill>
            <a:srgbClr val="B9AF9D">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B869AE7-C2C3-4F36-A449-324A496B53D1}"/>
              </a:ext>
            </a:extLst>
          </p:cNvPr>
          <p:cNvSpPr txBox="1"/>
          <p:nvPr/>
        </p:nvSpPr>
        <p:spPr>
          <a:xfrm>
            <a:off x="5711576" y="3230032"/>
            <a:ext cx="5334000" cy="630942"/>
          </a:xfrm>
          <a:prstGeom prst="rect">
            <a:avLst/>
          </a:prstGeom>
          <a:noFill/>
        </p:spPr>
        <p:txBody>
          <a:bodyPr wrap="square" rtlCol="0">
            <a:spAutoFit/>
          </a:bodyPr>
          <a:lstStyle/>
          <a:p>
            <a:pPr algn="ctr"/>
            <a:r>
              <a:rPr lang="zh-TW" altLang="en-US" sz="3500" b="1" dirty="0">
                <a:solidFill>
                  <a:schemeClr val="bg1"/>
                </a:solidFill>
                <a:latin typeface="Montserrat ExtraBold" panose="00000900000000000000" pitchFamily="50" charset="0"/>
              </a:rPr>
              <a:t>研究動機</a:t>
            </a:r>
            <a:endParaRPr lang="en-US" sz="3500" b="1" dirty="0">
              <a:solidFill>
                <a:schemeClr val="bg1"/>
              </a:solidFill>
              <a:latin typeface="Montserrat ExtraBold" panose="00000900000000000000" pitchFamily="50" charset="0"/>
            </a:endParaRPr>
          </a:p>
        </p:txBody>
      </p:sp>
      <p:sp>
        <p:nvSpPr>
          <p:cNvPr id="22" name="TextBox 62">
            <a:extLst>
              <a:ext uri="{FF2B5EF4-FFF2-40B4-BE49-F238E27FC236}">
                <a16:creationId xmlns:a16="http://schemas.microsoft.com/office/drawing/2014/main" id="{2F3FC161-87A3-4647-8EEF-18A4DB1C5F4A}"/>
              </a:ext>
            </a:extLst>
          </p:cNvPr>
          <p:cNvSpPr txBox="1"/>
          <p:nvPr/>
        </p:nvSpPr>
        <p:spPr>
          <a:xfrm>
            <a:off x="2583170" y="2599785"/>
            <a:ext cx="2284325" cy="209288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3000" b="1" dirty="0">
                <a:solidFill>
                  <a:schemeClr val="bg1"/>
                </a:solidFill>
                <a:latin typeface="Montserrat Black" panose="00000A00000000000000" pitchFamily="50" charset="0"/>
              </a:rPr>
              <a:t>?</a:t>
            </a:r>
          </a:p>
        </p:txBody>
      </p:sp>
    </p:spTree>
    <p:extLst>
      <p:ext uri="{BB962C8B-B14F-4D97-AF65-F5344CB8AC3E}">
        <p14:creationId xmlns:p14="http://schemas.microsoft.com/office/powerpoint/2010/main" val="7199214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47" name="TextBox 34">
            <a:extLst>
              <a:ext uri="{FF2B5EF4-FFF2-40B4-BE49-F238E27FC236}">
                <a16:creationId xmlns:a16="http://schemas.microsoft.com/office/drawing/2014/main" id="{A6893E2E-7135-4C3C-8BD9-C118C3901584}"/>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研究動機</a:t>
            </a:r>
            <a:endParaRPr lang="en-US" sz="3500" b="1" dirty="0">
              <a:solidFill>
                <a:schemeClr val="tx1">
                  <a:lumMod val="75000"/>
                  <a:lumOff val="25000"/>
                </a:schemeClr>
              </a:solidFill>
              <a:latin typeface="Montserrat Light" panose="00000400000000000000" pitchFamily="50" charset="0"/>
            </a:endParaRPr>
          </a:p>
        </p:txBody>
      </p:sp>
      <p:sp>
        <p:nvSpPr>
          <p:cNvPr id="108" name="Google Shape;2308;p37">
            <a:extLst>
              <a:ext uri="{FF2B5EF4-FFF2-40B4-BE49-F238E27FC236}">
                <a16:creationId xmlns:a16="http://schemas.microsoft.com/office/drawing/2014/main" id="{EA8F8D26-D95B-40D9-BD06-D3D14A5354BE}"/>
              </a:ext>
            </a:extLst>
          </p:cNvPr>
          <p:cNvSpPr/>
          <p:nvPr/>
        </p:nvSpPr>
        <p:spPr>
          <a:xfrm>
            <a:off x="2897551" y="2529000"/>
            <a:ext cx="1800000" cy="1800000"/>
          </a:xfrm>
          <a:prstGeom prst="ellipse">
            <a:avLst/>
          </a:prstGeom>
          <a:solidFill>
            <a:schemeClr val="tx2">
              <a:lumMod val="75000"/>
              <a:alpha val="50000"/>
            </a:schemeClr>
          </a:solidFill>
          <a:ln>
            <a:noFill/>
          </a:ln>
        </p:spPr>
        <p:txBody>
          <a:bodyPr spcFirstLastPara="1" wrap="square" lIns="121900" tIns="121900" rIns="121900" bIns="121900" anchor="ctr" anchorCtr="0">
            <a:noAutofit/>
          </a:bodyPr>
          <a:lstStyle/>
          <a:p>
            <a:pPr algn="ct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110" name="Google Shape;2310;p37">
            <a:extLst>
              <a:ext uri="{FF2B5EF4-FFF2-40B4-BE49-F238E27FC236}">
                <a16:creationId xmlns:a16="http://schemas.microsoft.com/office/drawing/2014/main" id="{AC2EEC9E-43E7-4409-96C1-5B2D2EC98D8B}"/>
              </a:ext>
            </a:extLst>
          </p:cNvPr>
          <p:cNvSpPr/>
          <p:nvPr/>
        </p:nvSpPr>
        <p:spPr>
          <a:xfrm>
            <a:off x="7494449" y="2529000"/>
            <a:ext cx="1800000" cy="1800000"/>
          </a:xfrm>
          <a:prstGeom prst="ellipse">
            <a:avLst/>
          </a:prstGeom>
          <a:solidFill>
            <a:schemeClr val="accent4">
              <a:lumMod val="75000"/>
              <a:alpha val="5127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112" name="Google Shape;2313;p37">
            <a:extLst>
              <a:ext uri="{FF2B5EF4-FFF2-40B4-BE49-F238E27FC236}">
                <a16:creationId xmlns:a16="http://schemas.microsoft.com/office/drawing/2014/main" id="{0B03A225-D4C3-45EE-91BB-7AE2A0F6A114}"/>
              </a:ext>
            </a:extLst>
          </p:cNvPr>
          <p:cNvSpPr txBox="1"/>
          <p:nvPr/>
        </p:nvSpPr>
        <p:spPr>
          <a:xfrm>
            <a:off x="2065566" y="4610142"/>
            <a:ext cx="3457006" cy="432400"/>
          </a:xfrm>
          <a:prstGeom prst="rect">
            <a:avLst/>
          </a:prstGeom>
          <a:noFill/>
          <a:ln>
            <a:noFill/>
          </a:ln>
        </p:spPr>
        <p:txBody>
          <a:bodyPr spcFirstLastPara="1" wrap="square" lIns="121900" tIns="121900" rIns="121900" bIns="121900" anchor="b" anchorCtr="0">
            <a:noAutofit/>
          </a:bodyPr>
          <a:lstStyle/>
          <a:p>
            <a:pPr algn="ctr"/>
            <a:r>
              <a:rPr lang="zh-TW" altLang="en-US" sz="2800" dirty="0">
                <a:solidFill>
                  <a:schemeClr val="dk1"/>
                </a:solidFill>
                <a:latin typeface="微軟正黑體" panose="020B0604030504040204" pitchFamily="34" charset="-120"/>
                <a:ea typeface="微軟正黑體" panose="020B0604030504040204" pitchFamily="34" charset="-120"/>
                <a:cs typeface="Montserrat SemiBold"/>
                <a:sym typeface="Montserrat SemiBold"/>
              </a:rPr>
              <a:t>環境建置與程式開發</a:t>
            </a:r>
            <a:endParaRPr sz="2800" dirty="0">
              <a:solidFill>
                <a:schemeClr val="dk1"/>
              </a:solidFill>
              <a:latin typeface="微軟正黑體" panose="020B0604030504040204" pitchFamily="34" charset="-120"/>
              <a:ea typeface="微軟正黑體" panose="020B0604030504040204" pitchFamily="34" charset="-120"/>
              <a:cs typeface="Montserrat SemiBold"/>
              <a:sym typeface="Montserrat SemiBold"/>
            </a:endParaRPr>
          </a:p>
        </p:txBody>
      </p:sp>
      <p:sp>
        <p:nvSpPr>
          <p:cNvPr id="113" name="Google Shape;2315;p37">
            <a:extLst>
              <a:ext uri="{FF2B5EF4-FFF2-40B4-BE49-F238E27FC236}">
                <a16:creationId xmlns:a16="http://schemas.microsoft.com/office/drawing/2014/main" id="{F0D36B55-7416-424E-B409-ED3FB238C7A5}"/>
              </a:ext>
            </a:extLst>
          </p:cNvPr>
          <p:cNvSpPr txBox="1"/>
          <p:nvPr/>
        </p:nvSpPr>
        <p:spPr>
          <a:xfrm>
            <a:off x="7397249" y="4618457"/>
            <a:ext cx="1994400" cy="432400"/>
          </a:xfrm>
          <a:prstGeom prst="rect">
            <a:avLst/>
          </a:prstGeom>
          <a:noFill/>
          <a:ln>
            <a:noFill/>
          </a:ln>
        </p:spPr>
        <p:txBody>
          <a:bodyPr spcFirstLastPara="1" wrap="square" lIns="121900" tIns="121900" rIns="121900" bIns="121900" anchor="b" anchorCtr="0">
            <a:noAutofit/>
          </a:bodyPr>
          <a:lstStyle/>
          <a:p>
            <a:pPr algn="ctr"/>
            <a:r>
              <a:rPr lang="zh-TW" altLang="en-US" sz="2800" dirty="0">
                <a:solidFill>
                  <a:schemeClr val="dk1"/>
                </a:solidFill>
                <a:latin typeface="微軟正黑體" panose="020B0604030504040204" pitchFamily="34" charset="-120"/>
                <a:ea typeface="微軟正黑體" panose="020B0604030504040204" pitchFamily="34" charset="-120"/>
                <a:cs typeface="Montserrat SemiBold"/>
                <a:sym typeface="Montserrat SemiBold"/>
              </a:rPr>
              <a:t>憑證</a:t>
            </a:r>
          </a:p>
        </p:txBody>
      </p:sp>
      <p:pic>
        <p:nvPicPr>
          <p:cNvPr id="117" name="圖形 116">
            <a:extLst>
              <a:ext uri="{FF2B5EF4-FFF2-40B4-BE49-F238E27FC236}">
                <a16:creationId xmlns:a16="http://schemas.microsoft.com/office/drawing/2014/main" id="{B5EF776E-D7AF-4782-B72D-538430EA42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8449" y="2943000"/>
            <a:ext cx="972000" cy="972000"/>
          </a:xfrm>
          <a:prstGeom prst="rect">
            <a:avLst/>
          </a:prstGeom>
        </p:spPr>
      </p:pic>
      <p:pic>
        <p:nvPicPr>
          <p:cNvPr id="118" name="圖形 117">
            <a:extLst>
              <a:ext uri="{FF2B5EF4-FFF2-40B4-BE49-F238E27FC236}">
                <a16:creationId xmlns:a16="http://schemas.microsoft.com/office/drawing/2014/main" id="{11395B92-6E2F-4D11-8CB4-77DA7FB0005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11551" y="2943000"/>
            <a:ext cx="972000" cy="972000"/>
          </a:xfrm>
          <a:prstGeom prst="rect">
            <a:avLst/>
          </a:prstGeom>
        </p:spPr>
      </p:pic>
      <p:sp>
        <p:nvSpPr>
          <p:cNvPr id="2" name="Slide Number Placeholder 129">
            <a:extLst>
              <a:ext uri="{FF2B5EF4-FFF2-40B4-BE49-F238E27FC236}">
                <a16:creationId xmlns:a16="http://schemas.microsoft.com/office/drawing/2014/main" id="{DF087DBA-752D-AC69-0391-3740A3DB3744}"/>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6</a:t>
            </a:fld>
            <a:endParaRPr lang="en-US" dirty="0"/>
          </a:p>
        </p:txBody>
      </p:sp>
    </p:spTree>
    <p:extLst>
      <p:ext uri="{BB962C8B-B14F-4D97-AF65-F5344CB8AC3E}">
        <p14:creationId xmlns:p14="http://schemas.microsoft.com/office/powerpoint/2010/main" val="37794785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47" name="TextBox 34">
            <a:extLst>
              <a:ext uri="{FF2B5EF4-FFF2-40B4-BE49-F238E27FC236}">
                <a16:creationId xmlns:a16="http://schemas.microsoft.com/office/drawing/2014/main" id="{A6893E2E-7135-4C3C-8BD9-C118C3901584}"/>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研究動機</a:t>
            </a:r>
            <a:endParaRPr lang="en-US" sz="3500" b="1" dirty="0">
              <a:solidFill>
                <a:schemeClr val="tx1">
                  <a:lumMod val="75000"/>
                  <a:lumOff val="25000"/>
                </a:schemeClr>
              </a:solidFill>
              <a:latin typeface="Montserrat Light" panose="00000400000000000000" pitchFamily="50" charset="0"/>
            </a:endParaRPr>
          </a:p>
        </p:txBody>
      </p:sp>
      <p:sp>
        <p:nvSpPr>
          <p:cNvPr id="28" name="Slide Number Placeholder 129">
            <a:extLst>
              <a:ext uri="{FF2B5EF4-FFF2-40B4-BE49-F238E27FC236}">
                <a16:creationId xmlns:a16="http://schemas.microsoft.com/office/drawing/2014/main" id="{2F2B43AF-051E-4350-A8BA-802D814A7A3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7</a:t>
            </a:fld>
            <a:endParaRPr lang="en-US" dirty="0"/>
          </a:p>
        </p:txBody>
      </p:sp>
      <p:sp>
        <p:nvSpPr>
          <p:cNvPr id="41" name="Google Shape;2308;p37">
            <a:extLst>
              <a:ext uri="{FF2B5EF4-FFF2-40B4-BE49-F238E27FC236}">
                <a16:creationId xmlns:a16="http://schemas.microsoft.com/office/drawing/2014/main" id="{16C1175E-15C2-47E1-9F39-ADEB5A3E0ED3}"/>
              </a:ext>
            </a:extLst>
          </p:cNvPr>
          <p:cNvSpPr/>
          <p:nvPr/>
        </p:nvSpPr>
        <p:spPr>
          <a:xfrm>
            <a:off x="8072051" y="2323400"/>
            <a:ext cx="861200" cy="861200"/>
          </a:xfrm>
          <a:prstGeom prst="ellipse">
            <a:avLst/>
          </a:prstGeom>
          <a:solidFill>
            <a:schemeClr val="bg1">
              <a:lumMod val="50000"/>
              <a:alpha val="5000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43" name="Google Shape;2310;p37">
            <a:extLst>
              <a:ext uri="{FF2B5EF4-FFF2-40B4-BE49-F238E27FC236}">
                <a16:creationId xmlns:a16="http://schemas.microsoft.com/office/drawing/2014/main" id="{6F226CF3-5359-4CE3-838A-C9B3F32DF551}"/>
              </a:ext>
            </a:extLst>
          </p:cNvPr>
          <p:cNvSpPr/>
          <p:nvPr/>
        </p:nvSpPr>
        <p:spPr>
          <a:xfrm>
            <a:off x="8071251" y="4623524"/>
            <a:ext cx="861200" cy="861200"/>
          </a:xfrm>
          <a:prstGeom prst="ellipse">
            <a:avLst/>
          </a:prstGeom>
          <a:solidFill>
            <a:schemeClr val="accent4">
              <a:lumMod val="75000"/>
              <a:alpha val="1500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46" name="Google Shape;2313;p37">
            <a:extLst>
              <a:ext uri="{FF2B5EF4-FFF2-40B4-BE49-F238E27FC236}">
                <a16:creationId xmlns:a16="http://schemas.microsoft.com/office/drawing/2014/main" id="{67EBC0A4-9475-44C9-BAF4-1A5EC97D9DA5}"/>
              </a:ext>
            </a:extLst>
          </p:cNvPr>
          <p:cNvSpPr txBox="1"/>
          <p:nvPr/>
        </p:nvSpPr>
        <p:spPr>
          <a:xfrm>
            <a:off x="9126500" y="2591447"/>
            <a:ext cx="278402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solidFill>
                <a:latin typeface="微軟正黑體" panose="020B0604030504040204" pitchFamily="34" charset="-120"/>
                <a:ea typeface="微軟正黑體" panose="020B0604030504040204" pitchFamily="34" charset="-120"/>
                <a:cs typeface="Montserrat SemiBold"/>
                <a:sym typeface="Montserrat SemiBold"/>
              </a:rPr>
              <a:t>環境建置與程式開發</a:t>
            </a:r>
          </a:p>
        </p:txBody>
      </p:sp>
      <p:sp>
        <p:nvSpPr>
          <p:cNvPr id="49" name="Google Shape;2315;p37">
            <a:extLst>
              <a:ext uri="{FF2B5EF4-FFF2-40B4-BE49-F238E27FC236}">
                <a16:creationId xmlns:a16="http://schemas.microsoft.com/office/drawing/2014/main" id="{4C1CE9C4-1A7D-4DC3-BA85-F38A92449382}"/>
              </a:ext>
            </a:extLst>
          </p:cNvPr>
          <p:cNvSpPr txBox="1"/>
          <p:nvPr/>
        </p:nvSpPr>
        <p:spPr>
          <a:xfrm>
            <a:off x="9125700" y="4868151"/>
            <a:ext cx="199440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alpha val="15000"/>
                  </a:schemeClr>
                </a:solidFill>
                <a:latin typeface="微軟正黑體" panose="020B0604030504040204" pitchFamily="34" charset="-120"/>
                <a:ea typeface="微軟正黑體" panose="020B0604030504040204" pitchFamily="34" charset="-120"/>
                <a:cs typeface="Montserrat SemiBold"/>
                <a:sym typeface="Montserrat SemiBold"/>
              </a:rPr>
              <a:t>憑證</a:t>
            </a:r>
          </a:p>
        </p:txBody>
      </p:sp>
      <p:cxnSp>
        <p:nvCxnSpPr>
          <p:cNvPr id="51" name="Google Shape;2317;p37">
            <a:extLst>
              <a:ext uri="{FF2B5EF4-FFF2-40B4-BE49-F238E27FC236}">
                <a16:creationId xmlns:a16="http://schemas.microsoft.com/office/drawing/2014/main" id="{C31AD122-AA6B-4DF0-878F-15E4154C0287}"/>
              </a:ext>
            </a:extLst>
          </p:cNvPr>
          <p:cNvCxnSpPr>
            <a:cxnSpLocks/>
            <a:stCxn id="41" idx="4"/>
            <a:endCxn id="43" idx="0"/>
          </p:cNvCxnSpPr>
          <p:nvPr/>
        </p:nvCxnSpPr>
        <p:spPr>
          <a:xfrm rot="5400000">
            <a:off x="7782789" y="3903662"/>
            <a:ext cx="1438924" cy="800"/>
          </a:xfrm>
          <a:prstGeom prst="bentConnector3">
            <a:avLst>
              <a:gd name="adj1" fmla="val 50000"/>
            </a:avLst>
          </a:prstGeom>
          <a:noFill/>
          <a:ln w="9525" cap="flat" cmpd="sng">
            <a:solidFill>
              <a:schemeClr val="dk1"/>
            </a:solidFill>
            <a:prstDash val="dash"/>
            <a:round/>
            <a:headEnd type="none" w="med" len="med"/>
            <a:tailEnd type="none" w="med" len="med"/>
          </a:ln>
        </p:spPr>
      </p:cxnSp>
      <p:pic>
        <p:nvPicPr>
          <p:cNvPr id="105" name="圖形 104">
            <a:extLst>
              <a:ext uri="{FF2B5EF4-FFF2-40B4-BE49-F238E27FC236}">
                <a16:creationId xmlns:a16="http://schemas.microsoft.com/office/drawing/2014/main" id="{053AA2AC-47F8-4FA1-8FBA-141D43744C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33451" y="2484000"/>
            <a:ext cx="540000" cy="540000"/>
          </a:xfrm>
          <a:prstGeom prst="rect">
            <a:avLst/>
          </a:prstGeom>
        </p:spPr>
      </p:pic>
      <p:pic>
        <p:nvPicPr>
          <p:cNvPr id="106" name="圖形 105">
            <a:extLst>
              <a:ext uri="{FF2B5EF4-FFF2-40B4-BE49-F238E27FC236}">
                <a16:creationId xmlns:a16="http://schemas.microsoft.com/office/drawing/2014/main" id="{A21FA121-2364-4827-BF9B-F88FAC20D1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2651" y="4764188"/>
            <a:ext cx="540000" cy="540000"/>
          </a:xfrm>
          <a:prstGeom prst="rect">
            <a:avLst/>
          </a:prstGeom>
        </p:spPr>
      </p:pic>
      <p:sp>
        <p:nvSpPr>
          <p:cNvPr id="77" name="Google Shape;2319;p37">
            <a:extLst>
              <a:ext uri="{FF2B5EF4-FFF2-40B4-BE49-F238E27FC236}">
                <a16:creationId xmlns:a16="http://schemas.microsoft.com/office/drawing/2014/main" id="{E31CB64A-F100-470C-8085-06C27B7B13F4}"/>
              </a:ext>
            </a:extLst>
          </p:cNvPr>
          <p:cNvSpPr/>
          <p:nvPr/>
        </p:nvSpPr>
        <p:spPr>
          <a:xfrm>
            <a:off x="930919" y="2460045"/>
            <a:ext cx="3091200" cy="12600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79" name="Google Shape;2321;p37">
            <a:extLst>
              <a:ext uri="{FF2B5EF4-FFF2-40B4-BE49-F238E27FC236}">
                <a16:creationId xmlns:a16="http://schemas.microsoft.com/office/drawing/2014/main" id="{4C9E1206-BE6E-4206-9648-0125DEF9DB54}"/>
              </a:ext>
            </a:extLst>
          </p:cNvPr>
          <p:cNvSpPr/>
          <p:nvPr/>
        </p:nvSpPr>
        <p:spPr>
          <a:xfrm>
            <a:off x="930919" y="3920412"/>
            <a:ext cx="3091200" cy="1260000"/>
          </a:xfrm>
          <a:prstGeom prst="roundRect">
            <a:avLst>
              <a:gd name="adj" fmla="val 16667"/>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107" name="Google Shape;2336;p37">
            <a:extLst>
              <a:ext uri="{FF2B5EF4-FFF2-40B4-BE49-F238E27FC236}">
                <a16:creationId xmlns:a16="http://schemas.microsoft.com/office/drawing/2014/main" id="{6A8BFBB7-A895-41C5-BFF4-D2A7081313FC}"/>
              </a:ext>
            </a:extLst>
          </p:cNvPr>
          <p:cNvSpPr txBox="1"/>
          <p:nvPr/>
        </p:nvSpPr>
        <p:spPr>
          <a:xfrm>
            <a:off x="930919" y="4050567"/>
            <a:ext cx="3091200" cy="10412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zh-TW" altLang="en-US"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環境建置麻煩</a:t>
            </a:r>
            <a:endParaRPr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108" name="Google Shape;2337;p37">
            <a:extLst>
              <a:ext uri="{FF2B5EF4-FFF2-40B4-BE49-F238E27FC236}">
                <a16:creationId xmlns:a16="http://schemas.microsoft.com/office/drawing/2014/main" id="{CA08D180-6643-4A32-90B4-CF64FB64974B}"/>
              </a:ext>
            </a:extLst>
          </p:cNvPr>
          <p:cNvSpPr txBox="1"/>
          <p:nvPr/>
        </p:nvSpPr>
        <p:spPr>
          <a:xfrm>
            <a:off x="930919" y="2569111"/>
            <a:ext cx="3091200" cy="10412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zh-TW" altLang="en-US"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開發</a:t>
            </a:r>
            <a:r>
              <a:rPr lang="en-US" altLang="zh-TW"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a:t>
            </a:r>
            <a:r>
              <a:rPr lang="zh-TW" altLang="en-US"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運行環境 相容性問題</a:t>
            </a:r>
            <a:endParaRPr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116" name="Google Shape;2322;p37">
            <a:extLst>
              <a:ext uri="{FF2B5EF4-FFF2-40B4-BE49-F238E27FC236}">
                <a16:creationId xmlns:a16="http://schemas.microsoft.com/office/drawing/2014/main" id="{8FC7FE80-16D4-432A-9BB9-4F0B80010EBB}"/>
              </a:ext>
            </a:extLst>
          </p:cNvPr>
          <p:cNvSpPr/>
          <p:nvPr/>
        </p:nvSpPr>
        <p:spPr>
          <a:xfrm>
            <a:off x="4549452" y="1529600"/>
            <a:ext cx="3091200" cy="4694800"/>
          </a:xfrm>
          <a:prstGeom prst="roundRect">
            <a:avLst>
              <a:gd name="adj" fmla="val 7405"/>
            </a:avLst>
          </a:prstGeom>
          <a:noFill/>
          <a:ln w="9525" cap="flat" cmpd="sng">
            <a:solidFill>
              <a:schemeClr val="accent6"/>
            </a:solidFill>
            <a:prstDash val="solid"/>
            <a:round/>
            <a:headEnd type="none" w="sm" len="sm"/>
            <a:tailEnd type="none" w="sm" len="sm"/>
          </a:ln>
        </p:spPr>
        <p:txBody>
          <a:bodyPr spcFirstLastPara="1" wrap="square" lIns="121900" tIns="121900" rIns="121900" bIns="121900" anchor="ctr" anchorCtr="0">
            <a:noAutofit/>
          </a:bodyPr>
          <a:lstStyle/>
          <a:p>
            <a:pPr algn="ctr"/>
            <a:endParaRPr sz="2400" dirty="0">
              <a:latin typeface="Montserrat Medium"/>
              <a:ea typeface="Montserrat Medium"/>
              <a:cs typeface="Montserrat Medium"/>
              <a:sym typeface="Montserrat Medium"/>
            </a:endParaRPr>
          </a:p>
        </p:txBody>
      </p:sp>
      <p:sp>
        <p:nvSpPr>
          <p:cNvPr id="117" name="Oval 1">
            <a:extLst>
              <a:ext uri="{FF2B5EF4-FFF2-40B4-BE49-F238E27FC236}">
                <a16:creationId xmlns:a16="http://schemas.microsoft.com/office/drawing/2014/main" id="{93C0A0C2-C61D-41FC-8B7D-20954F32D449}"/>
              </a:ext>
            </a:extLst>
          </p:cNvPr>
          <p:cNvSpPr/>
          <p:nvPr/>
        </p:nvSpPr>
        <p:spPr>
          <a:xfrm>
            <a:off x="5121631" y="2673332"/>
            <a:ext cx="1953681" cy="1953681"/>
          </a:xfrm>
          <a:prstGeom prst="ellipse">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8" name="圖形 117">
            <a:extLst>
              <a:ext uri="{FF2B5EF4-FFF2-40B4-BE49-F238E27FC236}">
                <a16:creationId xmlns:a16="http://schemas.microsoft.com/office/drawing/2014/main" id="{BA4223E6-E378-42D8-A812-DCF825BE1B7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19466" y="3177948"/>
            <a:ext cx="976841" cy="976840"/>
          </a:xfrm>
          <a:prstGeom prst="rect">
            <a:avLst/>
          </a:prstGeom>
        </p:spPr>
      </p:pic>
      <p:sp>
        <p:nvSpPr>
          <p:cNvPr id="119" name="文字方塊 118">
            <a:extLst>
              <a:ext uri="{FF2B5EF4-FFF2-40B4-BE49-F238E27FC236}">
                <a16:creationId xmlns:a16="http://schemas.microsoft.com/office/drawing/2014/main" id="{041CD423-5051-44DF-AEC4-AACE3D1AAF68}"/>
              </a:ext>
            </a:extLst>
          </p:cNvPr>
          <p:cNvSpPr txBox="1"/>
          <p:nvPr/>
        </p:nvSpPr>
        <p:spPr>
          <a:xfrm>
            <a:off x="5154780" y="4821142"/>
            <a:ext cx="1878912" cy="369332"/>
          </a:xfrm>
          <a:prstGeom prst="rect">
            <a:avLst/>
          </a:prstGeom>
          <a:noFill/>
        </p:spPr>
        <p:txBody>
          <a:bodyPr wrap="none" rtlCol="0">
            <a:spAutoFit/>
          </a:bodyPr>
          <a:lstStyle/>
          <a:p>
            <a:pPr algn="ctr"/>
            <a:r>
              <a:rPr lang="zh-TW" altLang="en-US" dirty="0">
                <a:latin typeface="微軟正黑體" panose="020B0604030504040204" pitchFamily="34" charset="-120"/>
                <a:ea typeface="微軟正黑體" panose="020B0604030504040204" pitchFamily="34" charset="-120"/>
              </a:rPr>
              <a:t>透過</a:t>
            </a:r>
            <a:r>
              <a:rPr lang="en-US" altLang="zh-TW" dirty="0">
                <a:latin typeface="微軟正黑體" panose="020B0604030504040204" pitchFamily="34" charset="-120"/>
                <a:ea typeface="微軟正黑體" panose="020B0604030504040204" pitchFamily="34" charset="-120"/>
              </a:rPr>
              <a:t>Docker</a:t>
            </a:r>
            <a:r>
              <a:rPr lang="zh-TW" altLang="en-US" dirty="0">
                <a:latin typeface="微軟正黑體" panose="020B0604030504040204" pitchFamily="34" charset="-120"/>
                <a:ea typeface="微軟正黑體" panose="020B0604030504040204" pitchFamily="34" charset="-120"/>
              </a:rPr>
              <a:t>解決</a:t>
            </a:r>
          </a:p>
        </p:txBody>
      </p:sp>
      <p:sp>
        <p:nvSpPr>
          <p:cNvPr id="10" name="文字方塊 9">
            <a:extLst>
              <a:ext uri="{FF2B5EF4-FFF2-40B4-BE49-F238E27FC236}">
                <a16:creationId xmlns:a16="http://schemas.microsoft.com/office/drawing/2014/main" id="{9985189F-2F18-42C2-9BA5-499A0FE671E7}"/>
              </a:ext>
            </a:extLst>
          </p:cNvPr>
          <p:cNvSpPr txBox="1"/>
          <p:nvPr/>
        </p:nvSpPr>
        <p:spPr>
          <a:xfrm>
            <a:off x="972710" y="1527301"/>
            <a:ext cx="3007618" cy="461665"/>
          </a:xfrm>
          <a:prstGeom prst="rect">
            <a:avLst/>
          </a:prstGeom>
          <a:noFill/>
        </p:spPr>
        <p:txBody>
          <a:bodyPr wrap="none" rtlCol="0">
            <a:spAutoFit/>
          </a:bodyPr>
          <a:lstStyle/>
          <a:p>
            <a:pPr algn="ctr"/>
            <a:r>
              <a:rPr lang="zh-TW" altLang="en-US" sz="2400" dirty="0">
                <a:latin typeface="微軟正黑體" panose="020B0604030504040204" pitchFamily="34" charset="-120"/>
                <a:ea typeface="微軟正黑體" panose="020B0604030504040204" pitchFamily="34" charset="-120"/>
              </a:rPr>
              <a:t>一般</a:t>
            </a:r>
            <a:r>
              <a:rPr lang="en-US" altLang="zh-TW" sz="2400" dirty="0">
                <a:latin typeface="微軟正黑體" panose="020B0604030504040204" pitchFamily="34" charset="-120"/>
                <a:ea typeface="微軟正黑體" panose="020B0604030504040204" pitchFamily="34" charset="-120"/>
              </a:rPr>
              <a:t>Web</a:t>
            </a:r>
            <a:r>
              <a:rPr lang="zh-TW" altLang="en-US" sz="2400" dirty="0">
                <a:latin typeface="微軟正黑體" panose="020B0604030504040204" pitchFamily="34" charset="-120"/>
                <a:ea typeface="微軟正黑體" panose="020B0604030504040204" pitchFamily="34" charset="-120"/>
              </a:rPr>
              <a:t>伺服器架構</a:t>
            </a:r>
          </a:p>
        </p:txBody>
      </p:sp>
    </p:spTree>
    <p:extLst>
      <p:ext uri="{BB962C8B-B14F-4D97-AF65-F5344CB8AC3E}">
        <p14:creationId xmlns:p14="http://schemas.microsoft.com/office/powerpoint/2010/main" val="87670259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35" name="Google Shape;2335;p37">
            <a:extLst>
              <a:ext uri="{FF2B5EF4-FFF2-40B4-BE49-F238E27FC236}">
                <a16:creationId xmlns:a16="http://schemas.microsoft.com/office/drawing/2014/main" id="{4BF74FC6-CA01-4032-9F04-40F785BE49BB}"/>
              </a:ext>
            </a:extLst>
          </p:cNvPr>
          <p:cNvSpPr txBox="1"/>
          <p:nvPr/>
        </p:nvSpPr>
        <p:spPr>
          <a:xfrm>
            <a:off x="1577791" y="4682397"/>
            <a:ext cx="4937309" cy="972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rPr>
              <a:t>3.</a:t>
            </a:r>
            <a:r>
              <a:rPr lang="en-US" altLang="zh-TW"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 </a:t>
            </a:r>
            <a:r>
              <a:rPr lang="zh-TW" altLang="en-US"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若有需要 </a:t>
            </a:r>
            <a:r>
              <a:rPr lang="en-US" altLang="zh-TW"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Docker Hub</a:t>
            </a:r>
            <a:r>
              <a:rPr lang="zh-TW" altLang="en-US"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有多種環境可用</a:t>
            </a:r>
            <a:endPar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47" name="TextBox 34">
            <a:extLst>
              <a:ext uri="{FF2B5EF4-FFF2-40B4-BE49-F238E27FC236}">
                <a16:creationId xmlns:a16="http://schemas.microsoft.com/office/drawing/2014/main" id="{A6893E2E-7135-4C3C-8BD9-C118C3901584}"/>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研究動機</a:t>
            </a:r>
            <a:endParaRPr lang="en-US" sz="3500" b="1" dirty="0">
              <a:solidFill>
                <a:schemeClr val="tx1">
                  <a:lumMod val="75000"/>
                  <a:lumOff val="25000"/>
                </a:schemeClr>
              </a:solidFill>
              <a:latin typeface="Montserrat Light" panose="00000400000000000000" pitchFamily="50" charset="0"/>
            </a:endParaRPr>
          </a:p>
        </p:txBody>
      </p:sp>
      <p:sp>
        <p:nvSpPr>
          <p:cNvPr id="28" name="Slide Number Placeholder 129">
            <a:extLst>
              <a:ext uri="{FF2B5EF4-FFF2-40B4-BE49-F238E27FC236}">
                <a16:creationId xmlns:a16="http://schemas.microsoft.com/office/drawing/2014/main" id="{2F2B43AF-051E-4350-A8BA-802D814A7A3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8</a:t>
            </a:fld>
            <a:endParaRPr lang="en-US" dirty="0"/>
          </a:p>
        </p:txBody>
      </p:sp>
      <p:sp>
        <p:nvSpPr>
          <p:cNvPr id="21" name="Google Shape;2319;p37">
            <a:extLst>
              <a:ext uri="{FF2B5EF4-FFF2-40B4-BE49-F238E27FC236}">
                <a16:creationId xmlns:a16="http://schemas.microsoft.com/office/drawing/2014/main" id="{F4528AB7-6AFB-4AC3-953C-5893C140FAE7}"/>
              </a:ext>
            </a:extLst>
          </p:cNvPr>
          <p:cNvSpPr/>
          <p:nvPr/>
        </p:nvSpPr>
        <p:spPr>
          <a:xfrm>
            <a:off x="1581214" y="2378100"/>
            <a:ext cx="4940730" cy="9720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26" name="Google Shape;2337;p37">
            <a:extLst>
              <a:ext uri="{FF2B5EF4-FFF2-40B4-BE49-F238E27FC236}">
                <a16:creationId xmlns:a16="http://schemas.microsoft.com/office/drawing/2014/main" id="{ECB808E5-99B5-409D-B077-5DD5B2C74C1F}"/>
              </a:ext>
            </a:extLst>
          </p:cNvPr>
          <p:cNvSpPr txBox="1"/>
          <p:nvPr/>
        </p:nvSpPr>
        <p:spPr>
          <a:xfrm>
            <a:off x="1581214" y="2383783"/>
            <a:ext cx="4940730" cy="972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rPr>
              <a:t>1. Docker</a:t>
            </a:r>
            <a:r>
              <a:rPr lang="zh-TW" altLang="en-US" dirty="0">
                <a:solidFill>
                  <a:schemeClr val="dk1"/>
                </a:solidFill>
                <a:latin typeface="微軟正黑體" panose="020B0604030504040204" pitchFamily="34" charset="-120"/>
                <a:ea typeface="微軟正黑體" panose="020B0604030504040204" pitchFamily="34" charset="-120"/>
                <a:cs typeface="Montserrat Medium"/>
                <a:sym typeface="Montserrat Medium"/>
              </a:rPr>
              <a:t>提供容器化的方式管理環境</a:t>
            </a:r>
            <a:endParaRPr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33" name="Google Shape;2320;p37">
            <a:extLst>
              <a:ext uri="{FF2B5EF4-FFF2-40B4-BE49-F238E27FC236}">
                <a16:creationId xmlns:a16="http://schemas.microsoft.com/office/drawing/2014/main" id="{68E50A61-ACD4-4333-9A40-A63DB08419E0}"/>
              </a:ext>
            </a:extLst>
          </p:cNvPr>
          <p:cNvSpPr/>
          <p:nvPr/>
        </p:nvSpPr>
        <p:spPr>
          <a:xfrm>
            <a:off x="1581213" y="4686280"/>
            <a:ext cx="4937309" cy="972000"/>
          </a:xfrm>
          <a:prstGeom prst="roundRect">
            <a:avLst>
              <a:gd name="adj" fmla="val 16667"/>
            </a:avLst>
          </a:prstGeom>
          <a:noFill/>
          <a:ln w="9525" cap="flat" cmpd="sng">
            <a:solidFill>
              <a:schemeClr val="bg1">
                <a:lumMod val="50000"/>
              </a:schemeClr>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34" name="Google Shape;2321;p37">
            <a:extLst>
              <a:ext uri="{FF2B5EF4-FFF2-40B4-BE49-F238E27FC236}">
                <a16:creationId xmlns:a16="http://schemas.microsoft.com/office/drawing/2014/main" id="{92D06C92-D640-446D-B78C-EA1AD4CC827C}"/>
              </a:ext>
            </a:extLst>
          </p:cNvPr>
          <p:cNvSpPr/>
          <p:nvPr/>
        </p:nvSpPr>
        <p:spPr>
          <a:xfrm>
            <a:off x="1581214" y="3536923"/>
            <a:ext cx="4940730" cy="972000"/>
          </a:xfrm>
          <a:prstGeom prst="roundRect">
            <a:avLst>
              <a:gd name="adj" fmla="val 16667"/>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36" name="Google Shape;2336;p37">
            <a:extLst>
              <a:ext uri="{FF2B5EF4-FFF2-40B4-BE49-F238E27FC236}">
                <a16:creationId xmlns:a16="http://schemas.microsoft.com/office/drawing/2014/main" id="{8169E958-7678-43E3-B861-EC256CBAEFE1}"/>
              </a:ext>
            </a:extLst>
          </p:cNvPr>
          <p:cNvSpPr txBox="1"/>
          <p:nvPr/>
        </p:nvSpPr>
        <p:spPr>
          <a:xfrm>
            <a:off x="1577792" y="3533040"/>
            <a:ext cx="4940730" cy="972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altLang="zh-TW"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2. </a:t>
            </a:r>
            <a:r>
              <a:rPr lang="zh-TW" altLang="en-US"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環境建置簡單且能完整還原環境</a:t>
            </a:r>
            <a:endParaRPr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40" name="文字方塊 39">
            <a:extLst>
              <a:ext uri="{FF2B5EF4-FFF2-40B4-BE49-F238E27FC236}">
                <a16:creationId xmlns:a16="http://schemas.microsoft.com/office/drawing/2014/main" id="{71B465D1-86F2-47A5-B4F2-6FC3F66C712E}"/>
              </a:ext>
            </a:extLst>
          </p:cNvPr>
          <p:cNvSpPr txBox="1"/>
          <p:nvPr/>
        </p:nvSpPr>
        <p:spPr>
          <a:xfrm>
            <a:off x="2680778" y="1535296"/>
            <a:ext cx="2747675" cy="461665"/>
          </a:xfrm>
          <a:prstGeom prst="rect">
            <a:avLst/>
          </a:prstGeom>
          <a:noFill/>
        </p:spPr>
        <p:txBody>
          <a:bodyPr wrap="none" rtlCol="0">
            <a:spAutoFit/>
          </a:bodyPr>
          <a:lstStyle/>
          <a:p>
            <a:pPr algn="ctr"/>
            <a:r>
              <a:rPr lang="zh-TW" altLang="en-US" sz="2400" dirty="0">
                <a:latin typeface="微軟正黑體" panose="020B0604030504040204" pitchFamily="34" charset="-120"/>
                <a:ea typeface="微軟正黑體" panose="020B0604030504040204" pitchFamily="34" charset="-120"/>
              </a:rPr>
              <a:t>使用</a:t>
            </a:r>
            <a:r>
              <a:rPr lang="en-US" altLang="zh-TW" sz="2400" dirty="0">
                <a:latin typeface="微軟正黑體" panose="020B0604030504040204" pitchFamily="34" charset="-120"/>
                <a:ea typeface="微軟正黑體" panose="020B0604030504040204" pitchFamily="34" charset="-120"/>
              </a:rPr>
              <a:t>Docker</a:t>
            </a:r>
            <a:r>
              <a:rPr lang="zh-TW" altLang="en-US" sz="2400" dirty="0">
                <a:latin typeface="微軟正黑體" panose="020B0604030504040204" pitchFamily="34" charset="-120"/>
                <a:ea typeface="微軟正黑體" panose="020B0604030504040204" pitchFamily="34" charset="-120"/>
              </a:rPr>
              <a:t>的優點</a:t>
            </a:r>
          </a:p>
        </p:txBody>
      </p:sp>
      <p:sp>
        <p:nvSpPr>
          <p:cNvPr id="18" name="Google Shape;2308;p37">
            <a:extLst>
              <a:ext uri="{FF2B5EF4-FFF2-40B4-BE49-F238E27FC236}">
                <a16:creationId xmlns:a16="http://schemas.microsoft.com/office/drawing/2014/main" id="{FC37270F-E86F-4C7A-AA1F-26663AE23A25}"/>
              </a:ext>
            </a:extLst>
          </p:cNvPr>
          <p:cNvSpPr/>
          <p:nvPr/>
        </p:nvSpPr>
        <p:spPr>
          <a:xfrm>
            <a:off x="8072051" y="2323400"/>
            <a:ext cx="861200" cy="861200"/>
          </a:xfrm>
          <a:prstGeom prst="ellipse">
            <a:avLst/>
          </a:prstGeom>
          <a:solidFill>
            <a:schemeClr val="bg1">
              <a:lumMod val="50000"/>
              <a:alpha val="5000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19" name="Google Shape;2310;p37">
            <a:extLst>
              <a:ext uri="{FF2B5EF4-FFF2-40B4-BE49-F238E27FC236}">
                <a16:creationId xmlns:a16="http://schemas.microsoft.com/office/drawing/2014/main" id="{E4C1910F-F76E-4BB6-BF77-21F184254932}"/>
              </a:ext>
            </a:extLst>
          </p:cNvPr>
          <p:cNvSpPr/>
          <p:nvPr/>
        </p:nvSpPr>
        <p:spPr>
          <a:xfrm>
            <a:off x="8071251" y="4623524"/>
            <a:ext cx="861200" cy="861200"/>
          </a:xfrm>
          <a:prstGeom prst="ellipse">
            <a:avLst/>
          </a:prstGeom>
          <a:solidFill>
            <a:schemeClr val="accent4">
              <a:lumMod val="75000"/>
              <a:alpha val="1500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20" name="Google Shape;2313;p37">
            <a:extLst>
              <a:ext uri="{FF2B5EF4-FFF2-40B4-BE49-F238E27FC236}">
                <a16:creationId xmlns:a16="http://schemas.microsoft.com/office/drawing/2014/main" id="{3BAB3A4A-A917-4371-8767-EC0989091D8B}"/>
              </a:ext>
            </a:extLst>
          </p:cNvPr>
          <p:cNvSpPr txBox="1"/>
          <p:nvPr/>
        </p:nvSpPr>
        <p:spPr>
          <a:xfrm>
            <a:off x="9126500" y="2591447"/>
            <a:ext cx="278402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solidFill>
                <a:latin typeface="微軟正黑體" panose="020B0604030504040204" pitchFamily="34" charset="-120"/>
                <a:ea typeface="微軟正黑體" panose="020B0604030504040204" pitchFamily="34" charset="-120"/>
                <a:cs typeface="Montserrat SemiBold"/>
                <a:sym typeface="Montserrat SemiBold"/>
              </a:rPr>
              <a:t>環境建置與程式開發</a:t>
            </a:r>
          </a:p>
        </p:txBody>
      </p:sp>
      <p:sp>
        <p:nvSpPr>
          <p:cNvPr id="22" name="Google Shape;2315;p37">
            <a:extLst>
              <a:ext uri="{FF2B5EF4-FFF2-40B4-BE49-F238E27FC236}">
                <a16:creationId xmlns:a16="http://schemas.microsoft.com/office/drawing/2014/main" id="{E0C5C344-E34B-4CF6-B4BC-02C925BCBEE8}"/>
              </a:ext>
            </a:extLst>
          </p:cNvPr>
          <p:cNvSpPr txBox="1"/>
          <p:nvPr/>
        </p:nvSpPr>
        <p:spPr>
          <a:xfrm>
            <a:off x="9125700" y="4868151"/>
            <a:ext cx="199440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alpha val="15000"/>
                  </a:schemeClr>
                </a:solidFill>
                <a:latin typeface="微軟正黑體" panose="020B0604030504040204" pitchFamily="34" charset="-120"/>
                <a:ea typeface="微軟正黑體" panose="020B0604030504040204" pitchFamily="34" charset="-120"/>
                <a:cs typeface="Montserrat SemiBold"/>
                <a:sym typeface="Montserrat SemiBold"/>
              </a:rPr>
              <a:t>憑證</a:t>
            </a:r>
          </a:p>
        </p:txBody>
      </p:sp>
      <p:cxnSp>
        <p:nvCxnSpPr>
          <p:cNvPr id="23" name="Google Shape;2317;p37">
            <a:extLst>
              <a:ext uri="{FF2B5EF4-FFF2-40B4-BE49-F238E27FC236}">
                <a16:creationId xmlns:a16="http://schemas.microsoft.com/office/drawing/2014/main" id="{009C93D2-8AEA-40E3-8B85-5B916EA6E257}"/>
              </a:ext>
            </a:extLst>
          </p:cNvPr>
          <p:cNvCxnSpPr>
            <a:cxnSpLocks/>
            <a:stCxn id="18" idx="4"/>
            <a:endCxn id="19" idx="0"/>
          </p:cNvCxnSpPr>
          <p:nvPr/>
        </p:nvCxnSpPr>
        <p:spPr>
          <a:xfrm rot="5400000">
            <a:off x="7782789" y="3903662"/>
            <a:ext cx="1438924" cy="800"/>
          </a:xfrm>
          <a:prstGeom prst="bentConnector3">
            <a:avLst>
              <a:gd name="adj1" fmla="val 50000"/>
            </a:avLst>
          </a:prstGeom>
          <a:noFill/>
          <a:ln w="9525" cap="flat" cmpd="sng">
            <a:solidFill>
              <a:schemeClr val="dk1"/>
            </a:solidFill>
            <a:prstDash val="dash"/>
            <a:round/>
            <a:headEnd type="none" w="med" len="med"/>
            <a:tailEnd type="none" w="med" len="med"/>
          </a:ln>
        </p:spPr>
      </p:cxnSp>
      <p:pic>
        <p:nvPicPr>
          <p:cNvPr id="24" name="圖形 23">
            <a:extLst>
              <a:ext uri="{FF2B5EF4-FFF2-40B4-BE49-F238E27FC236}">
                <a16:creationId xmlns:a16="http://schemas.microsoft.com/office/drawing/2014/main" id="{D4218636-BC9E-45B1-AA14-0F10811D90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33451" y="2484000"/>
            <a:ext cx="540000" cy="540000"/>
          </a:xfrm>
          <a:prstGeom prst="rect">
            <a:avLst/>
          </a:prstGeom>
        </p:spPr>
      </p:pic>
      <p:pic>
        <p:nvPicPr>
          <p:cNvPr id="25" name="圖形 24">
            <a:extLst>
              <a:ext uri="{FF2B5EF4-FFF2-40B4-BE49-F238E27FC236}">
                <a16:creationId xmlns:a16="http://schemas.microsoft.com/office/drawing/2014/main" id="{B61ED600-85DD-4F5E-A832-9C43EA2F5D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2651" y="4764188"/>
            <a:ext cx="540000" cy="540000"/>
          </a:xfrm>
          <a:prstGeom prst="rect">
            <a:avLst/>
          </a:prstGeom>
        </p:spPr>
      </p:pic>
    </p:spTree>
    <p:extLst>
      <p:ext uri="{BB962C8B-B14F-4D97-AF65-F5344CB8AC3E}">
        <p14:creationId xmlns:p14="http://schemas.microsoft.com/office/powerpoint/2010/main" val="12142415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35" name="Google Shape;2335;p37">
            <a:extLst>
              <a:ext uri="{FF2B5EF4-FFF2-40B4-BE49-F238E27FC236}">
                <a16:creationId xmlns:a16="http://schemas.microsoft.com/office/drawing/2014/main" id="{4BF74FC6-CA01-4032-9F04-40F785BE49BB}"/>
              </a:ext>
            </a:extLst>
          </p:cNvPr>
          <p:cNvSpPr txBox="1"/>
          <p:nvPr/>
        </p:nvSpPr>
        <p:spPr>
          <a:xfrm>
            <a:off x="1577791" y="4682397"/>
            <a:ext cx="4937309" cy="972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rPr>
              <a:t>3.</a:t>
            </a:r>
            <a:r>
              <a:rPr lang="zh-TW" altLang="en-US" dirty="0">
                <a:solidFill>
                  <a:schemeClr val="dk1"/>
                </a:solidFill>
                <a:latin typeface="微軟正黑體" panose="020B0604030504040204" pitchFamily="34" charset="-120"/>
                <a:ea typeface="微軟正黑體" panose="020B0604030504040204" pitchFamily="34" charset="-120"/>
                <a:cs typeface="Montserrat Medium"/>
                <a:sym typeface="Montserrat Medium"/>
              </a:rPr>
              <a:t> 為使</a:t>
            </a:r>
            <a:r>
              <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rPr>
              <a:t>Docker</a:t>
            </a:r>
            <a:r>
              <a:rPr lang="zh-TW" altLang="en-US" dirty="0">
                <a:solidFill>
                  <a:schemeClr val="dk1"/>
                </a:solidFill>
                <a:latin typeface="微軟正黑體" panose="020B0604030504040204" pitchFamily="34" charset="-120"/>
                <a:ea typeface="微軟正黑體" panose="020B0604030504040204" pitchFamily="34" charset="-120"/>
                <a:cs typeface="Montserrat Medium"/>
                <a:sym typeface="Montserrat Medium"/>
              </a:rPr>
              <a:t>具備憑證，會將憑證放入容器中</a:t>
            </a:r>
            <a:endPar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47" name="TextBox 34">
            <a:extLst>
              <a:ext uri="{FF2B5EF4-FFF2-40B4-BE49-F238E27FC236}">
                <a16:creationId xmlns:a16="http://schemas.microsoft.com/office/drawing/2014/main" id="{A6893E2E-7135-4C3C-8BD9-C118C3901584}"/>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研究動機</a:t>
            </a:r>
            <a:endParaRPr lang="en-US" sz="3500" b="1" dirty="0">
              <a:solidFill>
                <a:schemeClr val="tx1">
                  <a:lumMod val="75000"/>
                  <a:lumOff val="25000"/>
                </a:schemeClr>
              </a:solidFill>
              <a:latin typeface="Montserrat Light" panose="00000400000000000000" pitchFamily="50" charset="0"/>
            </a:endParaRPr>
          </a:p>
        </p:txBody>
      </p:sp>
      <p:sp>
        <p:nvSpPr>
          <p:cNvPr id="28" name="Slide Number Placeholder 129">
            <a:extLst>
              <a:ext uri="{FF2B5EF4-FFF2-40B4-BE49-F238E27FC236}">
                <a16:creationId xmlns:a16="http://schemas.microsoft.com/office/drawing/2014/main" id="{2F2B43AF-051E-4350-A8BA-802D814A7A3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9</a:t>
            </a:fld>
            <a:endParaRPr lang="en-US" dirty="0"/>
          </a:p>
        </p:txBody>
      </p:sp>
      <p:sp>
        <p:nvSpPr>
          <p:cNvPr id="41" name="Google Shape;2308;p37">
            <a:extLst>
              <a:ext uri="{FF2B5EF4-FFF2-40B4-BE49-F238E27FC236}">
                <a16:creationId xmlns:a16="http://schemas.microsoft.com/office/drawing/2014/main" id="{16C1175E-15C2-47E1-9F39-ADEB5A3E0ED3}"/>
              </a:ext>
            </a:extLst>
          </p:cNvPr>
          <p:cNvSpPr/>
          <p:nvPr/>
        </p:nvSpPr>
        <p:spPr>
          <a:xfrm>
            <a:off x="8072051" y="2323400"/>
            <a:ext cx="861200" cy="861200"/>
          </a:xfrm>
          <a:prstGeom prst="ellipse">
            <a:avLst/>
          </a:prstGeom>
          <a:solidFill>
            <a:schemeClr val="bg1">
              <a:lumMod val="50000"/>
              <a:alpha val="1500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43" name="Google Shape;2310;p37">
            <a:extLst>
              <a:ext uri="{FF2B5EF4-FFF2-40B4-BE49-F238E27FC236}">
                <a16:creationId xmlns:a16="http://schemas.microsoft.com/office/drawing/2014/main" id="{6F226CF3-5359-4CE3-838A-C9B3F32DF551}"/>
              </a:ext>
            </a:extLst>
          </p:cNvPr>
          <p:cNvSpPr/>
          <p:nvPr/>
        </p:nvSpPr>
        <p:spPr>
          <a:xfrm>
            <a:off x="8071251" y="4592735"/>
            <a:ext cx="861200" cy="861200"/>
          </a:xfrm>
          <a:prstGeom prst="ellipse">
            <a:avLst/>
          </a:prstGeom>
          <a:solidFill>
            <a:schemeClr val="accent4">
              <a:lumMod val="75000"/>
              <a:alpha val="5127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46" name="Google Shape;2313;p37">
            <a:extLst>
              <a:ext uri="{FF2B5EF4-FFF2-40B4-BE49-F238E27FC236}">
                <a16:creationId xmlns:a16="http://schemas.microsoft.com/office/drawing/2014/main" id="{67EBC0A4-9475-44C9-BAF4-1A5EC97D9DA5}"/>
              </a:ext>
            </a:extLst>
          </p:cNvPr>
          <p:cNvSpPr txBox="1"/>
          <p:nvPr/>
        </p:nvSpPr>
        <p:spPr>
          <a:xfrm>
            <a:off x="9126500" y="2591447"/>
            <a:ext cx="278402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alpha val="15000"/>
                  </a:schemeClr>
                </a:solidFill>
                <a:latin typeface="微軟正黑體" panose="020B0604030504040204" pitchFamily="34" charset="-120"/>
                <a:ea typeface="微軟正黑體" panose="020B0604030504040204" pitchFamily="34" charset="-120"/>
                <a:cs typeface="Montserrat SemiBold"/>
                <a:sym typeface="Montserrat SemiBold"/>
              </a:rPr>
              <a:t>環境建置與程式開發</a:t>
            </a:r>
          </a:p>
        </p:txBody>
      </p:sp>
      <p:sp>
        <p:nvSpPr>
          <p:cNvPr id="49" name="Google Shape;2315;p37">
            <a:extLst>
              <a:ext uri="{FF2B5EF4-FFF2-40B4-BE49-F238E27FC236}">
                <a16:creationId xmlns:a16="http://schemas.microsoft.com/office/drawing/2014/main" id="{4C1CE9C4-1A7D-4DC3-BA85-F38A92449382}"/>
              </a:ext>
            </a:extLst>
          </p:cNvPr>
          <p:cNvSpPr txBox="1"/>
          <p:nvPr/>
        </p:nvSpPr>
        <p:spPr>
          <a:xfrm>
            <a:off x="9125700" y="4868151"/>
            <a:ext cx="199440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solidFill>
                <a:latin typeface="微軟正黑體" panose="020B0604030504040204" pitchFamily="34" charset="-120"/>
                <a:ea typeface="微軟正黑體" panose="020B0604030504040204" pitchFamily="34" charset="-120"/>
                <a:cs typeface="Montserrat SemiBold"/>
                <a:sym typeface="Montserrat SemiBold"/>
              </a:rPr>
              <a:t>憑證</a:t>
            </a:r>
          </a:p>
        </p:txBody>
      </p:sp>
      <p:cxnSp>
        <p:nvCxnSpPr>
          <p:cNvPr id="51" name="Google Shape;2317;p37">
            <a:extLst>
              <a:ext uri="{FF2B5EF4-FFF2-40B4-BE49-F238E27FC236}">
                <a16:creationId xmlns:a16="http://schemas.microsoft.com/office/drawing/2014/main" id="{C31AD122-AA6B-4DF0-878F-15E4154C0287}"/>
              </a:ext>
            </a:extLst>
          </p:cNvPr>
          <p:cNvCxnSpPr>
            <a:cxnSpLocks/>
            <a:stCxn id="41" idx="4"/>
            <a:endCxn id="43" idx="0"/>
          </p:cNvCxnSpPr>
          <p:nvPr/>
        </p:nvCxnSpPr>
        <p:spPr>
          <a:xfrm rot="5400000">
            <a:off x="7798184" y="3888267"/>
            <a:ext cx="1408135" cy="800"/>
          </a:xfrm>
          <a:prstGeom prst="bentConnector3">
            <a:avLst>
              <a:gd name="adj1" fmla="val 50000"/>
            </a:avLst>
          </a:prstGeom>
          <a:noFill/>
          <a:ln w="9525" cap="flat" cmpd="sng">
            <a:solidFill>
              <a:schemeClr val="dk1"/>
            </a:solidFill>
            <a:prstDash val="dash"/>
            <a:round/>
            <a:headEnd type="none" w="med" len="med"/>
            <a:tailEnd type="none" w="med" len="med"/>
          </a:ln>
        </p:spPr>
      </p:cxnSp>
      <p:pic>
        <p:nvPicPr>
          <p:cNvPr id="105" name="圖形 104">
            <a:extLst>
              <a:ext uri="{FF2B5EF4-FFF2-40B4-BE49-F238E27FC236}">
                <a16:creationId xmlns:a16="http://schemas.microsoft.com/office/drawing/2014/main" id="{053AA2AC-47F8-4FA1-8FBA-141D43744C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33451" y="2484000"/>
            <a:ext cx="540000" cy="540000"/>
          </a:xfrm>
          <a:prstGeom prst="rect">
            <a:avLst/>
          </a:prstGeom>
        </p:spPr>
      </p:pic>
      <p:pic>
        <p:nvPicPr>
          <p:cNvPr id="106" name="圖形 105">
            <a:extLst>
              <a:ext uri="{FF2B5EF4-FFF2-40B4-BE49-F238E27FC236}">
                <a16:creationId xmlns:a16="http://schemas.microsoft.com/office/drawing/2014/main" id="{A21FA121-2364-4827-BF9B-F88FAC20D1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2651" y="4764188"/>
            <a:ext cx="540000" cy="540000"/>
          </a:xfrm>
          <a:prstGeom prst="rect">
            <a:avLst/>
          </a:prstGeom>
        </p:spPr>
      </p:pic>
      <p:sp>
        <p:nvSpPr>
          <p:cNvPr id="21" name="Google Shape;2319;p37">
            <a:extLst>
              <a:ext uri="{FF2B5EF4-FFF2-40B4-BE49-F238E27FC236}">
                <a16:creationId xmlns:a16="http://schemas.microsoft.com/office/drawing/2014/main" id="{F4528AB7-6AFB-4AC3-953C-5893C140FAE7}"/>
              </a:ext>
            </a:extLst>
          </p:cNvPr>
          <p:cNvSpPr/>
          <p:nvPr/>
        </p:nvSpPr>
        <p:spPr>
          <a:xfrm>
            <a:off x="1581214" y="2378100"/>
            <a:ext cx="4940730" cy="9720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26" name="Google Shape;2337;p37">
            <a:extLst>
              <a:ext uri="{FF2B5EF4-FFF2-40B4-BE49-F238E27FC236}">
                <a16:creationId xmlns:a16="http://schemas.microsoft.com/office/drawing/2014/main" id="{ECB808E5-99B5-409D-B077-5DD5B2C74C1F}"/>
              </a:ext>
            </a:extLst>
          </p:cNvPr>
          <p:cNvSpPr txBox="1"/>
          <p:nvPr/>
        </p:nvSpPr>
        <p:spPr>
          <a:xfrm>
            <a:off x="1581214" y="2383783"/>
            <a:ext cx="4940730" cy="972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rPr>
              <a:t>1. Docker</a:t>
            </a:r>
            <a:r>
              <a:rPr lang="zh-TW" altLang="en-US" dirty="0">
                <a:solidFill>
                  <a:schemeClr val="dk1"/>
                </a:solidFill>
                <a:latin typeface="微軟正黑體" panose="020B0604030504040204" pitchFamily="34" charset="-120"/>
                <a:ea typeface="微軟正黑體" panose="020B0604030504040204" pitchFamily="34" charset="-120"/>
                <a:cs typeface="Montserrat Medium"/>
                <a:sym typeface="Montserrat Medium"/>
              </a:rPr>
              <a:t>使用</a:t>
            </a:r>
            <a:r>
              <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rPr>
              <a:t>HTTP</a:t>
            </a:r>
            <a:r>
              <a:rPr lang="zh-TW" altLang="en-US" dirty="0">
                <a:solidFill>
                  <a:schemeClr val="dk1"/>
                </a:solidFill>
                <a:latin typeface="微軟正黑體" panose="020B0604030504040204" pitchFamily="34" charset="-120"/>
                <a:ea typeface="微軟正黑體" panose="020B0604030504040204" pitchFamily="34" charset="-120"/>
                <a:cs typeface="Montserrat Medium"/>
                <a:sym typeface="Montserrat Medium"/>
              </a:rPr>
              <a:t>進行傳輸</a:t>
            </a:r>
            <a:endParaRPr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33" name="Google Shape;2320;p37">
            <a:extLst>
              <a:ext uri="{FF2B5EF4-FFF2-40B4-BE49-F238E27FC236}">
                <a16:creationId xmlns:a16="http://schemas.microsoft.com/office/drawing/2014/main" id="{68E50A61-ACD4-4333-9A40-A63DB08419E0}"/>
              </a:ext>
            </a:extLst>
          </p:cNvPr>
          <p:cNvSpPr/>
          <p:nvPr/>
        </p:nvSpPr>
        <p:spPr>
          <a:xfrm>
            <a:off x="1581213" y="4686280"/>
            <a:ext cx="4937309" cy="972000"/>
          </a:xfrm>
          <a:prstGeom prst="roundRect">
            <a:avLst>
              <a:gd name="adj" fmla="val 16667"/>
            </a:avLst>
          </a:prstGeom>
          <a:noFill/>
          <a:ln w="9525" cap="flat" cmpd="sng">
            <a:solidFill>
              <a:schemeClr val="bg1">
                <a:lumMod val="50000"/>
              </a:schemeClr>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34" name="Google Shape;2321;p37">
            <a:extLst>
              <a:ext uri="{FF2B5EF4-FFF2-40B4-BE49-F238E27FC236}">
                <a16:creationId xmlns:a16="http://schemas.microsoft.com/office/drawing/2014/main" id="{92D06C92-D640-446D-B78C-EA1AD4CC827C}"/>
              </a:ext>
            </a:extLst>
          </p:cNvPr>
          <p:cNvSpPr/>
          <p:nvPr/>
        </p:nvSpPr>
        <p:spPr>
          <a:xfrm>
            <a:off x="1581214" y="3536923"/>
            <a:ext cx="4940730" cy="972000"/>
          </a:xfrm>
          <a:prstGeom prst="roundRect">
            <a:avLst>
              <a:gd name="adj" fmla="val 16667"/>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36" name="Google Shape;2336;p37">
            <a:extLst>
              <a:ext uri="{FF2B5EF4-FFF2-40B4-BE49-F238E27FC236}">
                <a16:creationId xmlns:a16="http://schemas.microsoft.com/office/drawing/2014/main" id="{8169E958-7678-43E3-B861-EC256CBAEFE1}"/>
              </a:ext>
            </a:extLst>
          </p:cNvPr>
          <p:cNvSpPr txBox="1"/>
          <p:nvPr/>
        </p:nvSpPr>
        <p:spPr>
          <a:xfrm>
            <a:off x="1577792" y="3533040"/>
            <a:ext cx="4940730" cy="972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altLang="zh-TW"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2. </a:t>
            </a:r>
            <a:r>
              <a:rPr lang="zh-TW" altLang="en-US"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伺服器使用</a:t>
            </a:r>
            <a:r>
              <a:rPr lang="en-US" altLang="zh-TW"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HTTP</a:t>
            </a:r>
            <a:r>
              <a:rPr lang="zh-TW" altLang="en-US"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並不具備安全傳輸</a:t>
            </a:r>
            <a:endParaRPr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40" name="文字方塊 39">
            <a:extLst>
              <a:ext uri="{FF2B5EF4-FFF2-40B4-BE49-F238E27FC236}">
                <a16:creationId xmlns:a16="http://schemas.microsoft.com/office/drawing/2014/main" id="{71B465D1-86F2-47A5-B4F2-6FC3F66C712E}"/>
              </a:ext>
            </a:extLst>
          </p:cNvPr>
          <p:cNvSpPr txBox="1"/>
          <p:nvPr/>
        </p:nvSpPr>
        <p:spPr>
          <a:xfrm>
            <a:off x="2219112" y="1535296"/>
            <a:ext cx="3671005" cy="461665"/>
          </a:xfrm>
          <a:prstGeom prst="rect">
            <a:avLst/>
          </a:prstGeom>
          <a:noFill/>
        </p:spPr>
        <p:txBody>
          <a:bodyPr wrap="none" rtlCol="0">
            <a:spAutoFit/>
          </a:bodyPr>
          <a:lstStyle/>
          <a:p>
            <a:pPr algn="ctr"/>
            <a:r>
              <a:rPr lang="zh-TW" altLang="en-US" sz="2400" dirty="0">
                <a:latin typeface="微軟正黑體" panose="020B0604030504040204" pitchFamily="34" charset="-120"/>
                <a:ea typeface="微軟正黑體" panose="020B0604030504040204" pitchFamily="34" charset="-120"/>
              </a:rPr>
              <a:t>使用</a:t>
            </a:r>
            <a:r>
              <a:rPr lang="en-US" altLang="zh-TW" sz="2400" dirty="0">
                <a:latin typeface="微軟正黑體" panose="020B0604030504040204" pitchFamily="34" charset="-120"/>
                <a:ea typeface="微軟正黑體" panose="020B0604030504040204" pitchFamily="34" charset="-120"/>
              </a:rPr>
              <a:t>Docker</a:t>
            </a:r>
            <a:r>
              <a:rPr lang="zh-TW" altLang="en-US" sz="2400" dirty="0">
                <a:latin typeface="微軟正黑體" panose="020B0604030504040204" pitchFamily="34" charset="-120"/>
                <a:ea typeface="微軟正黑體" panose="020B0604030504040204" pitchFamily="34" charset="-120"/>
              </a:rPr>
              <a:t>會遇到的問題</a:t>
            </a:r>
          </a:p>
        </p:txBody>
      </p:sp>
    </p:spTree>
    <p:extLst>
      <p:ext uri="{BB962C8B-B14F-4D97-AF65-F5344CB8AC3E}">
        <p14:creationId xmlns:p14="http://schemas.microsoft.com/office/powerpoint/2010/main" val="196864188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47" name="TextBox 34">
            <a:extLst>
              <a:ext uri="{FF2B5EF4-FFF2-40B4-BE49-F238E27FC236}">
                <a16:creationId xmlns:a16="http://schemas.microsoft.com/office/drawing/2014/main" id="{A6893E2E-7135-4C3C-8BD9-C118C3901584}"/>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研究動機</a:t>
            </a:r>
            <a:endParaRPr lang="en-US" sz="3500" b="1" dirty="0">
              <a:solidFill>
                <a:schemeClr val="tx1">
                  <a:lumMod val="75000"/>
                  <a:lumOff val="25000"/>
                </a:schemeClr>
              </a:solidFill>
              <a:latin typeface="Montserrat Light" panose="00000400000000000000" pitchFamily="50" charset="0"/>
            </a:endParaRPr>
          </a:p>
        </p:txBody>
      </p:sp>
      <p:sp>
        <p:nvSpPr>
          <p:cNvPr id="28" name="Slide Number Placeholder 129">
            <a:extLst>
              <a:ext uri="{FF2B5EF4-FFF2-40B4-BE49-F238E27FC236}">
                <a16:creationId xmlns:a16="http://schemas.microsoft.com/office/drawing/2014/main" id="{2F2B43AF-051E-4350-A8BA-802D814A7A3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10</a:t>
            </a:fld>
            <a:endParaRPr lang="en-US" dirty="0"/>
          </a:p>
        </p:txBody>
      </p:sp>
      <p:sp>
        <p:nvSpPr>
          <p:cNvPr id="41" name="Google Shape;2308;p37">
            <a:extLst>
              <a:ext uri="{FF2B5EF4-FFF2-40B4-BE49-F238E27FC236}">
                <a16:creationId xmlns:a16="http://schemas.microsoft.com/office/drawing/2014/main" id="{16C1175E-15C2-47E1-9F39-ADEB5A3E0ED3}"/>
              </a:ext>
            </a:extLst>
          </p:cNvPr>
          <p:cNvSpPr/>
          <p:nvPr/>
        </p:nvSpPr>
        <p:spPr>
          <a:xfrm>
            <a:off x="8072051" y="2323400"/>
            <a:ext cx="861200" cy="861200"/>
          </a:xfrm>
          <a:prstGeom prst="ellipse">
            <a:avLst/>
          </a:prstGeom>
          <a:solidFill>
            <a:schemeClr val="bg1">
              <a:lumMod val="50000"/>
              <a:alpha val="1500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43" name="Google Shape;2310;p37">
            <a:extLst>
              <a:ext uri="{FF2B5EF4-FFF2-40B4-BE49-F238E27FC236}">
                <a16:creationId xmlns:a16="http://schemas.microsoft.com/office/drawing/2014/main" id="{6F226CF3-5359-4CE3-838A-C9B3F32DF551}"/>
              </a:ext>
            </a:extLst>
          </p:cNvPr>
          <p:cNvSpPr/>
          <p:nvPr/>
        </p:nvSpPr>
        <p:spPr>
          <a:xfrm>
            <a:off x="8071251" y="4592735"/>
            <a:ext cx="861200" cy="861200"/>
          </a:xfrm>
          <a:prstGeom prst="ellipse">
            <a:avLst/>
          </a:prstGeom>
          <a:solidFill>
            <a:schemeClr val="accent4">
              <a:lumMod val="75000"/>
              <a:alpha val="5127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46" name="Google Shape;2313;p37">
            <a:extLst>
              <a:ext uri="{FF2B5EF4-FFF2-40B4-BE49-F238E27FC236}">
                <a16:creationId xmlns:a16="http://schemas.microsoft.com/office/drawing/2014/main" id="{67EBC0A4-9475-44C9-BAF4-1A5EC97D9DA5}"/>
              </a:ext>
            </a:extLst>
          </p:cNvPr>
          <p:cNvSpPr txBox="1"/>
          <p:nvPr/>
        </p:nvSpPr>
        <p:spPr>
          <a:xfrm>
            <a:off x="9126500" y="2591447"/>
            <a:ext cx="278402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alpha val="15000"/>
                  </a:schemeClr>
                </a:solidFill>
                <a:latin typeface="微軟正黑體" panose="020B0604030504040204" pitchFamily="34" charset="-120"/>
                <a:ea typeface="微軟正黑體" panose="020B0604030504040204" pitchFamily="34" charset="-120"/>
                <a:cs typeface="Montserrat SemiBold"/>
                <a:sym typeface="Montserrat SemiBold"/>
              </a:rPr>
              <a:t>環境建置與程式開發</a:t>
            </a:r>
          </a:p>
        </p:txBody>
      </p:sp>
      <p:sp>
        <p:nvSpPr>
          <p:cNvPr id="49" name="Google Shape;2315;p37">
            <a:extLst>
              <a:ext uri="{FF2B5EF4-FFF2-40B4-BE49-F238E27FC236}">
                <a16:creationId xmlns:a16="http://schemas.microsoft.com/office/drawing/2014/main" id="{4C1CE9C4-1A7D-4DC3-BA85-F38A92449382}"/>
              </a:ext>
            </a:extLst>
          </p:cNvPr>
          <p:cNvSpPr txBox="1"/>
          <p:nvPr/>
        </p:nvSpPr>
        <p:spPr>
          <a:xfrm>
            <a:off x="9125700" y="4868151"/>
            <a:ext cx="199440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solidFill>
                <a:latin typeface="微軟正黑體" panose="020B0604030504040204" pitchFamily="34" charset="-120"/>
                <a:ea typeface="微軟正黑體" panose="020B0604030504040204" pitchFamily="34" charset="-120"/>
                <a:cs typeface="Montserrat SemiBold"/>
                <a:sym typeface="Montserrat SemiBold"/>
              </a:rPr>
              <a:t>憑證</a:t>
            </a:r>
          </a:p>
        </p:txBody>
      </p:sp>
      <p:cxnSp>
        <p:nvCxnSpPr>
          <p:cNvPr id="51" name="Google Shape;2317;p37">
            <a:extLst>
              <a:ext uri="{FF2B5EF4-FFF2-40B4-BE49-F238E27FC236}">
                <a16:creationId xmlns:a16="http://schemas.microsoft.com/office/drawing/2014/main" id="{C31AD122-AA6B-4DF0-878F-15E4154C0287}"/>
              </a:ext>
            </a:extLst>
          </p:cNvPr>
          <p:cNvCxnSpPr>
            <a:cxnSpLocks/>
            <a:stCxn id="41" idx="4"/>
            <a:endCxn id="43" idx="0"/>
          </p:cNvCxnSpPr>
          <p:nvPr/>
        </p:nvCxnSpPr>
        <p:spPr>
          <a:xfrm rot="5400000">
            <a:off x="7798184" y="3888267"/>
            <a:ext cx="1408135" cy="800"/>
          </a:xfrm>
          <a:prstGeom prst="bentConnector3">
            <a:avLst>
              <a:gd name="adj1" fmla="val 50000"/>
            </a:avLst>
          </a:prstGeom>
          <a:noFill/>
          <a:ln w="9525" cap="flat" cmpd="sng">
            <a:solidFill>
              <a:schemeClr val="dk1"/>
            </a:solidFill>
            <a:prstDash val="dash"/>
            <a:round/>
            <a:headEnd type="none" w="med" len="med"/>
            <a:tailEnd type="none" w="med" len="med"/>
          </a:ln>
        </p:spPr>
      </p:cxnSp>
      <p:pic>
        <p:nvPicPr>
          <p:cNvPr id="105" name="圖形 104">
            <a:extLst>
              <a:ext uri="{FF2B5EF4-FFF2-40B4-BE49-F238E27FC236}">
                <a16:creationId xmlns:a16="http://schemas.microsoft.com/office/drawing/2014/main" id="{053AA2AC-47F8-4FA1-8FBA-141D43744C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33451" y="2484000"/>
            <a:ext cx="540000" cy="540000"/>
          </a:xfrm>
          <a:prstGeom prst="rect">
            <a:avLst/>
          </a:prstGeom>
        </p:spPr>
      </p:pic>
      <p:pic>
        <p:nvPicPr>
          <p:cNvPr id="106" name="圖形 105">
            <a:extLst>
              <a:ext uri="{FF2B5EF4-FFF2-40B4-BE49-F238E27FC236}">
                <a16:creationId xmlns:a16="http://schemas.microsoft.com/office/drawing/2014/main" id="{A21FA121-2364-4827-BF9B-F88FAC20D1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2651" y="4764188"/>
            <a:ext cx="540000" cy="540000"/>
          </a:xfrm>
          <a:prstGeom prst="rect">
            <a:avLst/>
          </a:prstGeom>
        </p:spPr>
      </p:pic>
      <p:sp>
        <p:nvSpPr>
          <p:cNvPr id="40" name="文字方塊 39">
            <a:extLst>
              <a:ext uri="{FF2B5EF4-FFF2-40B4-BE49-F238E27FC236}">
                <a16:creationId xmlns:a16="http://schemas.microsoft.com/office/drawing/2014/main" id="{71B465D1-86F2-47A5-B4F2-6FC3F66C712E}"/>
              </a:ext>
            </a:extLst>
          </p:cNvPr>
          <p:cNvSpPr txBox="1"/>
          <p:nvPr/>
        </p:nvSpPr>
        <p:spPr>
          <a:xfrm>
            <a:off x="1961734" y="1535296"/>
            <a:ext cx="4185761" cy="461665"/>
          </a:xfrm>
          <a:prstGeom prst="rect">
            <a:avLst/>
          </a:prstGeom>
          <a:noFill/>
        </p:spPr>
        <p:txBody>
          <a:bodyPr wrap="none" rtlCol="0">
            <a:spAutoFit/>
          </a:bodyPr>
          <a:lstStyle/>
          <a:p>
            <a:pPr algn="ctr"/>
            <a:r>
              <a:rPr lang="zh-TW" altLang="en-US" sz="2400" dirty="0">
                <a:latin typeface="微軟正黑體" panose="020B0604030504040204" pitchFamily="34" charset="-120"/>
                <a:ea typeface="微軟正黑體" panose="020B0604030504040204" pitchFamily="34" charset="-120"/>
              </a:rPr>
              <a:t>憑證放入容器中會遇到的問題</a:t>
            </a:r>
          </a:p>
        </p:txBody>
      </p:sp>
      <p:sp>
        <p:nvSpPr>
          <p:cNvPr id="25" name="Google Shape;2319;p37">
            <a:extLst>
              <a:ext uri="{FF2B5EF4-FFF2-40B4-BE49-F238E27FC236}">
                <a16:creationId xmlns:a16="http://schemas.microsoft.com/office/drawing/2014/main" id="{9D1CDDD6-DB71-439D-84D9-ACCFEB91E22B}"/>
              </a:ext>
            </a:extLst>
          </p:cNvPr>
          <p:cNvSpPr/>
          <p:nvPr/>
        </p:nvSpPr>
        <p:spPr>
          <a:xfrm>
            <a:off x="1581214" y="2378099"/>
            <a:ext cx="4940730" cy="1253889"/>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27" name="Google Shape;2337;p37">
            <a:extLst>
              <a:ext uri="{FF2B5EF4-FFF2-40B4-BE49-F238E27FC236}">
                <a16:creationId xmlns:a16="http://schemas.microsoft.com/office/drawing/2014/main" id="{0D9B99C7-17BC-43C6-A8A6-371F5AC85530}"/>
              </a:ext>
            </a:extLst>
          </p:cNvPr>
          <p:cNvSpPr txBox="1"/>
          <p:nvPr/>
        </p:nvSpPr>
        <p:spPr>
          <a:xfrm>
            <a:off x="1581214" y="2383782"/>
            <a:ext cx="4940730" cy="1253889"/>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rPr>
              <a:t>1. </a:t>
            </a:r>
            <a:r>
              <a:rPr lang="zh-TW" altLang="en-US" dirty="0">
                <a:solidFill>
                  <a:schemeClr val="dk1"/>
                </a:solidFill>
                <a:latin typeface="微軟正黑體" panose="020B0604030504040204" pitchFamily="34" charset="-120"/>
                <a:ea typeface="微軟正黑體" panose="020B0604030504040204" pitchFamily="34" charset="-120"/>
                <a:cs typeface="Montserrat Medium"/>
                <a:sym typeface="Montserrat Medium"/>
              </a:rPr>
              <a:t>每個容器都需要憑證</a:t>
            </a:r>
            <a:endParaRPr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30" name="Google Shape;2321;p37">
            <a:extLst>
              <a:ext uri="{FF2B5EF4-FFF2-40B4-BE49-F238E27FC236}">
                <a16:creationId xmlns:a16="http://schemas.microsoft.com/office/drawing/2014/main" id="{B97ECB4C-557E-4997-8628-8C282F109137}"/>
              </a:ext>
            </a:extLst>
          </p:cNvPr>
          <p:cNvSpPr/>
          <p:nvPr/>
        </p:nvSpPr>
        <p:spPr>
          <a:xfrm>
            <a:off x="1581214" y="4218672"/>
            <a:ext cx="4940730" cy="1260000"/>
          </a:xfrm>
          <a:prstGeom prst="roundRect">
            <a:avLst>
              <a:gd name="adj" fmla="val 16667"/>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32" name="Google Shape;2336;p37">
            <a:extLst>
              <a:ext uri="{FF2B5EF4-FFF2-40B4-BE49-F238E27FC236}">
                <a16:creationId xmlns:a16="http://schemas.microsoft.com/office/drawing/2014/main" id="{80C27D5F-1938-4475-AB38-299E3B5377DF}"/>
              </a:ext>
            </a:extLst>
          </p:cNvPr>
          <p:cNvSpPr txBox="1"/>
          <p:nvPr/>
        </p:nvSpPr>
        <p:spPr>
          <a:xfrm>
            <a:off x="1577792" y="4214789"/>
            <a:ext cx="4940730" cy="1260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altLang="zh-TW"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2. </a:t>
            </a:r>
            <a:r>
              <a:rPr lang="zh-TW" altLang="en-US"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憑證會過期，而在容器內不易更新</a:t>
            </a:r>
            <a:endParaRPr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Tree>
    <p:extLst>
      <p:ext uri="{BB962C8B-B14F-4D97-AF65-F5344CB8AC3E}">
        <p14:creationId xmlns:p14="http://schemas.microsoft.com/office/powerpoint/2010/main" val="20333698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48" name="Google Shape;2335;p37">
            <a:extLst>
              <a:ext uri="{FF2B5EF4-FFF2-40B4-BE49-F238E27FC236}">
                <a16:creationId xmlns:a16="http://schemas.microsoft.com/office/drawing/2014/main" id="{FF6E7B85-2285-4D93-B62E-66DCCB28F6A6}"/>
              </a:ext>
            </a:extLst>
          </p:cNvPr>
          <p:cNvSpPr txBox="1"/>
          <p:nvPr/>
        </p:nvSpPr>
        <p:spPr>
          <a:xfrm>
            <a:off x="4542608" y="4656380"/>
            <a:ext cx="3091200" cy="972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altLang="zh-TW" sz="16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3.</a:t>
            </a:r>
            <a:r>
              <a:rPr lang="zh-TW" altLang="en-US" sz="16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 透過子網域存取對應容器</a:t>
            </a:r>
            <a:endParaRPr lang="en-US" altLang="zh-TW" sz="1600"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a:p>
            <a:pPr algn="ctr">
              <a:buClr>
                <a:schemeClr val="dk1"/>
              </a:buClr>
              <a:buSzPts val="1100"/>
            </a:pPr>
            <a:r>
              <a:rPr lang="en-US" altLang="zh-TW"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 </a:t>
            </a:r>
            <a:r>
              <a:rPr lang="zh-TW" altLang="en-US"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子網域對應容器的</a:t>
            </a:r>
            <a:r>
              <a:rPr lang="en-US" altLang="zh-TW"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port</a:t>
            </a:r>
          </a:p>
        </p:txBody>
      </p:sp>
      <p:sp>
        <p:nvSpPr>
          <p:cNvPr id="47" name="TextBox 34">
            <a:extLst>
              <a:ext uri="{FF2B5EF4-FFF2-40B4-BE49-F238E27FC236}">
                <a16:creationId xmlns:a16="http://schemas.microsoft.com/office/drawing/2014/main" id="{A6893E2E-7135-4C3C-8BD9-C118C3901584}"/>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研究動機</a:t>
            </a:r>
            <a:endParaRPr lang="en-US" sz="3500" b="1" dirty="0">
              <a:solidFill>
                <a:schemeClr val="tx1">
                  <a:lumMod val="75000"/>
                  <a:lumOff val="25000"/>
                </a:schemeClr>
              </a:solidFill>
              <a:latin typeface="Montserrat Light" panose="00000400000000000000" pitchFamily="50" charset="0"/>
            </a:endParaRPr>
          </a:p>
        </p:txBody>
      </p:sp>
      <p:sp>
        <p:nvSpPr>
          <p:cNvPr id="28" name="Slide Number Placeholder 129">
            <a:extLst>
              <a:ext uri="{FF2B5EF4-FFF2-40B4-BE49-F238E27FC236}">
                <a16:creationId xmlns:a16="http://schemas.microsoft.com/office/drawing/2014/main" id="{2F2B43AF-051E-4350-A8BA-802D814A7A3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11</a:t>
            </a:fld>
            <a:endParaRPr lang="en-US" dirty="0"/>
          </a:p>
        </p:txBody>
      </p:sp>
      <p:sp>
        <p:nvSpPr>
          <p:cNvPr id="41" name="Google Shape;2308;p37">
            <a:extLst>
              <a:ext uri="{FF2B5EF4-FFF2-40B4-BE49-F238E27FC236}">
                <a16:creationId xmlns:a16="http://schemas.microsoft.com/office/drawing/2014/main" id="{16C1175E-15C2-47E1-9F39-ADEB5A3E0ED3}"/>
              </a:ext>
            </a:extLst>
          </p:cNvPr>
          <p:cNvSpPr/>
          <p:nvPr/>
        </p:nvSpPr>
        <p:spPr>
          <a:xfrm>
            <a:off x="8072051" y="2323400"/>
            <a:ext cx="861200" cy="861200"/>
          </a:xfrm>
          <a:prstGeom prst="ellipse">
            <a:avLst/>
          </a:prstGeom>
          <a:solidFill>
            <a:schemeClr val="bg1">
              <a:lumMod val="50000"/>
              <a:alpha val="1500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43" name="Google Shape;2310;p37">
            <a:extLst>
              <a:ext uri="{FF2B5EF4-FFF2-40B4-BE49-F238E27FC236}">
                <a16:creationId xmlns:a16="http://schemas.microsoft.com/office/drawing/2014/main" id="{6F226CF3-5359-4CE3-838A-C9B3F32DF551}"/>
              </a:ext>
            </a:extLst>
          </p:cNvPr>
          <p:cNvSpPr/>
          <p:nvPr/>
        </p:nvSpPr>
        <p:spPr>
          <a:xfrm>
            <a:off x="8071251" y="4592735"/>
            <a:ext cx="861200" cy="861200"/>
          </a:xfrm>
          <a:prstGeom prst="ellipse">
            <a:avLst/>
          </a:prstGeom>
          <a:solidFill>
            <a:schemeClr val="accent4">
              <a:lumMod val="75000"/>
              <a:alpha val="51270"/>
            </a:schemeClr>
          </a:solidFill>
          <a:ln>
            <a:noFill/>
          </a:ln>
        </p:spPr>
        <p:txBody>
          <a:bodyPr spcFirstLastPara="1" wrap="square" lIns="121900" tIns="121900" rIns="121900" bIns="121900" anchor="ctr" anchorCtr="0">
            <a:noAutofit/>
          </a:bodyPr>
          <a:lstStyle/>
          <a:p>
            <a:pPr algn="ctr"/>
            <a:r>
              <a:rPr lang="en" sz="2400" dirty="0">
                <a:solidFill>
                  <a:schemeClr val="dk1"/>
                </a:solidFill>
                <a:latin typeface="Poppins Light" panose="00000400000000000000" pitchFamily="2" charset="0"/>
                <a:ea typeface="Montserrat SemiBold"/>
                <a:cs typeface="Poppins Light" panose="00000400000000000000" pitchFamily="2" charset="0"/>
                <a:sym typeface="Montserrat SemiBold"/>
              </a:rPr>
              <a:t> </a:t>
            </a:r>
            <a:endParaRPr sz="2400" dirty="0">
              <a:solidFill>
                <a:schemeClr val="dk1"/>
              </a:solidFill>
              <a:latin typeface="Poppins Light" panose="00000400000000000000" pitchFamily="2" charset="0"/>
              <a:ea typeface="Montserrat SemiBold"/>
              <a:cs typeface="Poppins Light" panose="00000400000000000000" pitchFamily="2" charset="0"/>
              <a:sym typeface="Montserrat SemiBold"/>
            </a:endParaRPr>
          </a:p>
        </p:txBody>
      </p:sp>
      <p:sp>
        <p:nvSpPr>
          <p:cNvPr id="46" name="Google Shape;2313;p37">
            <a:extLst>
              <a:ext uri="{FF2B5EF4-FFF2-40B4-BE49-F238E27FC236}">
                <a16:creationId xmlns:a16="http://schemas.microsoft.com/office/drawing/2014/main" id="{67EBC0A4-9475-44C9-BAF4-1A5EC97D9DA5}"/>
              </a:ext>
            </a:extLst>
          </p:cNvPr>
          <p:cNvSpPr txBox="1"/>
          <p:nvPr/>
        </p:nvSpPr>
        <p:spPr>
          <a:xfrm>
            <a:off x="9126500" y="2591447"/>
            <a:ext cx="278402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alpha val="15000"/>
                  </a:schemeClr>
                </a:solidFill>
                <a:latin typeface="微軟正黑體" panose="020B0604030504040204" pitchFamily="34" charset="-120"/>
                <a:ea typeface="微軟正黑體" panose="020B0604030504040204" pitchFamily="34" charset="-120"/>
                <a:cs typeface="Montserrat SemiBold"/>
                <a:sym typeface="Montserrat SemiBold"/>
              </a:rPr>
              <a:t>環境建置與程式開發</a:t>
            </a:r>
          </a:p>
        </p:txBody>
      </p:sp>
      <p:sp>
        <p:nvSpPr>
          <p:cNvPr id="49" name="Google Shape;2315;p37">
            <a:extLst>
              <a:ext uri="{FF2B5EF4-FFF2-40B4-BE49-F238E27FC236}">
                <a16:creationId xmlns:a16="http://schemas.microsoft.com/office/drawing/2014/main" id="{4C1CE9C4-1A7D-4DC3-BA85-F38A92449382}"/>
              </a:ext>
            </a:extLst>
          </p:cNvPr>
          <p:cNvSpPr txBox="1"/>
          <p:nvPr/>
        </p:nvSpPr>
        <p:spPr>
          <a:xfrm>
            <a:off x="9125700" y="4868151"/>
            <a:ext cx="1994400" cy="432400"/>
          </a:xfrm>
          <a:prstGeom prst="rect">
            <a:avLst/>
          </a:prstGeom>
          <a:noFill/>
          <a:ln>
            <a:noFill/>
          </a:ln>
        </p:spPr>
        <p:txBody>
          <a:bodyPr spcFirstLastPara="1" wrap="square" lIns="121900" tIns="121900" rIns="121900" bIns="121900" anchor="b" anchorCtr="0">
            <a:noAutofit/>
          </a:bodyPr>
          <a:lstStyle/>
          <a:p>
            <a:r>
              <a:rPr lang="zh-TW" altLang="en-US" sz="2133" dirty="0">
                <a:solidFill>
                  <a:schemeClr val="dk1"/>
                </a:solidFill>
                <a:latin typeface="微軟正黑體" panose="020B0604030504040204" pitchFamily="34" charset="-120"/>
                <a:ea typeface="微軟正黑體" panose="020B0604030504040204" pitchFamily="34" charset="-120"/>
                <a:cs typeface="Montserrat SemiBold"/>
                <a:sym typeface="Montserrat SemiBold"/>
              </a:rPr>
              <a:t>憑證</a:t>
            </a:r>
          </a:p>
        </p:txBody>
      </p:sp>
      <p:cxnSp>
        <p:nvCxnSpPr>
          <p:cNvPr id="51" name="Google Shape;2317;p37">
            <a:extLst>
              <a:ext uri="{FF2B5EF4-FFF2-40B4-BE49-F238E27FC236}">
                <a16:creationId xmlns:a16="http://schemas.microsoft.com/office/drawing/2014/main" id="{C31AD122-AA6B-4DF0-878F-15E4154C0287}"/>
              </a:ext>
            </a:extLst>
          </p:cNvPr>
          <p:cNvCxnSpPr>
            <a:cxnSpLocks/>
            <a:stCxn id="41" idx="4"/>
            <a:endCxn id="43" idx="0"/>
          </p:cNvCxnSpPr>
          <p:nvPr/>
        </p:nvCxnSpPr>
        <p:spPr>
          <a:xfrm rot="5400000">
            <a:off x="7798184" y="3888267"/>
            <a:ext cx="1408135" cy="800"/>
          </a:xfrm>
          <a:prstGeom prst="bentConnector3">
            <a:avLst>
              <a:gd name="adj1" fmla="val 50000"/>
            </a:avLst>
          </a:prstGeom>
          <a:noFill/>
          <a:ln w="9525" cap="flat" cmpd="sng">
            <a:solidFill>
              <a:schemeClr val="dk1"/>
            </a:solidFill>
            <a:prstDash val="dash"/>
            <a:round/>
            <a:headEnd type="none" w="med" len="med"/>
            <a:tailEnd type="none" w="med" len="med"/>
          </a:ln>
        </p:spPr>
      </p:cxnSp>
      <p:pic>
        <p:nvPicPr>
          <p:cNvPr id="105" name="圖形 104">
            <a:extLst>
              <a:ext uri="{FF2B5EF4-FFF2-40B4-BE49-F238E27FC236}">
                <a16:creationId xmlns:a16="http://schemas.microsoft.com/office/drawing/2014/main" id="{053AA2AC-47F8-4FA1-8FBA-141D43744C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33451" y="2484000"/>
            <a:ext cx="540000" cy="540000"/>
          </a:xfrm>
          <a:prstGeom prst="rect">
            <a:avLst/>
          </a:prstGeom>
        </p:spPr>
      </p:pic>
      <p:pic>
        <p:nvPicPr>
          <p:cNvPr id="106" name="圖形 105">
            <a:extLst>
              <a:ext uri="{FF2B5EF4-FFF2-40B4-BE49-F238E27FC236}">
                <a16:creationId xmlns:a16="http://schemas.microsoft.com/office/drawing/2014/main" id="{A21FA121-2364-4827-BF9B-F88FAC20D1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2651" y="4764188"/>
            <a:ext cx="540000" cy="540000"/>
          </a:xfrm>
          <a:prstGeom prst="rect">
            <a:avLst/>
          </a:prstGeom>
        </p:spPr>
      </p:pic>
      <p:sp>
        <p:nvSpPr>
          <p:cNvPr id="27" name="Google Shape;2322;p37">
            <a:extLst>
              <a:ext uri="{FF2B5EF4-FFF2-40B4-BE49-F238E27FC236}">
                <a16:creationId xmlns:a16="http://schemas.microsoft.com/office/drawing/2014/main" id="{709E675A-7DA4-47C2-87CE-20C3BC795CBF}"/>
              </a:ext>
            </a:extLst>
          </p:cNvPr>
          <p:cNvSpPr/>
          <p:nvPr/>
        </p:nvSpPr>
        <p:spPr>
          <a:xfrm>
            <a:off x="924075" y="1533483"/>
            <a:ext cx="3091200" cy="4694800"/>
          </a:xfrm>
          <a:prstGeom prst="roundRect">
            <a:avLst>
              <a:gd name="adj" fmla="val 7405"/>
            </a:avLst>
          </a:prstGeom>
          <a:noFill/>
          <a:ln w="9525" cap="flat" cmpd="sng">
            <a:solidFill>
              <a:schemeClr val="accent6"/>
            </a:solidFill>
            <a:prstDash val="solid"/>
            <a:round/>
            <a:headEnd type="none" w="sm" len="sm"/>
            <a:tailEnd type="none" w="sm" len="sm"/>
          </a:ln>
        </p:spPr>
        <p:txBody>
          <a:bodyPr spcFirstLastPara="1" wrap="square" lIns="121900" tIns="121900" rIns="121900" bIns="121900" anchor="ctr" anchorCtr="0">
            <a:noAutofit/>
          </a:bodyPr>
          <a:lstStyle/>
          <a:p>
            <a:pPr algn="ctr"/>
            <a:endParaRPr sz="2400" dirty="0">
              <a:latin typeface="Montserrat Medium"/>
              <a:ea typeface="Montserrat Medium"/>
              <a:cs typeface="Montserrat Medium"/>
              <a:sym typeface="Montserrat Medium"/>
            </a:endParaRPr>
          </a:p>
        </p:txBody>
      </p:sp>
      <p:sp>
        <p:nvSpPr>
          <p:cNvPr id="29" name="Oval 1">
            <a:extLst>
              <a:ext uri="{FF2B5EF4-FFF2-40B4-BE49-F238E27FC236}">
                <a16:creationId xmlns:a16="http://schemas.microsoft.com/office/drawing/2014/main" id="{332C9E56-59AA-4701-A9DD-CD896EDB419D}"/>
              </a:ext>
            </a:extLst>
          </p:cNvPr>
          <p:cNvSpPr/>
          <p:nvPr/>
        </p:nvSpPr>
        <p:spPr>
          <a:xfrm>
            <a:off x="1496254" y="2677215"/>
            <a:ext cx="1953681" cy="1953681"/>
          </a:xfrm>
          <a:prstGeom prst="ellipse">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文字方塊 30">
            <a:extLst>
              <a:ext uri="{FF2B5EF4-FFF2-40B4-BE49-F238E27FC236}">
                <a16:creationId xmlns:a16="http://schemas.microsoft.com/office/drawing/2014/main" id="{5FCFC54C-E384-465E-A734-92146DCA5135}"/>
              </a:ext>
            </a:extLst>
          </p:cNvPr>
          <p:cNvSpPr txBox="1"/>
          <p:nvPr/>
        </p:nvSpPr>
        <p:spPr>
          <a:xfrm>
            <a:off x="916576" y="4825025"/>
            <a:ext cx="3104568" cy="646331"/>
          </a:xfrm>
          <a:prstGeom prst="rect">
            <a:avLst/>
          </a:prstGeom>
          <a:noFill/>
        </p:spPr>
        <p:txBody>
          <a:bodyPr wrap="none" rtlCol="0">
            <a:spAutoFit/>
          </a:bodyPr>
          <a:lstStyle/>
          <a:p>
            <a:pPr algn="ctr"/>
            <a:r>
              <a:rPr lang="zh-TW" altLang="en-US" dirty="0">
                <a:latin typeface="微軟正黑體" panose="020B0604030504040204" pitchFamily="34" charset="-120"/>
                <a:ea typeface="微軟正黑體" panose="020B0604030504040204" pitchFamily="34" charset="-120"/>
              </a:rPr>
              <a:t>在</a:t>
            </a:r>
            <a:r>
              <a:rPr lang="en-US" altLang="zh-TW" dirty="0">
                <a:latin typeface="微軟正黑體" panose="020B0604030504040204" pitchFamily="34" charset="-120"/>
                <a:ea typeface="微軟正黑體" panose="020B0604030504040204" pitchFamily="34" charset="-120"/>
              </a:rPr>
              <a:t>Docker</a:t>
            </a:r>
            <a:r>
              <a:rPr lang="zh-TW" altLang="en-US" dirty="0">
                <a:latin typeface="微軟正黑體" panose="020B0604030504040204" pitchFamily="34" charset="-120"/>
                <a:ea typeface="微軟正黑體" panose="020B0604030504040204" pitchFamily="34" charset="-120"/>
              </a:rPr>
              <a:t>前使用</a:t>
            </a:r>
            <a:r>
              <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rPr>
              <a:t>Web server</a:t>
            </a:r>
          </a:p>
          <a:p>
            <a:pPr algn="ctr"/>
            <a:r>
              <a:rPr lang="zh-TW" altLang="en-US" dirty="0">
                <a:solidFill>
                  <a:schemeClr val="dk1"/>
                </a:solidFill>
                <a:latin typeface="微軟正黑體" panose="020B0604030504040204" pitchFamily="34" charset="-120"/>
                <a:ea typeface="微軟正黑體" panose="020B0604030504040204" pitchFamily="34" charset="-120"/>
                <a:cs typeface="Montserrat Medium"/>
                <a:sym typeface="Montserrat Medium"/>
              </a:rPr>
              <a:t>建立反向代理</a:t>
            </a:r>
            <a:r>
              <a:rPr lang="zh-TW" altLang="en-US" dirty="0">
                <a:latin typeface="微軟正黑體" panose="020B0604030504040204" pitchFamily="34" charset="-120"/>
                <a:ea typeface="微軟正黑體" panose="020B0604030504040204" pitchFamily="34" charset="-120"/>
              </a:rPr>
              <a:t>解決</a:t>
            </a:r>
          </a:p>
        </p:txBody>
      </p:sp>
      <p:pic>
        <p:nvPicPr>
          <p:cNvPr id="53" name="圖形 52">
            <a:extLst>
              <a:ext uri="{FF2B5EF4-FFF2-40B4-BE49-F238E27FC236}">
                <a16:creationId xmlns:a16="http://schemas.microsoft.com/office/drawing/2014/main" id="{9EFE8DE5-25E8-4999-B8CF-1B88391C9D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81057" y="3150271"/>
            <a:ext cx="975600" cy="975600"/>
          </a:xfrm>
          <a:prstGeom prst="rect">
            <a:avLst/>
          </a:prstGeom>
        </p:spPr>
      </p:pic>
      <p:sp>
        <p:nvSpPr>
          <p:cNvPr id="42" name="Google Shape;2319;p37">
            <a:extLst>
              <a:ext uri="{FF2B5EF4-FFF2-40B4-BE49-F238E27FC236}">
                <a16:creationId xmlns:a16="http://schemas.microsoft.com/office/drawing/2014/main" id="{A241C1A6-D147-4C69-9789-444913C7AD23}"/>
              </a:ext>
            </a:extLst>
          </p:cNvPr>
          <p:cNvSpPr/>
          <p:nvPr/>
        </p:nvSpPr>
        <p:spPr>
          <a:xfrm>
            <a:off x="4546030" y="2270443"/>
            <a:ext cx="3091200" cy="9720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44" name="Google Shape;2320;p37">
            <a:extLst>
              <a:ext uri="{FF2B5EF4-FFF2-40B4-BE49-F238E27FC236}">
                <a16:creationId xmlns:a16="http://schemas.microsoft.com/office/drawing/2014/main" id="{C94BDF1A-1CF8-44CA-8577-505CB0A4EB41}"/>
              </a:ext>
            </a:extLst>
          </p:cNvPr>
          <p:cNvSpPr/>
          <p:nvPr/>
        </p:nvSpPr>
        <p:spPr>
          <a:xfrm>
            <a:off x="4546030" y="4660263"/>
            <a:ext cx="3091200" cy="972000"/>
          </a:xfrm>
          <a:prstGeom prst="roundRect">
            <a:avLst>
              <a:gd name="adj" fmla="val 16667"/>
            </a:avLst>
          </a:prstGeom>
          <a:noFill/>
          <a:ln w="9525" cap="flat" cmpd="sng">
            <a:solidFill>
              <a:schemeClr val="bg1">
                <a:lumMod val="50000"/>
              </a:schemeClr>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45" name="Google Shape;2321;p37">
            <a:extLst>
              <a:ext uri="{FF2B5EF4-FFF2-40B4-BE49-F238E27FC236}">
                <a16:creationId xmlns:a16="http://schemas.microsoft.com/office/drawing/2014/main" id="{6ADCD776-53D2-41A0-958E-B55C14B1D8FD}"/>
              </a:ext>
            </a:extLst>
          </p:cNvPr>
          <p:cNvSpPr/>
          <p:nvPr/>
        </p:nvSpPr>
        <p:spPr>
          <a:xfrm>
            <a:off x="4546030" y="3470086"/>
            <a:ext cx="3091200" cy="972000"/>
          </a:xfrm>
          <a:prstGeom prst="roundRect">
            <a:avLst>
              <a:gd name="adj" fmla="val 16667"/>
            </a:avLst>
          </a:prstGeom>
          <a:noFill/>
          <a:ln w="9525"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50" name="Google Shape;2336;p37">
            <a:extLst>
              <a:ext uri="{FF2B5EF4-FFF2-40B4-BE49-F238E27FC236}">
                <a16:creationId xmlns:a16="http://schemas.microsoft.com/office/drawing/2014/main" id="{B2AC56B6-AB12-4126-8672-D760FACB0C19}"/>
              </a:ext>
            </a:extLst>
          </p:cNvPr>
          <p:cNvSpPr txBox="1"/>
          <p:nvPr/>
        </p:nvSpPr>
        <p:spPr>
          <a:xfrm>
            <a:off x="4542608" y="3466203"/>
            <a:ext cx="3091200" cy="972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sz="1600"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2. </a:t>
            </a:r>
            <a:r>
              <a:rPr lang="zh-TW" altLang="en-US" sz="1600"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使</a:t>
            </a:r>
            <a:r>
              <a:rPr lang="en-US" altLang="zh-TW" sz="1600"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Docker</a:t>
            </a:r>
            <a:r>
              <a:rPr lang="zh-TW" altLang="en-US" sz="1600"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具備</a:t>
            </a:r>
            <a:r>
              <a:rPr lang="en-US" altLang="zh-TW" sz="1600"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HTTPS</a:t>
            </a:r>
          </a:p>
          <a:p>
            <a:pPr algn="ctr">
              <a:buClr>
                <a:schemeClr val="dk1"/>
              </a:buClr>
              <a:buSzPts val="1100"/>
            </a:pPr>
            <a:r>
              <a:rPr lang="zh-TW" altLang="en-US" sz="1600" dirty="0">
                <a:solidFill>
                  <a:srgbClr val="191919"/>
                </a:solidFill>
                <a:latin typeface="微軟正黑體" panose="020B0604030504040204" pitchFamily="34" charset="-120"/>
                <a:ea typeface="微軟正黑體" panose="020B0604030504040204" pitchFamily="34" charset="-120"/>
                <a:cs typeface="Montserrat Medium"/>
                <a:sym typeface="Montserrat Medium"/>
              </a:rPr>
              <a:t> </a:t>
            </a:r>
            <a:r>
              <a:rPr lang="en-US" altLang="zh-TW"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 </a:t>
            </a:r>
            <a:r>
              <a:rPr lang="zh-TW" altLang="en-US"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透過轉送需求進入容器</a:t>
            </a:r>
            <a:endParaRPr lang="en-US" altLang="zh-TW"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52" name="Google Shape;2337;p37">
            <a:extLst>
              <a:ext uri="{FF2B5EF4-FFF2-40B4-BE49-F238E27FC236}">
                <a16:creationId xmlns:a16="http://schemas.microsoft.com/office/drawing/2014/main" id="{BAB5EDFA-CA4D-4E84-9077-2DF3C5E8E10D}"/>
              </a:ext>
            </a:extLst>
          </p:cNvPr>
          <p:cNvSpPr txBox="1"/>
          <p:nvPr/>
        </p:nvSpPr>
        <p:spPr>
          <a:xfrm>
            <a:off x="4546030" y="2276126"/>
            <a:ext cx="3091200" cy="9720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dirty="0">
                <a:solidFill>
                  <a:schemeClr val="dk1"/>
                </a:solidFill>
                <a:latin typeface="微軟正黑體" panose="020B0604030504040204" pitchFamily="34" charset="-120"/>
                <a:ea typeface="微軟正黑體" panose="020B0604030504040204" pitchFamily="34" charset="-120"/>
                <a:cs typeface="Montserrat Medium"/>
                <a:sym typeface="Montserrat Medium"/>
              </a:rPr>
              <a:t>1.</a:t>
            </a:r>
            <a:r>
              <a:rPr lang="zh-TW" altLang="en-US" dirty="0">
                <a:solidFill>
                  <a:schemeClr val="dk1"/>
                </a:solidFill>
                <a:latin typeface="微軟正黑體" panose="020B0604030504040204" pitchFamily="34" charset="-120"/>
                <a:ea typeface="微軟正黑體" panose="020B0604030504040204" pitchFamily="34" charset="-120"/>
                <a:cs typeface="Montserrat Medium"/>
                <a:sym typeface="Montserrat Medium"/>
              </a:rPr>
              <a:t> 憑證不必包在容器中</a:t>
            </a:r>
            <a:endParaRPr lang="en-US" altLang="zh-TW"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a:p>
            <a:pPr algn="ctr">
              <a:buClr>
                <a:schemeClr val="dk1"/>
              </a:buClr>
              <a:buSzPts val="1100"/>
            </a:pPr>
            <a:r>
              <a:rPr lang="en-US" altLang="zh-TW"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 </a:t>
            </a:r>
            <a:r>
              <a:rPr lang="zh-TW" altLang="en-US"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憑證建立在</a:t>
            </a:r>
            <a:r>
              <a:rPr lang="en-US" altLang="zh-TW"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rPr>
              <a:t>Web server</a:t>
            </a:r>
            <a:endParaRPr sz="1400" dirty="0">
              <a:solidFill>
                <a:schemeClr val="dk1"/>
              </a:solidFill>
              <a:latin typeface="微軟正黑體" panose="020B0604030504040204" pitchFamily="34" charset="-120"/>
              <a:ea typeface="微軟正黑體" panose="020B0604030504040204" pitchFamily="34" charset="-120"/>
              <a:cs typeface="Montserrat Medium"/>
              <a:sym typeface="Montserrat Medium"/>
            </a:endParaRPr>
          </a:p>
        </p:txBody>
      </p:sp>
      <p:sp>
        <p:nvSpPr>
          <p:cNvPr id="56" name="文字方塊 55">
            <a:extLst>
              <a:ext uri="{FF2B5EF4-FFF2-40B4-BE49-F238E27FC236}">
                <a16:creationId xmlns:a16="http://schemas.microsoft.com/office/drawing/2014/main" id="{2E281AB0-D05F-48B6-994A-F23D79E50743}"/>
              </a:ext>
            </a:extLst>
          </p:cNvPr>
          <p:cNvSpPr txBox="1"/>
          <p:nvPr/>
        </p:nvSpPr>
        <p:spPr>
          <a:xfrm>
            <a:off x="4614306" y="1525475"/>
            <a:ext cx="2954655" cy="461665"/>
          </a:xfrm>
          <a:prstGeom prst="rect">
            <a:avLst/>
          </a:prstGeom>
          <a:noFill/>
        </p:spPr>
        <p:txBody>
          <a:bodyPr wrap="none" rtlCol="0">
            <a:spAutoFit/>
          </a:bodyPr>
          <a:lstStyle/>
          <a:p>
            <a:pPr algn="ctr"/>
            <a:r>
              <a:rPr lang="zh-TW" altLang="en-US" sz="2400" dirty="0">
                <a:latin typeface="微軟正黑體" panose="020B0604030504040204" pitchFamily="34" charset="-120"/>
                <a:ea typeface="微軟正黑體" panose="020B0604030504040204" pitchFamily="34" charset="-120"/>
              </a:rPr>
              <a:t>使用反向代理的優點</a:t>
            </a:r>
          </a:p>
        </p:txBody>
      </p:sp>
    </p:spTree>
    <p:extLst>
      <p:ext uri="{BB962C8B-B14F-4D97-AF65-F5344CB8AC3E}">
        <p14:creationId xmlns:p14="http://schemas.microsoft.com/office/powerpoint/2010/main" val="68216990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1E1BE739-D888-4754-8F0E-6AB2BB084B7B}"/>
              </a:ext>
            </a:extLst>
          </p:cNvPr>
          <p:cNvSpPr/>
          <p:nvPr/>
        </p:nvSpPr>
        <p:spPr>
          <a:xfrm>
            <a:off x="0" y="0"/>
            <a:ext cx="12192000" cy="6858000"/>
          </a:xfrm>
          <a:prstGeom prst="rect">
            <a:avLst/>
          </a:prstGeom>
          <a:solidFill>
            <a:srgbClr val="B6AF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12</a:t>
            </a:fld>
            <a:endParaRPr lang="en-US" dirty="0"/>
          </a:p>
        </p:txBody>
      </p:sp>
      <p:sp>
        <p:nvSpPr>
          <p:cNvPr id="17" name="Oval 16">
            <a:extLst>
              <a:ext uri="{FF2B5EF4-FFF2-40B4-BE49-F238E27FC236}">
                <a16:creationId xmlns:a16="http://schemas.microsoft.com/office/drawing/2014/main" id="{5A1A481B-CE42-4717-8548-B752C57D5720}"/>
              </a:ext>
            </a:extLst>
          </p:cNvPr>
          <p:cNvSpPr/>
          <p:nvPr/>
        </p:nvSpPr>
        <p:spPr>
          <a:xfrm>
            <a:off x="1236133" y="3374818"/>
            <a:ext cx="2489200" cy="248920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1739584-F126-46E5-B03A-77F1F1754AF3}"/>
              </a:ext>
            </a:extLst>
          </p:cNvPr>
          <p:cNvSpPr/>
          <p:nvPr/>
        </p:nvSpPr>
        <p:spPr>
          <a:xfrm>
            <a:off x="1578007" y="3230032"/>
            <a:ext cx="2489200" cy="2489200"/>
          </a:xfrm>
          <a:prstGeom prst="ellipse">
            <a:avLst/>
          </a:prstGeom>
          <a:solidFill>
            <a:srgbClr val="B9AF9D">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56F1420-3585-43A1-9B3F-475BF0E2498D}"/>
              </a:ext>
            </a:extLst>
          </p:cNvPr>
          <p:cNvSpPr/>
          <p:nvPr/>
        </p:nvSpPr>
        <p:spPr>
          <a:xfrm>
            <a:off x="1236133" y="1504950"/>
            <a:ext cx="2489200" cy="2489200"/>
          </a:xfrm>
          <a:prstGeom prst="ellipse">
            <a:avLst/>
          </a:prstGeom>
          <a:solidFill>
            <a:srgbClr val="92929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0D5475C-ED4E-43D1-939D-AD4D971A1725}"/>
              </a:ext>
            </a:extLst>
          </p:cNvPr>
          <p:cNvSpPr/>
          <p:nvPr/>
        </p:nvSpPr>
        <p:spPr>
          <a:xfrm>
            <a:off x="2429207" y="2259578"/>
            <a:ext cx="2489200" cy="2489200"/>
          </a:xfrm>
          <a:prstGeom prst="ellipse">
            <a:avLst/>
          </a:prstGeom>
          <a:solidFill>
            <a:srgbClr val="D8CFB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8A86E4F-C248-4407-ACC2-D7629B6E6345}"/>
              </a:ext>
            </a:extLst>
          </p:cNvPr>
          <p:cNvSpPr/>
          <p:nvPr/>
        </p:nvSpPr>
        <p:spPr>
          <a:xfrm>
            <a:off x="3280406" y="3273501"/>
            <a:ext cx="2489200" cy="2489200"/>
          </a:xfrm>
          <a:prstGeom prst="ellipse">
            <a:avLst/>
          </a:prstGeom>
          <a:solidFill>
            <a:srgbClr val="B9AF9D">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B869AE7-C2C3-4F36-A449-324A496B53D1}"/>
              </a:ext>
            </a:extLst>
          </p:cNvPr>
          <p:cNvSpPr txBox="1"/>
          <p:nvPr/>
        </p:nvSpPr>
        <p:spPr>
          <a:xfrm>
            <a:off x="5711576" y="3230032"/>
            <a:ext cx="5334000" cy="630942"/>
          </a:xfrm>
          <a:prstGeom prst="rect">
            <a:avLst/>
          </a:prstGeom>
          <a:noFill/>
        </p:spPr>
        <p:txBody>
          <a:bodyPr wrap="square" rtlCol="0">
            <a:spAutoFit/>
          </a:bodyPr>
          <a:lstStyle/>
          <a:p>
            <a:pPr algn="ctr"/>
            <a:r>
              <a:rPr lang="zh-TW" altLang="en-US" sz="3500" b="1" dirty="0">
                <a:solidFill>
                  <a:schemeClr val="bg1"/>
                </a:solidFill>
                <a:latin typeface="Montserrat ExtraBold" panose="00000900000000000000" pitchFamily="50" charset="0"/>
              </a:rPr>
              <a:t>既有系統服務探討</a:t>
            </a:r>
          </a:p>
        </p:txBody>
      </p:sp>
      <p:pic>
        <p:nvPicPr>
          <p:cNvPr id="3" name="圖形 2">
            <a:extLst>
              <a:ext uri="{FF2B5EF4-FFF2-40B4-BE49-F238E27FC236}">
                <a16:creationId xmlns:a16="http://schemas.microsoft.com/office/drawing/2014/main" id="{9AC3A319-7885-4B7F-8B6E-43E8201027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63771" y="2847374"/>
            <a:ext cx="1445310" cy="1445310"/>
          </a:xfrm>
          <a:prstGeom prst="rect">
            <a:avLst/>
          </a:prstGeom>
        </p:spPr>
      </p:pic>
    </p:spTree>
    <p:extLst>
      <p:ext uri="{BB962C8B-B14F-4D97-AF65-F5344CB8AC3E}">
        <p14:creationId xmlns:p14="http://schemas.microsoft.com/office/powerpoint/2010/main" val="361860068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7" name="TextBox 34">
            <a:extLst>
              <a:ext uri="{FF2B5EF4-FFF2-40B4-BE49-F238E27FC236}">
                <a16:creationId xmlns:a16="http://schemas.microsoft.com/office/drawing/2014/main" id="{E3708A85-15F6-4289-B31A-6518E02636A8}"/>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透過</a:t>
            </a:r>
            <a:r>
              <a:rPr lang="en-US" altLang="zh-TW" sz="3500" b="1" dirty="0">
                <a:solidFill>
                  <a:schemeClr val="tx1">
                    <a:lumMod val="75000"/>
                    <a:lumOff val="25000"/>
                  </a:schemeClr>
                </a:solidFill>
                <a:latin typeface="Montserrat Light" panose="00000400000000000000" pitchFamily="50" charset="0"/>
              </a:rPr>
              <a:t>HTTPS</a:t>
            </a:r>
            <a:r>
              <a:rPr lang="zh-TW" altLang="en-US" sz="3500" b="1" dirty="0">
                <a:solidFill>
                  <a:schemeClr val="tx1">
                    <a:lumMod val="75000"/>
                    <a:lumOff val="25000"/>
                  </a:schemeClr>
                </a:solidFill>
                <a:latin typeface="Montserrat Light" panose="00000400000000000000" pitchFamily="50" charset="0"/>
              </a:rPr>
              <a:t>連進</a:t>
            </a:r>
            <a:r>
              <a:rPr lang="en-US" altLang="zh-TW" sz="3500" b="1" dirty="0">
                <a:solidFill>
                  <a:schemeClr val="tx1">
                    <a:lumMod val="75000"/>
                    <a:lumOff val="25000"/>
                  </a:schemeClr>
                </a:solidFill>
                <a:latin typeface="Montserrat Light" panose="00000400000000000000" pitchFamily="50" charset="0"/>
              </a:rPr>
              <a:t>AP server (</a:t>
            </a:r>
            <a:r>
              <a:rPr lang="zh-TW" altLang="en-US" sz="3500" b="1" dirty="0">
                <a:solidFill>
                  <a:schemeClr val="tx1">
                    <a:lumMod val="75000"/>
                    <a:lumOff val="25000"/>
                  </a:schemeClr>
                </a:solidFill>
                <a:latin typeface="Montserrat Light" panose="00000400000000000000" pitchFamily="50" charset="0"/>
              </a:rPr>
              <a:t>沒有</a:t>
            </a:r>
            <a:r>
              <a:rPr lang="en-US" altLang="zh-TW" sz="3500" b="1" dirty="0">
                <a:solidFill>
                  <a:schemeClr val="tx1">
                    <a:lumMod val="75000"/>
                    <a:lumOff val="25000"/>
                  </a:schemeClr>
                </a:solidFill>
                <a:latin typeface="Montserrat Light" panose="00000400000000000000" pitchFamily="50" charset="0"/>
              </a:rPr>
              <a:t>Docker)</a:t>
            </a:r>
            <a:endParaRPr lang="zh-TW" altLang="en-US" sz="3500" b="1" dirty="0">
              <a:solidFill>
                <a:schemeClr val="tx1">
                  <a:lumMod val="75000"/>
                  <a:lumOff val="25000"/>
                </a:schemeClr>
              </a:solidFill>
              <a:latin typeface="Montserrat Light" panose="00000400000000000000" pitchFamily="50" charset="0"/>
            </a:endParaRPr>
          </a:p>
        </p:txBody>
      </p:sp>
      <p:sp>
        <p:nvSpPr>
          <p:cNvPr id="4" name="Slide Number Placeholder 129">
            <a:extLst>
              <a:ext uri="{FF2B5EF4-FFF2-40B4-BE49-F238E27FC236}">
                <a16:creationId xmlns:a16="http://schemas.microsoft.com/office/drawing/2014/main" id="{C02C2059-F049-4F3F-9A96-1E2C5B9DCE5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13</a:t>
            </a:fld>
            <a:endParaRPr lang="en-US" dirty="0"/>
          </a:p>
        </p:txBody>
      </p:sp>
      <p:sp>
        <p:nvSpPr>
          <p:cNvPr id="9" name="文字方塊 8">
            <a:extLst>
              <a:ext uri="{FF2B5EF4-FFF2-40B4-BE49-F238E27FC236}">
                <a16:creationId xmlns:a16="http://schemas.microsoft.com/office/drawing/2014/main" id="{07F6289A-929F-4935-925A-5A144A2C42DE}"/>
              </a:ext>
            </a:extLst>
          </p:cNvPr>
          <p:cNvSpPr txBox="1"/>
          <p:nvPr/>
        </p:nvSpPr>
        <p:spPr>
          <a:xfrm>
            <a:off x="1704975" y="5091712"/>
            <a:ext cx="2980881" cy="1686487"/>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TW" altLang="en-US" sz="2400" dirty="0">
                <a:solidFill>
                  <a:srgbClr val="C00000"/>
                </a:solidFill>
                <a:latin typeface="微軟正黑體" panose="020B0604030504040204" pitchFamily="34" charset="-120"/>
                <a:ea typeface="微軟正黑體" panose="020B0604030504040204" pitchFamily="34" charset="-120"/>
              </a:rPr>
              <a:t>一般伺服器架構</a:t>
            </a:r>
            <a:endParaRPr lang="en-US" altLang="zh-TW" sz="2400" dirty="0">
              <a:solidFill>
                <a:srgbClr val="C00000"/>
              </a:solidFill>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en-US" altLang="zh-TW" sz="2400" dirty="0">
                <a:solidFill>
                  <a:srgbClr val="C00000"/>
                </a:solidFill>
                <a:latin typeface="微軟正黑體" panose="020B0604030504040204" pitchFamily="34" charset="-120"/>
                <a:ea typeface="微軟正黑體" panose="020B0604030504040204" pitchFamily="34" charset="-120"/>
              </a:rPr>
              <a:t>.NET</a:t>
            </a:r>
            <a:r>
              <a:rPr lang="zh-TW" altLang="en-US" sz="2400" dirty="0">
                <a:solidFill>
                  <a:srgbClr val="C00000"/>
                </a:solidFill>
                <a:latin typeface="微軟正黑體" panose="020B0604030504040204" pitchFamily="34" charset="-120"/>
                <a:ea typeface="微軟正黑體" panose="020B0604030504040204" pitchFamily="34" charset="-120"/>
              </a:rPr>
              <a:t>須設定服務檔</a:t>
            </a:r>
            <a:endParaRPr lang="en-US" altLang="zh-TW" sz="2400" dirty="0">
              <a:solidFill>
                <a:srgbClr val="C00000"/>
              </a:solidFill>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zh-TW" altLang="en-US" sz="2400" dirty="0">
                <a:solidFill>
                  <a:srgbClr val="C00000"/>
                </a:solidFill>
                <a:latin typeface="微軟正黑體" panose="020B0604030504040204" pitchFamily="34" charset="-120"/>
                <a:ea typeface="微軟正黑體" panose="020B0604030504040204" pitchFamily="34" charset="-120"/>
              </a:rPr>
              <a:t>環境需手動建置</a:t>
            </a:r>
          </a:p>
        </p:txBody>
      </p:sp>
      <p:sp>
        <p:nvSpPr>
          <p:cNvPr id="10" name="矩形 9">
            <a:extLst>
              <a:ext uri="{FF2B5EF4-FFF2-40B4-BE49-F238E27FC236}">
                <a16:creationId xmlns:a16="http://schemas.microsoft.com/office/drawing/2014/main" id="{07B29C82-EA03-499D-802C-1A7510296934}"/>
              </a:ext>
            </a:extLst>
          </p:cNvPr>
          <p:cNvSpPr/>
          <p:nvPr/>
        </p:nvSpPr>
        <p:spPr>
          <a:xfrm>
            <a:off x="9513225" y="6287576"/>
            <a:ext cx="360000" cy="360000"/>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BBEC098F-9D5B-40B0-90E7-1F332ACFD90D}"/>
              </a:ext>
            </a:extLst>
          </p:cNvPr>
          <p:cNvSpPr txBox="1"/>
          <p:nvPr/>
        </p:nvSpPr>
        <p:spPr>
          <a:xfrm>
            <a:off x="9873225" y="6287576"/>
            <a:ext cx="1897635"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Web Server</a:t>
            </a:r>
            <a:endParaRPr lang="zh-TW" altLang="en-US" dirty="0">
              <a:latin typeface="微軟正黑體" panose="020B0604030504040204" pitchFamily="34" charset="-120"/>
              <a:ea typeface="微軟正黑體" panose="020B0604030504040204" pitchFamily="34" charset="-120"/>
            </a:endParaRPr>
          </a:p>
        </p:txBody>
      </p:sp>
      <p:sp>
        <p:nvSpPr>
          <p:cNvPr id="14" name="矩形 13">
            <a:extLst>
              <a:ext uri="{FF2B5EF4-FFF2-40B4-BE49-F238E27FC236}">
                <a16:creationId xmlns:a16="http://schemas.microsoft.com/office/drawing/2014/main" id="{8E44C2C9-CD25-4482-B830-8981436FF431}"/>
              </a:ext>
            </a:extLst>
          </p:cNvPr>
          <p:cNvSpPr/>
          <p:nvPr/>
        </p:nvSpPr>
        <p:spPr>
          <a:xfrm>
            <a:off x="9513225" y="5831202"/>
            <a:ext cx="360000" cy="360000"/>
          </a:xfrm>
          <a:prstGeom prst="rect">
            <a:avLst/>
          </a:prstGeom>
          <a:solidFill>
            <a:srgbClr val="FFE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DA2435E0-34FC-40E2-B0D9-7889B5352ECD}"/>
              </a:ext>
            </a:extLst>
          </p:cNvPr>
          <p:cNvSpPr txBox="1"/>
          <p:nvPr/>
        </p:nvSpPr>
        <p:spPr>
          <a:xfrm>
            <a:off x="9873225" y="5831202"/>
            <a:ext cx="1755609"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AP Server</a:t>
            </a:r>
            <a:endParaRPr lang="zh-TW" altLang="en-US" dirty="0">
              <a:latin typeface="微軟正黑體" panose="020B0604030504040204" pitchFamily="34" charset="-120"/>
              <a:ea typeface="微軟正黑體" panose="020B0604030504040204" pitchFamily="34" charset="-120"/>
            </a:endParaRPr>
          </a:p>
        </p:txBody>
      </p:sp>
      <p:pic>
        <p:nvPicPr>
          <p:cNvPr id="12" name="Picture 2">
            <a:extLst>
              <a:ext uri="{FF2B5EF4-FFF2-40B4-BE49-F238E27FC236}">
                <a16:creationId xmlns:a16="http://schemas.microsoft.com/office/drawing/2014/main" id="{3135F270-C685-4F56-BAC8-D5867AA6C3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184" y="1650559"/>
            <a:ext cx="9793845" cy="32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298530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7" name="TextBox 34">
            <a:extLst>
              <a:ext uri="{FF2B5EF4-FFF2-40B4-BE49-F238E27FC236}">
                <a16:creationId xmlns:a16="http://schemas.microsoft.com/office/drawing/2014/main" id="{E3708A85-15F6-4289-B31A-6518E02636A8}"/>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透過</a:t>
            </a:r>
            <a:r>
              <a:rPr lang="en-US" altLang="zh-TW" sz="3500" b="1" dirty="0">
                <a:solidFill>
                  <a:schemeClr val="tx1">
                    <a:lumMod val="75000"/>
                    <a:lumOff val="25000"/>
                  </a:schemeClr>
                </a:solidFill>
                <a:latin typeface="Montserrat Light" panose="00000400000000000000" pitchFamily="50" charset="0"/>
              </a:rPr>
              <a:t>HTTPS</a:t>
            </a:r>
            <a:r>
              <a:rPr lang="zh-TW" altLang="en-US" sz="3500" b="1" dirty="0">
                <a:solidFill>
                  <a:schemeClr val="tx1">
                    <a:lumMod val="75000"/>
                    <a:lumOff val="25000"/>
                  </a:schemeClr>
                </a:solidFill>
                <a:latin typeface="Montserrat Light" panose="00000400000000000000" pitchFamily="50" charset="0"/>
              </a:rPr>
              <a:t>連進</a:t>
            </a:r>
            <a:r>
              <a:rPr lang="en-US" altLang="zh-TW" sz="3500" b="1" dirty="0">
                <a:solidFill>
                  <a:schemeClr val="tx1">
                    <a:lumMod val="75000"/>
                    <a:lumOff val="25000"/>
                  </a:schemeClr>
                </a:solidFill>
                <a:latin typeface="Montserrat Light" panose="00000400000000000000" pitchFamily="50" charset="0"/>
              </a:rPr>
              <a:t>AP server(</a:t>
            </a:r>
            <a:r>
              <a:rPr lang="zh-TW" altLang="en-US" sz="3500" b="1" dirty="0">
                <a:solidFill>
                  <a:schemeClr val="tx1">
                    <a:lumMod val="75000"/>
                    <a:lumOff val="25000"/>
                  </a:schemeClr>
                </a:solidFill>
                <a:latin typeface="Montserrat Light" panose="00000400000000000000" pitchFamily="50" charset="0"/>
              </a:rPr>
              <a:t>包進</a:t>
            </a:r>
            <a:r>
              <a:rPr lang="en-US" altLang="zh-TW" sz="3500" b="1" dirty="0">
                <a:solidFill>
                  <a:schemeClr val="tx1">
                    <a:lumMod val="75000"/>
                    <a:lumOff val="25000"/>
                  </a:schemeClr>
                </a:solidFill>
                <a:latin typeface="Montserrat Light" panose="00000400000000000000" pitchFamily="50" charset="0"/>
              </a:rPr>
              <a:t>Docker)</a:t>
            </a:r>
            <a:endParaRPr lang="zh-TW" altLang="en-US" sz="3500" b="1" dirty="0">
              <a:solidFill>
                <a:schemeClr val="tx1">
                  <a:lumMod val="75000"/>
                  <a:lumOff val="25000"/>
                </a:schemeClr>
              </a:solidFill>
              <a:latin typeface="Montserrat Light" panose="00000400000000000000" pitchFamily="50" charset="0"/>
            </a:endParaRPr>
          </a:p>
        </p:txBody>
      </p:sp>
      <p:sp>
        <p:nvSpPr>
          <p:cNvPr id="4" name="Slide Number Placeholder 129">
            <a:extLst>
              <a:ext uri="{FF2B5EF4-FFF2-40B4-BE49-F238E27FC236}">
                <a16:creationId xmlns:a16="http://schemas.microsoft.com/office/drawing/2014/main" id="{C02C2059-F049-4F3F-9A96-1E2C5B9DCE5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14</a:t>
            </a:fld>
            <a:endParaRPr lang="en-US" dirty="0"/>
          </a:p>
        </p:txBody>
      </p:sp>
      <p:sp>
        <p:nvSpPr>
          <p:cNvPr id="11" name="文字方塊 10">
            <a:extLst>
              <a:ext uri="{FF2B5EF4-FFF2-40B4-BE49-F238E27FC236}">
                <a16:creationId xmlns:a16="http://schemas.microsoft.com/office/drawing/2014/main" id="{74DC768F-CB59-4BF1-B6B9-A651827045F8}"/>
              </a:ext>
            </a:extLst>
          </p:cNvPr>
          <p:cNvSpPr txBox="1"/>
          <p:nvPr/>
        </p:nvSpPr>
        <p:spPr>
          <a:xfrm>
            <a:off x="1704975" y="5044087"/>
            <a:ext cx="3243196" cy="1132490"/>
          </a:xfrm>
          <a:prstGeom prst="rect">
            <a:avLst/>
          </a:prstGeom>
          <a:noFill/>
        </p:spPr>
        <p:txBody>
          <a:bodyPr wrap="none" rtlCol="0">
            <a:spAutoFit/>
          </a:bodyPr>
          <a:lstStyle/>
          <a:p>
            <a:pPr marL="285750" indent="-285750">
              <a:lnSpc>
                <a:spcPct val="150000"/>
              </a:lnSpc>
              <a:buFont typeface="Arial" panose="020B0604020202020204" pitchFamily="34" charset="0"/>
              <a:buChar char="•"/>
            </a:pPr>
            <a:endParaRPr lang="en-US" altLang="zh-TW" sz="2400" dirty="0">
              <a:solidFill>
                <a:srgbClr val="C00000"/>
              </a:solidFill>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zh-TW" altLang="en-US" sz="2400" dirty="0">
                <a:solidFill>
                  <a:srgbClr val="C00000"/>
                </a:solidFill>
                <a:latin typeface="微軟正黑體" panose="020B0604030504040204" pitchFamily="34" charset="-120"/>
                <a:ea typeface="微軟正黑體" panose="020B0604030504040204" pitchFamily="34" charset="-120"/>
              </a:rPr>
              <a:t>憑證會被包進容器內</a:t>
            </a:r>
            <a:endParaRPr lang="en-US" altLang="zh-TW" sz="2400" dirty="0">
              <a:solidFill>
                <a:srgbClr val="C00000"/>
              </a:solidFill>
              <a:latin typeface="微軟正黑體" panose="020B0604030504040204" pitchFamily="34" charset="-120"/>
              <a:ea typeface="微軟正黑體" panose="020B0604030504040204" pitchFamily="34" charset="-120"/>
            </a:endParaRPr>
          </a:p>
        </p:txBody>
      </p:sp>
      <p:sp>
        <p:nvSpPr>
          <p:cNvPr id="14" name="矩形 13">
            <a:extLst>
              <a:ext uri="{FF2B5EF4-FFF2-40B4-BE49-F238E27FC236}">
                <a16:creationId xmlns:a16="http://schemas.microsoft.com/office/drawing/2014/main" id="{8A5975E9-CE52-465E-9503-0C080CA00C72}"/>
              </a:ext>
            </a:extLst>
          </p:cNvPr>
          <p:cNvSpPr/>
          <p:nvPr/>
        </p:nvSpPr>
        <p:spPr>
          <a:xfrm>
            <a:off x="9513225" y="5807245"/>
            <a:ext cx="360000" cy="360000"/>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396DB3B9-E695-4C5E-BACF-ED6A79633E39}"/>
              </a:ext>
            </a:extLst>
          </p:cNvPr>
          <p:cNvSpPr txBox="1"/>
          <p:nvPr/>
        </p:nvSpPr>
        <p:spPr>
          <a:xfrm>
            <a:off x="9873225" y="5807245"/>
            <a:ext cx="1897635"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Web Server</a:t>
            </a:r>
            <a:endParaRPr lang="zh-TW" altLang="en-US" dirty="0">
              <a:latin typeface="微軟正黑體" panose="020B0604030504040204" pitchFamily="34" charset="-120"/>
              <a:ea typeface="微軟正黑體" panose="020B0604030504040204" pitchFamily="34" charset="-120"/>
            </a:endParaRPr>
          </a:p>
        </p:txBody>
      </p:sp>
      <p:sp>
        <p:nvSpPr>
          <p:cNvPr id="16" name="Google Shape;2319;p37">
            <a:extLst>
              <a:ext uri="{FF2B5EF4-FFF2-40B4-BE49-F238E27FC236}">
                <a16:creationId xmlns:a16="http://schemas.microsoft.com/office/drawing/2014/main" id="{28FE43BA-D9AE-47A7-96D8-008F6B55A604}"/>
              </a:ext>
            </a:extLst>
          </p:cNvPr>
          <p:cNvSpPr/>
          <p:nvPr/>
        </p:nvSpPr>
        <p:spPr>
          <a:xfrm>
            <a:off x="9513225" y="6263619"/>
            <a:ext cx="360000" cy="3600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17" name="文字方塊 16">
            <a:extLst>
              <a:ext uri="{FF2B5EF4-FFF2-40B4-BE49-F238E27FC236}">
                <a16:creationId xmlns:a16="http://schemas.microsoft.com/office/drawing/2014/main" id="{E72050AF-1A54-4D3D-B3CC-796655CE136B}"/>
              </a:ext>
            </a:extLst>
          </p:cNvPr>
          <p:cNvSpPr txBox="1"/>
          <p:nvPr/>
        </p:nvSpPr>
        <p:spPr>
          <a:xfrm>
            <a:off x="9873225" y="6263619"/>
            <a:ext cx="2031325"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包進容器內的流程</a:t>
            </a:r>
          </a:p>
        </p:txBody>
      </p:sp>
      <p:sp>
        <p:nvSpPr>
          <p:cNvPr id="18" name="矩形 17">
            <a:extLst>
              <a:ext uri="{FF2B5EF4-FFF2-40B4-BE49-F238E27FC236}">
                <a16:creationId xmlns:a16="http://schemas.microsoft.com/office/drawing/2014/main" id="{B85FEAF7-52FA-4D34-BDD8-7DE2B6BC40D6}"/>
              </a:ext>
            </a:extLst>
          </p:cNvPr>
          <p:cNvSpPr/>
          <p:nvPr/>
        </p:nvSpPr>
        <p:spPr>
          <a:xfrm>
            <a:off x="9513225" y="5350871"/>
            <a:ext cx="360000" cy="360000"/>
          </a:xfrm>
          <a:prstGeom prst="rect">
            <a:avLst/>
          </a:prstGeom>
          <a:solidFill>
            <a:srgbClr val="FFE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F9195423-6C3F-46B8-B003-FE234EEEA890}"/>
              </a:ext>
            </a:extLst>
          </p:cNvPr>
          <p:cNvSpPr txBox="1"/>
          <p:nvPr/>
        </p:nvSpPr>
        <p:spPr>
          <a:xfrm>
            <a:off x="9873225" y="5350871"/>
            <a:ext cx="1755609"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AP Server</a:t>
            </a:r>
            <a:endParaRPr lang="zh-TW" altLang="en-US" dirty="0">
              <a:latin typeface="微軟正黑體" panose="020B0604030504040204" pitchFamily="34" charset="-120"/>
              <a:ea typeface="微軟正黑體" panose="020B0604030504040204" pitchFamily="34" charset="-120"/>
            </a:endParaRPr>
          </a:p>
        </p:txBody>
      </p:sp>
      <p:pic>
        <p:nvPicPr>
          <p:cNvPr id="20" name="Picture 2">
            <a:extLst>
              <a:ext uri="{FF2B5EF4-FFF2-40B4-BE49-F238E27FC236}">
                <a16:creationId xmlns:a16="http://schemas.microsoft.com/office/drawing/2014/main" id="{9836CD9D-F6C0-47D2-88E8-6AC2A8817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184" y="1650559"/>
            <a:ext cx="9793845" cy="3240000"/>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2319;p37">
            <a:extLst>
              <a:ext uri="{FF2B5EF4-FFF2-40B4-BE49-F238E27FC236}">
                <a16:creationId xmlns:a16="http://schemas.microsoft.com/office/drawing/2014/main" id="{AEB2B9AA-D9ED-4028-8EE5-A87DF13DC9B5}"/>
              </a:ext>
            </a:extLst>
          </p:cNvPr>
          <p:cNvSpPr/>
          <p:nvPr/>
        </p:nvSpPr>
        <p:spPr>
          <a:xfrm>
            <a:off x="3469821" y="1469573"/>
            <a:ext cx="7470322" cy="3737868"/>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23248675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1E1BE739-D888-4754-8F0E-6AB2BB084B7B}"/>
              </a:ext>
            </a:extLst>
          </p:cNvPr>
          <p:cNvSpPr/>
          <p:nvPr/>
        </p:nvSpPr>
        <p:spPr>
          <a:xfrm>
            <a:off x="-9503" y="0"/>
            <a:ext cx="12192000" cy="6858000"/>
          </a:xfrm>
          <a:prstGeom prst="rect">
            <a:avLst/>
          </a:prstGeom>
          <a:solidFill>
            <a:srgbClr val="B6AF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15</a:t>
            </a:fld>
            <a:endParaRPr lang="en-US" dirty="0"/>
          </a:p>
        </p:txBody>
      </p:sp>
      <p:sp>
        <p:nvSpPr>
          <p:cNvPr id="17" name="Oval 16">
            <a:extLst>
              <a:ext uri="{FF2B5EF4-FFF2-40B4-BE49-F238E27FC236}">
                <a16:creationId xmlns:a16="http://schemas.microsoft.com/office/drawing/2014/main" id="{5A1A481B-CE42-4717-8548-B752C57D5720}"/>
              </a:ext>
            </a:extLst>
          </p:cNvPr>
          <p:cNvSpPr/>
          <p:nvPr/>
        </p:nvSpPr>
        <p:spPr>
          <a:xfrm>
            <a:off x="1236133" y="3374818"/>
            <a:ext cx="2489200" cy="248920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1739584-F126-46E5-B03A-77F1F1754AF3}"/>
              </a:ext>
            </a:extLst>
          </p:cNvPr>
          <p:cNvSpPr/>
          <p:nvPr/>
        </p:nvSpPr>
        <p:spPr>
          <a:xfrm>
            <a:off x="1578007" y="3230032"/>
            <a:ext cx="2489200" cy="2489200"/>
          </a:xfrm>
          <a:prstGeom prst="ellipse">
            <a:avLst/>
          </a:prstGeom>
          <a:solidFill>
            <a:srgbClr val="B9AF9D">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56F1420-3585-43A1-9B3F-475BF0E2498D}"/>
              </a:ext>
            </a:extLst>
          </p:cNvPr>
          <p:cNvSpPr/>
          <p:nvPr/>
        </p:nvSpPr>
        <p:spPr>
          <a:xfrm>
            <a:off x="1236133" y="1504950"/>
            <a:ext cx="2489200" cy="2489200"/>
          </a:xfrm>
          <a:prstGeom prst="ellipse">
            <a:avLst/>
          </a:prstGeom>
          <a:solidFill>
            <a:srgbClr val="92929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0D5475C-ED4E-43D1-939D-AD4D971A1725}"/>
              </a:ext>
            </a:extLst>
          </p:cNvPr>
          <p:cNvSpPr/>
          <p:nvPr/>
        </p:nvSpPr>
        <p:spPr>
          <a:xfrm>
            <a:off x="2429207" y="2259578"/>
            <a:ext cx="2489200" cy="2489200"/>
          </a:xfrm>
          <a:prstGeom prst="ellipse">
            <a:avLst/>
          </a:prstGeom>
          <a:solidFill>
            <a:srgbClr val="D8CFB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8A86E4F-C248-4407-ACC2-D7629B6E6345}"/>
              </a:ext>
            </a:extLst>
          </p:cNvPr>
          <p:cNvSpPr/>
          <p:nvPr/>
        </p:nvSpPr>
        <p:spPr>
          <a:xfrm>
            <a:off x="3280406" y="3273501"/>
            <a:ext cx="2489200" cy="2489200"/>
          </a:xfrm>
          <a:prstGeom prst="ellipse">
            <a:avLst/>
          </a:prstGeom>
          <a:solidFill>
            <a:srgbClr val="B9AF9D">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圖形 2">
            <a:extLst>
              <a:ext uri="{FF2B5EF4-FFF2-40B4-BE49-F238E27FC236}">
                <a16:creationId xmlns:a16="http://schemas.microsoft.com/office/drawing/2014/main" id="{A0A161BE-3652-4CE1-985A-C58191248E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05333" y="2784178"/>
            <a:ext cx="1440000" cy="1440000"/>
          </a:xfrm>
          <a:prstGeom prst="rect">
            <a:avLst/>
          </a:prstGeom>
        </p:spPr>
      </p:pic>
      <p:sp>
        <p:nvSpPr>
          <p:cNvPr id="13" name="TextBox 14">
            <a:extLst>
              <a:ext uri="{FF2B5EF4-FFF2-40B4-BE49-F238E27FC236}">
                <a16:creationId xmlns:a16="http://schemas.microsoft.com/office/drawing/2014/main" id="{94E7431E-D6F4-462C-9534-CBFE233BA1FB}"/>
              </a:ext>
            </a:extLst>
          </p:cNvPr>
          <p:cNvSpPr txBox="1"/>
          <p:nvPr/>
        </p:nvSpPr>
        <p:spPr>
          <a:xfrm>
            <a:off x="5296532" y="3230032"/>
            <a:ext cx="6151756" cy="630942"/>
          </a:xfrm>
          <a:prstGeom prst="rect">
            <a:avLst/>
          </a:prstGeom>
          <a:noFill/>
        </p:spPr>
        <p:txBody>
          <a:bodyPr wrap="square" rtlCol="0">
            <a:spAutoFit/>
          </a:bodyPr>
          <a:lstStyle/>
          <a:p>
            <a:pPr algn="ctr"/>
            <a:r>
              <a:rPr lang="zh-TW" altLang="en-US" sz="3500" b="1" dirty="0">
                <a:solidFill>
                  <a:schemeClr val="bg1"/>
                </a:solidFill>
                <a:latin typeface="Montserrat ExtraBold" panose="00000900000000000000" pitchFamily="50" charset="0"/>
              </a:rPr>
              <a:t>專題方法與系統開發相關技術</a:t>
            </a:r>
          </a:p>
        </p:txBody>
      </p:sp>
    </p:spTree>
    <p:extLst>
      <p:ext uri="{BB962C8B-B14F-4D97-AF65-F5344CB8AC3E}">
        <p14:creationId xmlns:p14="http://schemas.microsoft.com/office/powerpoint/2010/main" val="102579406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7" name="TextBox 34">
            <a:extLst>
              <a:ext uri="{FF2B5EF4-FFF2-40B4-BE49-F238E27FC236}">
                <a16:creationId xmlns:a16="http://schemas.microsoft.com/office/drawing/2014/main" id="{E3708A85-15F6-4289-B31A-6518E02636A8}"/>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系統開發相關技術 </a:t>
            </a:r>
            <a:r>
              <a:rPr lang="en-US" altLang="zh-TW" sz="3500" b="1" dirty="0">
                <a:solidFill>
                  <a:schemeClr val="tx1">
                    <a:lumMod val="75000"/>
                    <a:lumOff val="25000"/>
                  </a:schemeClr>
                </a:solidFill>
                <a:latin typeface="Montserrat Light" panose="00000400000000000000" pitchFamily="50" charset="0"/>
              </a:rPr>
              <a:t>– Web Server</a:t>
            </a:r>
            <a:endParaRPr lang="zh-TW" altLang="en-US" sz="3500" b="1" dirty="0">
              <a:solidFill>
                <a:schemeClr val="tx1">
                  <a:lumMod val="75000"/>
                  <a:lumOff val="25000"/>
                </a:schemeClr>
              </a:solidFill>
              <a:latin typeface="Montserrat Light" panose="00000400000000000000" pitchFamily="50" charset="0"/>
            </a:endParaRPr>
          </a:p>
        </p:txBody>
      </p:sp>
      <p:sp>
        <p:nvSpPr>
          <p:cNvPr id="4" name="Slide Number Placeholder 129">
            <a:extLst>
              <a:ext uri="{FF2B5EF4-FFF2-40B4-BE49-F238E27FC236}">
                <a16:creationId xmlns:a16="http://schemas.microsoft.com/office/drawing/2014/main" id="{C02C2059-F049-4F3F-9A96-1E2C5B9DCE5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16</a:t>
            </a:fld>
            <a:endParaRPr lang="en-US" dirty="0"/>
          </a:p>
        </p:txBody>
      </p:sp>
      <p:pic>
        <p:nvPicPr>
          <p:cNvPr id="2" name="Picture 2">
            <a:extLst>
              <a:ext uri="{FF2B5EF4-FFF2-40B4-BE49-F238E27FC236}">
                <a16:creationId xmlns:a16="http://schemas.microsoft.com/office/drawing/2014/main" id="{82B2C707-D645-4349-93BA-B795210833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4760" y="2391440"/>
            <a:ext cx="8342480" cy="28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16986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7" name="TextBox 34">
            <a:extLst>
              <a:ext uri="{FF2B5EF4-FFF2-40B4-BE49-F238E27FC236}">
                <a16:creationId xmlns:a16="http://schemas.microsoft.com/office/drawing/2014/main" id="{E3708A85-15F6-4289-B31A-6518E02636A8}"/>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系統架構 </a:t>
            </a:r>
            <a:r>
              <a:rPr lang="en-US" altLang="zh-TW" sz="3500" b="1" dirty="0">
                <a:solidFill>
                  <a:schemeClr val="tx1">
                    <a:lumMod val="75000"/>
                    <a:lumOff val="25000"/>
                  </a:schemeClr>
                </a:solidFill>
                <a:latin typeface="Montserrat Light" panose="00000400000000000000" pitchFamily="50" charset="0"/>
              </a:rPr>
              <a:t>– Web Server </a:t>
            </a:r>
            <a:endParaRPr lang="zh-TW" altLang="en-US" sz="3500" b="1" dirty="0">
              <a:solidFill>
                <a:schemeClr val="tx1">
                  <a:lumMod val="75000"/>
                  <a:lumOff val="25000"/>
                </a:schemeClr>
              </a:solidFill>
              <a:latin typeface="Montserrat Light" panose="00000400000000000000" pitchFamily="50" charset="0"/>
            </a:endParaRPr>
          </a:p>
        </p:txBody>
      </p:sp>
      <p:sp>
        <p:nvSpPr>
          <p:cNvPr id="4" name="Slide Number Placeholder 129">
            <a:extLst>
              <a:ext uri="{FF2B5EF4-FFF2-40B4-BE49-F238E27FC236}">
                <a16:creationId xmlns:a16="http://schemas.microsoft.com/office/drawing/2014/main" id="{C02C2059-F049-4F3F-9A96-1E2C5B9DCE5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17</a:t>
            </a:fld>
            <a:endParaRPr lang="en-US" dirty="0"/>
          </a:p>
        </p:txBody>
      </p:sp>
      <p:sp>
        <p:nvSpPr>
          <p:cNvPr id="5" name="矩形 4">
            <a:extLst>
              <a:ext uri="{FF2B5EF4-FFF2-40B4-BE49-F238E27FC236}">
                <a16:creationId xmlns:a16="http://schemas.microsoft.com/office/drawing/2014/main" id="{F6093151-7036-44D3-A7F9-D1C597DDCAC4}"/>
              </a:ext>
            </a:extLst>
          </p:cNvPr>
          <p:cNvSpPr/>
          <p:nvPr/>
        </p:nvSpPr>
        <p:spPr>
          <a:xfrm>
            <a:off x="9513225" y="5807245"/>
            <a:ext cx="360000" cy="360000"/>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BEFA3321-2B15-4B00-BB2D-6F17FA09C0CD}"/>
              </a:ext>
            </a:extLst>
          </p:cNvPr>
          <p:cNvSpPr txBox="1"/>
          <p:nvPr/>
        </p:nvSpPr>
        <p:spPr>
          <a:xfrm>
            <a:off x="9873225" y="5807245"/>
            <a:ext cx="1897635"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Web Server</a:t>
            </a:r>
            <a:endParaRPr lang="zh-TW" altLang="en-US" dirty="0">
              <a:latin typeface="微軟正黑體" panose="020B0604030504040204" pitchFamily="34" charset="-120"/>
              <a:ea typeface="微軟正黑體" panose="020B0604030504040204" pitchFamily="34" charset="-120"/>
            </a:endParaRPr>
          </a:p>
        </p:txBody>
      </p:sp>
      <p:sp>
        <p:nvSpPr>
          <p:cNvPr id="8" name="Google Shape;2319;p37">
            <a:extLst>
              <a:ext uri="{FF2B5EF4-FFF2-40B4-BE49-F238E27FC236}">
                <a16:creationId xmlns:a16="http://schemas.microsoft.com/office/drawing/2014/main" id="{13198803-8082-4B20-A796-1CA26CE1C7A4}"/>
              </a:ext>
            </a:extLst>
          </p:cNvPr>
          <p:cNvSpPr/>
          <p:nvPr/>
        </p:nvSpPr>
        <p:spPr>
          <a:xfrm>
            <a:off x="9513225" y="6263619"/>
            <a:ext cx="360000" cy="3600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9" name="文字方塊 8">
            <a:extLst>
              <a:ext uri="{FF2B5EF4-FFF2-40B4-BE49-F238E27FC236}">
                <a16:creationId xmlns:a16="http://schemas.microsoft.com/office/drawing/2014/main" id="{78048BC7-2E78-4C8E-B00D-17E8377FA8B4}"/>
              </a:ext>
            </a:extLst>
          </p:cNvPr>
          <p:cNvSpPr txBox="1"/>
          <p:nvPr/>
        </p:nvSpPr>
        <p:spPr>
          <a:xfrm>
            <a:off x="9873225" y="6263619"/>
            <a:ext cx="1681614" cy="369332"/>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Reverse</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Proxy</a:t>
            </a:r>
            <a:endParaRPr lang="zh-TW" altLang="en-US" dirty="0">
              <a:latin typeface="微軟正黑體" panose="020B0604030504040204" pitchFamily="34" charset="-120"/>
              <a:ea typeface="微軟正黑體" panose="020B0604030504040204" pitchFamily="34" charset="-120"/>
            </a:endParaRPr>
          </a:p>
        </p:txBody>
      </p:sp>
      <p:sp>
        <p:nvSpPr>
          <p:cNvPr id="10" name="矩形 9">
            <a:extLst>
              <a:ext uri="{FF2B5EF4-FFF2-40B4-BE49-F238E27FC236}">
                <a16:creationId xmlns:a16="http://schemas.microsoft.com/office/drawing/2014/main" id="{1D6127BB-81DB-4576-9E57-49386D26B3F3}"/>
              </a:ext>
            </a:extLst>
          </p:cNvPr>
          <p:cNvSpPr/>
          <p:nvPr/>
        </p:nvSpPr>
        <p:spPr>
          <a:xfrm>
            <a:off x="9513225" y="5350871"/>
            <a:ext cx="360000" cy="360000"/>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886B736B-DB8D-4271-AA03-2D7C292EB2D0}"/>
              </a:ext>
            </a:extLst>
          </p:cNvPr>
          <p:cNvSpPr txBox="1"/>
          <p:nvPr/>
        </p:nvSpPr>
        <p:spPr>
          <a:xfrm>
            <a:off x="9873225" y="5350871"/>
            <a:ext cx="1755609"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AP Server</a:t>
            </a:r>
            <a:endParaRPr lang="zh-TW" altLang="en-US" dirty="0">
              <a:latin typeface="微軟正黑體" panose="020B0604030504040204" pitchFamily="34" charset="-120"/>
              <a:ea typeface="微軟正黑體" panose="020B0604030504040204" pitchFamily="34" charset="-120"/>
            </a:endParaRPr>
          </a:p>
        </p:txBody>
      </p:sp>
      <p:sp>
        <p:nvSpPr>
          <p:cNvPr id="12" name="Google Shape;2319;p37">
            <a:extLst>
              <a:ext uri="{FF2B5EF4-FFF2-40B4-BE49-F238E27FC236}">
                <a16:creationId xmlns:a16="http://schemas.microsoft.com/office/drawing/2014/main" id="{5C5D5CFA-E01B-4309-8B42-DC9F051F8899}"/>
              </a:ext>
            </a:extLst>
          </p:cNvPr>
          <p:cNvSpPr/>
          <p:nvPr/>
        </p:nvSpPr>
        <p:spPr>
          <a:xfrm>
            <a:off x="6515099" y="2973117"/>
            <a:ext cx="1307647" cy="8382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14" name="文字方塊 13">
            <a:extLst>
              <a:ext uri="{FF2B5EF4-FFF2-40B4-BE49-F238E27FC236}">
                <a16:creationId xmlns:a16="http://schemas.microsoft.com/office/drawing/2014/main" id="{A9F3A93A-A6EF-4AFC-A1E1-08A0D442F348}"/>
              </a:ext>
            </a:extLst>
          </p:cNvPr>
          <p:cNvSpPr txBox="1"/>
          <p:nvPr/>
        </p:nvSpPr>
        <p:spPr>
          <a:xfrm>
            <a:off x="1704975" y="5044087"/>
            <a:ext cx="6662080" cy="1686487"/>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TW" altLang="en-US" sz="2400" dirty="0">
                <a:solidFill>
                  <a:srgbClr val="C00000"/>
                </a:solidFill>
                <a:latin typeface="微軟正黑體" panose="020B0604030504040204" pitchFamily="34" charset="-120"/>
                <a:ea typeface="微軟正黑體" panose="020B0604030504040204" pitchFamily="34" charset="-120"/>
              </a:rPr>
              <a:t>在</a:t>
            </a:r>
            <a:r>
              <a:rPr lang="en-US" altLang="zh-TW" sz="2400" dirty="0">
                <a:solidFill>
                  <a:srgbClr val="C00000"/>
                </a:solidFill>
                <a:latin typeface="微軟正黑體" panose="020B0604030504040204" pitchFamily="34" charset="-120"/>
                <a:ea typeface="微軟正黑體" panose="020B0604030504040204" pitchFamily="34" charset="-120"/>
              </a:rPr>
              <a:t>Web</a:t>
            </a:r>
            <a:r>
              <a:rPr lang="zh-TW" altLang="en-US" sz="2400" dirty="0">
                <a:solidFill>
                  <a:srgbClr val="C00000"/>
                </a:solidFill>
                <a:latin typeface="微軟正黑體" panose="020B0604030504040204" pitchFamily="34" charset="-120"/>
                <a:ea typeface="微軟正黑體" panose="020B0604030504040204" pitchFamily="34" charset="-120"/>
              </a:rPr>
              <a:t> </a:t>
            </a:r>
            <a:r>
              <a:rPr lang="en-US" altLang="zh-TW" sz="2400" dirty="0">
                <a:solidFill>
                  <a:srgbClr val="C00000"/>
                </a:solidFill>
                <a:latin typeface="微軟正黑體" panose="020B0604030504040204" pitchFamily="34" charset="-120"/>
                <a:ea typeface="微軟正黑體" panose="020B0604030504040204" pitchFamily="34" charset="-120"/>
              </a:rPr>
              <a:t>Server</a:t>
            </a:r>
            <a:r>
              <a:rPr lang="zh-TW" altLang="en-US" sz="2400" dirty="0">
                <a:solidFill>
                  <a:srgbClr val="C00000"/>
                </a:solidFill>
                <a:latin typeface="微軟正黑體" panose="020B0604030504040204" pitchFamily="34" charset="-120"/>
                <a:ea typeface="微軟正黑體" panose="020B0604030504040204" pitchFamily="34" charset="-120"/>
              </a:rPr>
              <a:t>開啟</a:t>
            </a:r>
            <a:r>
              <a:rPr lang="en-US" altLang="zh-TW" sz="2400" dirty="0">
                <a:solidFill>
                  <a:srgbClr val="C00000"/>
                </a:solidFill>
                <a:latin typeface="微軟正黑體" panose="020B0604030504040204" pitchFamily="34" charset="-120"/>
                <a:ea typeface="微軟正黑體" panose="020B0604030504040204" pitchFamily="34" charset="-120"/>
              </a:rPr>
              <a:t>Reverse</a:t>
            </a:r>
            <a:r>
              <a:rPr lang="zh-TW" altLang="en-US" sz="2400" dirty="0">
                <a:solidFill>
                  <a:srgbClr val="C00000"/>
                </a:solidFill>
                <a:latin typeface="微軟正黑體" panose="020B0604030504040204" pitchFamily="34" charset="-120"/>
                <a:ea typeface="微軟正黑體" panose="020B0604030504040204" pitchFamily="34" charset="-120"/>
              </a:rPr>
              <a:t> </a:t>
            </a:r>
            <a:r>
              <a:rPr lang="en-US" altLang="zh-TW" sz="2400" dirty="0">
                <a:solidFill>
                  <a:srgbClr val="C00000"/>
                </a:solidFill>
                <a:latin typeface="微軟正黑體" panose="020B0604030504040204" pitchFamily="34" charset="-120"/>
                <a:ea typeface="微軟正黑體" panose="020B0604030504040204" pitchFamily="34" charset="-120"/>
              </a:rPr>
              <a:t>Proxy</a:t>
            </a:r>
          </a:p>
          <a:p>
            <a:pPr marL="285750" indent="-285750">
              <a:lnSpc>
                <a:spcPct val="150000"/>
              </a:lnSpc>
              <a:buFont typeface="Arial" panose="020B0604020202020204" pitchFamily="34" charset="0"/>
              <a:buChar char="•"/>
            </a:pPr>
            <a:r>
              <a:rPr lang="en-US" altLang="zh-TW" sz="2400" dirty="0">
                <a:solidFill>
                  <a:srgbClr val="C00000"/>
                </a:solidFill>
                <a:latin typeface="微軟正黑體" panose="020B0604030504040204" pitchFamily="34" charset="-120"/>
                <a:ea typeface="微軟正黑體" panose="020B0604030504040204" pitchFamily="34" charset="-120"/>
              </a:rPr>
              <a:t>Web Server</a:t>
            </a:r>
            <a:r>
              <a:rPr lang="zh-TW" altLang="en-US" sz="2400" dirty="0">
                <a:solidFill>
                  <a:srgbClr val="C00000"/>
                </a:solidFill>
                <a:latin typeface="微軟正黑體" panose="020B0604030504040204" pitchFamily="34" charset="-120"/>
                <a:ea typeface="微軟正黑體" panose="020B0604030504040204" pitchFamily="34" charset="-120"/>
              </a:rPr>
              <a:t>先使用憑證</a:t>
            </a:r>
            <a:endParaRPr lang="en-US" altLang="zh-TW" sz="2400" dirty="0">
              <a:solidFill>
                <a:srgbClr val="C00000"/>
              </a:solidFill>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zh-TW" altLang="en-US" sz="2400" dirty="0">
                <a:solidFill>
                  <a:srgbClr val="C00000"/>
                </a:solidFill>
                <a:latin typeface="微軟正黑體" panose="020B0604030504040204" pitchFamily="34" charset="-120"/>
                <a:ea typeface="微軟正黑體" panose="020B0604030504040204" pitchFamily="34" charset="-120"/>
              </a:rPr>
              <a:t>後經過</a:t>
            </a:r>
            <a:r>
              <a:rPr lang="en-US" altLang="zh-TW" sz="2400" dirty="0">
                <a:solidFill>
                  <a:srgbClr val="C00000"/>
                </a:solidFill>
                <a:latin typeface="微軟正黑體" panose="020B0604030504040204" pitchFamily="34" charset="-120"/>
                <a:ea typeface="微軟正黑體" panose="020B0604030504040204" pitchFamily="34" charset="-120"/>
              </a:rPr>
              <a:t>Reverse</a:t>
            </a:r>
            <a:r>
              <a:rPr lang="zh-TW" altLang="en-US" sz="2400" dirty="0">
                <a:solidFill>
                  <a:srgbClr val="C00000"/>
                </a:solidFill>
                <a:latin typeface="微軟正黑體" panose="020B0604030504040204" pitchFamily="34" charset="-120"/>
                <a:ea typeface="微軟正黑體" panose="020B0604030504040204" pitchFamily="34" charset="-120"/>
              </a:rPr>
              <a:t> </a:t>
            </a:r>
            <a:r>
              <a:rPr lang="en-US" altLang="zh-TW" sz="2400" dirty="0">
                <a:solidFill>
                  <a:srgbClr val="C00000"/>
                </a:solidFill>
                <a:latin typeface="微軟正黑體" panose="020B0604030504040204" pitchFamily="34" charset="-120"/>
                <a:ea typeface="微軟正黑體" panose="020B0604030504040204" pitchFamily="34" charset="-120"/>
              </a:rPr>
              <a:t>Proxy Forwarding</a:t>
            </a:r>
            <a:r>
              <a:rPr lang="zh-TW" altLang="en-US" sz="2400" dirty="0">
                <a:solidFill>
                  <a:srgbClr val="C00000"/>
                </a:solidFill>
                <a:latin typeface="微軟正黑體" panose="020B0604030504040204" pitchFamily="34" charset="-120"/>
                <a:ea typeface="微軟正黑體" panose="020B0604030504040204" pitchFamily="34" charset="-120"/>
              </a:rPr>
              <a:t>給多個容器</a:t>
            </a:r>
          </a:p>
        </p:txBody>
      </p:sp>
      <p:pic>
        <p:nvPicPr>
          <p:cNvPr id="19" name="Picture 4">
            <a:extLst>
              <a:ext uri="{FF2B5EF4-FFF2-40B4-BE49-F238E27FC236}">
                <a16:creationId xmlns:a16="http://schemas.microsoft.com/office/drawing/2014/main" id="{54FC12B7-CAA4-C049-4229-EBE0712069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0703" y="1633414"/>
            <a:ext cx="8132306" cy="32400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a:extLst>
              <a:ext uri="{FF2B5EF4-FFF2-40B4-BE49-F238E27FC236}">
                <a16:creationId xmlns:a16="http://schemas.microsoft.com/office/drawing/2014/main" id="{3ACECAFF-1B05-46D2-B795-DFB4C77A5738}"/>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84951"/>
          <a:stretch/>
        </p:blipFill>
        <p:spPr bwMode="auto">
          <a:xfrm>
            <a:off x="8839200" y="1633414"/>
            <a:ext cx="1223808" cy="32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76255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7" name="TextBox 34">
            <a:extLst>
              <a:ext uri="{FF2B5EF4-FFF2-40B4-BE49-F238E27FC236}">
                <a16:creationId xmlns:a16="http://schemas.microsoft.com/office/drawing/2014/main" id="{E3708A85-15F6-4289-B31A-6518E02636A8}"/>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系統開發相關技術 </a:t>
            </a:r>
            <a:r>
              <a:rPr lang="en-US" altLang="zh-TW" sz="3500" b="1" dirty="0">
                <a:solidFill>
                  <a:schemeClr val="tx1">
                    <a:lumMod val="75000"/>
                    <a:lumOff val="25000"/>
                  </a:schemeClr>
                </a:solidFill>
                <a:latin typeface="Montserrat Light" panose="00000400000000000000" pitchFamily="50" charset="0"/>
              </a:rPr>
              <a:t>– Docker</a:t>
            </a:r>
            <a:endParaRPr lang="zh-TW" altLang="en-US" sz="3500" b="1" dirty="0">
              <a:solidFill>
                <a:schemeClr val="tx1">
                  <a:lumMod val="75000"/>
                  <a:lumOff val="25000"/>
                </a:schemeClr>
              </a:solidFill>
              <a:latin typeface="Montserrat Light" panose="00000400000000000000" pitchFamily="50" charset="0"/>
            </a:endParaRPr>
          </a:p>
        </p:txBody>
      </p:sp>
      <p:sp>
        <p:nvSpPr>
          <p:cNvPr id="4" name="Slide Number Placeholder 129">
            <a:extLst>
              <a:ext uri="{FF2B5EF4-FFF2-40B4-BE49-F238E27FC236}">
                <a16:creationId xmlns:a16="http://schemas.microsoft.com/office/drawing/2014/main" id="{C02C2059-F049-4F3F-9A96-1E2C5B9DCE5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18</a:t>
            </a:fld>
            <a:endParaRPr lang="en-US" dirty="0"/>
          </a:p>
        </p:txBody>
      </p:sp>
      <p:pic>
        <p:nvPicPr>
          <p:cNvPr id="2052" name="Picture 4">
            <a:extLst>
              <a:ext uri="{FF2B5EF4-FFF2-40B4-BE49-F238E27FC236}">
                <a16:creationId xmlns:a16="http://schemas.microsoft.com/office/drawing/2014/main" id="{3018BFEC-42B4-4682-9928-F99193AF6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603" y="2848540"/>
            <a:ext cx="7864793" cy="2051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51242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7" name="TextBox 34">
            <a:extLst>
              <a:ext uri="{FF2B5EF4-FFF2-40B4-BE49-F238E27FC236}">
                <a16:creationId xmlns:a16="http://schemas.microsoft.com/office/drawing/2014/main" id="{E3708A85-15F6-4289-B31A-6518E02636A8}"/>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系統架構 </a:t>
            </a:r>
            <a:r>
              <a:rPr lang="en-US" altLang="zh-TW" sz="3500" b="1" dirty="0">
                <a:solidFill>
                  <a:schemeClr val="tx1">
                    <a:lumMod val="75000"/>
                    <a:lumOff val="25000"/>
                  </a:schemeClr>
                </a:solidFill>
                <a:latin typeface="Montserrat Light" panose="00000400000000000000" pitchFamily="50" charset="0"/>
              </a:rPr>
              <a:t>– Docker</a:t>
            </a:r>
            <a:endParaRPr lang="zh-TW" altLang="en-US" sz="3500" b="1" dirty="0">
              <a:solidFill>
                <a:schemeClr val="tx1">
                  <a:lumMod val="75000"/>
                  <a:lumOff val="25000"/>
                </a:schemeClr>
              </a:solidFill>
              <a:latin typeface="Montserrat Light" panose="00000400000000000000" pitchFamily="50" charset="0"/>
            </a:endParaRPr>
          </a:p>
        </p:txBody>
      </p:sp>
      <p:sp>
        <p:nvSpPr>
          <p:cNvPr id="4" name="Slide Number Placeholder 129">
            <a:extLst>
              <a:ext uri="{FF2B5EF4-FFF2-40B4-BE49-F238E27FC236}">
                <a16:creationId xmlns:a16="http://schemas.microsoft.com/office/drawing/2014/main" id="{C02C2059-F049-4F3F-9A96-1E2C5B9DCE5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19</a:t>
            </a:fld>
            <a:endParaRPr lang="en-US" dirty="0"/>
          </a:p>
        </p:txBody>
      </p:sp>
      <p:sp>
        <p:nvSpPr>
          <p:cNvPr id="5" name="矩形 4">
            <a:extLst>
              <a:ext uri="{FF2B5EF4-FFF2-40B4-BE49-F238E27FC236}">
                <a16:creationId xmlns:a16="http://schemas.microsoft.com/office/drawing/2014/main" id="{F6093151-7036-44D3-A7F9-D1C597DDCAC4}"/>
              </a:ext>
            </a:extLst>
          </p:cNvPr>
          <p:cNvSpPr/>
          <p:nvPr/>
        </p:nvSpPr>
        <p:spPr>
          <a:xfrm>
            <a:off x="9513225" y="5807245"/>
            <a:ext cx="360000" cy="3600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BEFA3321-2B15-4B00-BB2D-6F17FA09C0CD}"/>
              </a:ext>
            </a:extLst>
          </p:cNvPr>
          <p:cNvSpPr txBox="1"/>
          <p:nvPr/>
        </p:nvSpPr>
        <p:spPr>
          <a:xfrm>
            <a:off x="9873225" y="5807245"/>
            <a:ext cx="1897635"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Web Server</a:t>
            </a:r>
            <a:endParaRPr lang="zh-TW" altLang="en-US" dirty="0">
              <a:latin typeface="微軟正黑體" panose="020B0604030504040204" pitchFamily="34" charset="-120"/>
              <a:ea typeface="微軟正黑體" panose="020B0604030504040204" pitchFamily="34" charset="-120"/>
            </a:endParaRPr>
          </a:p>
        </p:txBody>
      </p:sp>
      <p:sp>
        <p:nvSpPr>
          <p:cNvPr id="8" name="Google Shape;2319;p37">
            <a:extLst>
              <a:ext uri="{FF2B5EF4-FFF2-40B4-BE49-F238E27FC236}">
                <a16:creationId xmlns:a16="http://schemas.microsoft.com/office/drawing/2014/main" id="{13198803-8082-4B20-A796-1CA26CE1C7A4}"/>
              </a:ext>
            </a:extLst>
          </p:cNvPr>
          <p:cNvSpPr/>
          <p:nvPr/>
        </p:nvSpPr>
        <p:spPr>
          <a:xfrm>
            <a:off x="9513225" y="6263619"/>
            <a:ext cx="360000" cy="3600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9" name="文字方塊 8">
            <a:extLst>
              <a:ext uri="{FF2B5EF4-FFF2-40B4-BE49-F238E27FC236}">
                <a16:creationId xmlns:a16="http://schemas.microsoft.com/office/drawing/2014/main" id="{78048BC7-2E78-4C8E-B00D-17E8377FA8B4}"/>
              </a:ext>
            </a:extLst>
          </p:cNvPr>
          <p:cNvSpPr txBox="1"/>
          <p:nvPr/>
        </p:nvSpPr>
        <p:spPr>
          <a:xfrm>
            <a:off x="9873225" y="6263619"/>
            <a:ext cx="2031325"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包進容器內的流程</a:t>
            </a:r>
          </a:p>
        </p:txBody>
      </p:sp>
      <p:sp>
        <p:nvSpPr>
          <p:cNvPr id="10" name="矩形 9">
            <a:extLst>
              <a:ext uri="{FF2B5EF4-FFF2-40B4-BE49-F238E27FC236}">
                <a16:creationId xmlns:a16="http://schemas.microsoft.com/office/drawing/2014/main" id="{1D6127BB-81DB-4576-9E57-49386D26B3F3}"/>
              </a:ext>
            </a:extLst>
          </p:cNvPr>
          <p:cNvSpPr/>
          <p:nvPr/>
        </p:nvSpPr>
        <p:spPr>
          <a:xfrm>
            <a:off x="9513225" y="5350871"/>
            <a:ext cx="360000" cy="360000"/>
          </a:xfrm>
          <a:prstGeom prst="rect">
            <a:avLst/>
          </a:prstGeom>
          <a:solidFill>
            <a:srgbClr val="FFE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886B736B-DB8D-4271-AA03-2D7C292EB2D0}"/>
              </a:ext>
            </a:extLst>
          </p:cNvPr>
          <p:cNvSpPr txBox="1"/>
          <p:nvPr/>
        </p:nvSpPr>
        <p:spPr>
          <a:xfrm>
            <a:off x="9873225" y="5350871"/>
            <a:ext cx="1755609"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AP Server</a:t>
            </a:r>
            <a:endParaRPr lang="zh-TW" altLang="en-US" dirty="0">
              <a:latin typeface="微軟正黑體" panose="020B0604030504040204" pitchFamily="34" charset="-120"/>
              <a:ea typeface="微軟正黑體" panose="020B0604030504040204" pitchFamily="34" charset="-120"/>
            </a:endParaRPr>
          </a:p>
        </p:txBody>
      </p:sp>
      <p:sp>
        <p:nvSpPr>
          <p:cNvPr id="14" name="文字方塊 13">
            <a:extLst>
              <a:ext uri="{FF2B5EF4-FFF2-40B4-BE49-F238E27FC236}">
                <a16:creationId xmlns:a16="http://schemas.microsoft.com/office/drawing/2014/main" id="{A9F3A93A-A6EF-4AFC-A1E1-08A0D442F348}"/>
              </a:ext>
            </a:extLst>
          </p:cNvPr>
          <p:cNvSpPr txBox="1"/>
          <p:nvPr/>
        </p:nvSpPr>
        <p:spPr>
          <a:xfrm>
            <a:off x="1704975" y="5044087"/>
            <a:ext cx="4291881" cy="113249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TW" altLang="en-US" sz="2400" dirty="0">
                <a:solidFill>
                  <a:srgbClr val="C00000"/>
                </a:solidFill>
                <a:latin typeface="微軟正黑體" panose="020B0604030504040204" pitchFamily="34" charset="-120"/>
                <a:ea typeface="微軟正黑體" panose="020B0604030504040204" pitchFamily="34" charset="-120"/>
              </a:rPr>
              <a:t>不需要</a:t>
            </a:r>
            <a:r>
              <a:rPr lang="en-US" altLang="zh-TW" sz="2400" dirty="0" err="1">
                <a:solidFill>
                  <a:srgbClr val="C00000"/>
                </a:solidFill>
                <a:latin typeface="微軟正黑體" panose="020B0604030504040204" pitchFamily="34" charset="-120"/>
                <a:ea typeface="微軟正黑體" panose="020B0604030504040204" pitchFamily="34" charset="-120"/>
              </a:rPr>
              <a:t>kestrel.service</a:t>
            </a:r>
            <a:endParaRPr lang="en-US" altLang="zh-TW" sz="2400" dirty="0">
              <a:solidFill>
                <a:srgbClr val="C00000"/>
              </a:solidFill>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zh-TW" altLang="en-US" sz="2400" dirty="0">
                <a:solidFill>
                  <a:srgbClr val="C00000"/>
                </a:solidFill>
                <a:latin typeface="微軟正黑體" panose="020B0604030504040204" pitchFamily="34" charset="-120"/>
                <a:ea typeface="微軟正黑體" panose="020B0604030504040204" pitchFamily="34" charset="-120"/>
              </a:rPr>
              <a:t>接收來自</a:t>
            </a:r>
            <a:r>
              <a:rPr lang="en-US" altLang="zh-TW" sz="2400" dirty="0">
                <a:solidFill>
                  <a:srgbClr val="C00000"/>
                </a:solidFill>
                <a:latin typeface="微軟正黑體" panose="020B0604030504040204" pitchFamily="34" charset="-120"/>
                <a:ea typeface="微軟正黑體" panose="020B0604030504040204" pitchFamily="34" charset="-120"/>
              </a:rPr>
              <a:t>Web Server</a:t>
            </a:r>
            <a:r>
              <a:rPr lang="zh-TW" altLang="en-US" sz="2400" dirty="0">
                <a:solidFill>
                  <a:srgbClr val="C00000"/>
                </a:solidFill>
                <a:latin typeface="微軟正黑體" panose="020B0604030504040204" pitchFamily="34" charset="-120"/>
                <a:ea typeface="微軟正黑體" panose="020B0604030504040204" pitchFamily="34" charset="-120"/>
              </a:rPr>
              <a:t>的需求</a:t>
            </a:r>
          </a:p>
        </p:txBody>
      </p:sp>
      <p:grpSp>
        <p:nvGrpSpPr>
          <p:cNvPr id="21" name="群組 20">
            <a:extLst>
              <a:ext uri="{FF2B5EF4-FFF2-40B4-BE49-F238E27FC236}">
                <a16:creationId xmlns:a16="http://schemas.microsoft.com/office/drawing/2014/main" id="{5DA6572E-369C-F25F-85AF-244012BCE22C}"/>
              </a:ext>
            </a:extLst>
          </p:cNvPr>
          <p:cNvGrpSpPr/>
          <p:nvPr/>
        </p:nvGrpSpPr>
        <p:grpSpPr>
          <a:xfrm>
            <a:off x="1930703" y="1633414"/>
            <a:ext cx="8132306" cy="3240000"/>
            <a:chOff x="1447050" y="1498451"/>
            <a:chExt cx="9304356" cy="3706957"/>
          </a:xfrm>
        </p:grpSpPr>
        <p:pic>
          <p:nvPicPr>
            <p:cNvPr id="22" name="Picture 4">
              <a:extLst>
                <a:ext uri="{FF2B5EF4-FFF2-40B4-BE49-F238E27FC236}">
                  <a16:creationId xmlns:a16="http://schemas.microsoft.com/office/drawing/2014/main" id="{530DE49B-9EE0-4817-2791-0F1E342022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050" y="1498451"/>
              <a:ext cx="9304356" cy="3706957"/>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群組 22">
              <a:extLst>
                <a:ext uri="{FF2B5EF4-FFF2-40B4-BE49-F238E27FC236}">
                  <a16:creationId xmlns:a16="http://schemas.microsoft.com/office/drawing/2014/main" id="{6E3B1FF3-65BC-21C7-F233-382F5297A948}"/>
                </a:ext>
              </a:extLst>
            </p:cNvPr>
            <p:cNvGrpSpPr>
              <a:grpSpLocks noChangeAspect="1"/>
            </p:cNvGrpSpPr>
            <p:nvPr/>
          </p:nvGrpSpPr>
          <p:grpSpPr>
            <a:xfrm>
              <a:off x="9246664" y="1983696"/>
              <a:ext cx="1504367" cy="3077153"/>
              <a:chOff x="8718095" y="2057400"/>
              <a:chExt cx="1314451" cy="2688684"/>
            </a:xfrm>
          </p:grpSpPr>
          <p:sp>
            <p:nvSpPr>
              <p:cNvPr id="24" name="Google Shape;2319;p37">
                <a:extLst>
                  <a:ext uri="{FF2B5EF4-FFF2-40B4-BE49-F238E27FC236}">
                    <a16:creationId xmlns:a16="http://schemas.microsoft.com/office/drawing/2014/main" id="{E80E5A9F-BDEE-1CA8-2CFF-2840C70DC581}"/>
                  </a:ext>
                </a:extLst>
              </p:cNvPr>
              <p:cNvSpPr/>
              <p:nvPr/>
            </p:nvSpPr>
            <p:spPr>
              <a:xfrm>
                <a:off x="8724899" y="2057400"/>
                <a:ext cx="1307647" cy="8382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25" name="Google Shape;2319;p37">
                <a:extLst>
                  <a:ext uri="{FF2B5EF4-FFF2-40B4-BE49-F238E27FC236}">
                    <a16:creationId xmlns:a16="http://schemas.microsoft.com/office/drawing/2014/main" id="{7AD92233-170D-18F9-C3C0-6CCC284A2602}"/>
                  </a:ext>
                </a:extLst>
              </p:cNvPr>
              <p:cNvSpPr/>
              <p:nvPr/>
            </p:nvSpPr>
            <p:spPr>
              <a:xfrm>
                <a:off x="8724899" y="2982642"/>
                <a:ext cx="1307647" cy="8382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26" name="Google Shape;2319;p37">
                <a:extLst>
                  <a:ext uri="{FF2B5EF4-FFF2-40B4-BE49-F238E27FC236}">
                    <a16:creationId xmlns:a16="http://schemas.microsoft.com/office/drawing/2014/main" id="{78DE123C-1E21-0B96-50D3-4E7BA63FBE09}"/>
                  </a:ext>
                </a:extLst>
              </p:cNvPr>
              <p:cNvSpPr/>
              <p:nvPr/>
            </p:nvSpPr>
            <p:spPr>
              <a:xfrm>
                <a:off x="8718095" y="3907884"/>
                <a:ext cx="1307647" cy="8382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grpSp>
      </p:grpSp>
      <p:pic>
        <p:nvPicPr>
          <p:cNvPr id="29" name="Picture 4">
            <a:extLst>
              <a:ext uri="{FF2B5EF4-FFF2-40B4-BE49-F238E27FC236}">
                <a16:creationId xmlns:a16="http://schemas.microsoft.com/office/drawing/2014/main" id="{B4AECCB7-DE55-8EB4-B9B5-DFB41E3FB60E}"/>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r="17204"/>
          <a:stretch/>
        </p:blipFill>
        <p:spPr bwMode="auto">
          <a:xfrm>
            <a:off x="1930703" y="1633414"/>
            <a:ext cx="6733237" cy="32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69088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7" name="TextBox 34">
            <a:extLst>
              <a:ext uri="{FF2B5EF4-FFF2-40B4-BE49-F238E27FC236}">
                <a16:creationId xmlns:a16="http://schemas.microsoft.com/office/drawing/2014/main" id="{E3708A85-15F6-4289-B31A-6518E02636A8}"/>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系統架構</a:t>
            </a:r>
          </a:p>
        </p:txBody>
      </p:sp>
      <p:sp>
        <p:nvSpPr>
          <p:cNvPr id="4" name="Slide Number Placeholder 129">
            <a:extLst>
              <a:ext uri="{FF2B5EF4-FFF2-40B4-BE49-F238E27FC236}">
                <a16:creationId xmlns:a16="http://schemas.microsoft.com/office/drawing/2014/main" id="{C02C2059-F049-4F3F-9A96-1E2C5B9DCE53}"/>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20</a:t>
            </a:fld>
            <a:endParaRPr lang="en-US" dirty="0"/>
          </a:p>
        </p:txBody>
      </p:sp>
      <p:sp>
        <p:nvSpPr>
          <p:cNvPr id="5" name="矩形 4">
            <a:extLst>
              <a:ext uri="{FF2B5EF4-FFF2-40B4-BE49-F238E27FC236}">
                <a16:creationId xmlns:a16="http://schemas.microsoft.com/office/drawing/2014/main" id="{F6093151-7036-44D3-A7F9-D1C597DDCAC4}"/>
              </a:ext>
            </a:extLst>
          </p:cNvPr>
          <p:cNvSpPr/>
          <p:nvPr/>
        </p:nvSpPr>
        <p:spPr>
          <a:xfrm>
            <a:off x="9513225" y="5807245"/>
            <a:ext cx="360000" cy="360000"/>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BEFA3321-2B15-4B00-BB2D-6F17FA09C0CD}"/>
              </a:ext>
            </a:extLst>
          </p:cNvPr>
          <p:cNvSpPr txBox="1"/>
          <p:nvPr/>
        </p:nvSpPr>
        <p:spPr>
          <a:xfrm>
            <a:off x="9873225" y="5807245"/>
            <a:ext cx="1897635"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Web Server</a:t>
            </a:r>
            <a:endParaRPr lang="zh-TW" altLang="en-US" dirty="0">
              <a:latin typeface="微軟正黑體" panose="020B0604030504040204" pitchFamily="34" charset="-120"/>
              <a:ea typeface="微軟正黑體" panose="020B0604030504040204" pitchFamily="34" charset="-120"/>
            </a:endParaRPr>
          </a:p>
        </p:txBody>
      </p:sp>
      <p:sp>
        <p:nvSpPr>
          <p:cNvPr id="8" name="Google Shape;2319;p37">
            <a:extLst>
              <a:ext uri="{FF2B5EF4-FFF2-40B4-BE49-F238E27FC236}">
                <a16:creationId xmlns:a16="http://schemas.microsoft.com/office/drawing/2014/main" id="{13198803-8082-4B20-A796-1CA26CE1C7A4}"/>
              </a:ext>
            </a:extLst>
          </p:cNvPr>
          <p:cNvSpPr/>
          <p:nvPr/>
        </p:nvSpPr>
        <p:spPr>
          <a:xfrm>
            <a:off x="9513225" y="6263619"/>
            <a:ext cx="360000" cy="3600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9" name="文字方塊 8">
            <a:extLst>
              <a:ext uri="{FF2B5EF4-FFF2-40B4-BE49-F238E27FC236}">
                <a16:creationId xmlns:a16="http://schemas.microsoft.com/office/drawing/2014/main" id="{78048BC7-2E78-4C8E-B00D-17E8377FA8B4}"/>
              </a:ext>
            </a:extLst>
          </p:cNvPr>
          <p:cNvSpPr txBox="1"/>
          <p:nvPr/>
        </p:nvSpPr>
        <p:spPr>
          <a:xfrm>
            <a:off x="9873225" y="6263619"/>
            <a:ext cx="2031325"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包進容器內的流程</a:t>
            </a:r>
          </a:p>
        </p:txBody>
      </p:sp>
      <p:sp>
        <p:nvSpPr>
          <p:cNvPr id="10" name="矩形 9">
            <a:extLst>
              <a:ext uri="{FF2B5EF4-FFF2-40B4-BE49-F238E27FC236}">
                <a16:creationId xmlns:a16="http://schemas.microsoft.com/office/drawing/2014/main" id="{1D6127BB-81DB-4576-9E57-49386D26B3F3}"/>
              </a:ext>
            </a:extLst>
          </p:cNvPr>
          <p:cNvSpPr/>
          <p:nvPr/>
        </p:nvSpPr>
        <p:spPr>
          <a:xfrm>
            <a:off x="9513225" y="5350871"/>
            <a:ext cx="360000" cy="360000"/>
          </a:xfrm>
          <a:prstGeom prst="rect">
            <a:avLst/>
          </a:prstGeom>
          <a:solidFill>
            <a:srgbClr val="FFE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886B736B-DB8D-4271-AA03-2D7C292EB2D0}"/>
              </a:ext>
            </a:extLst>
          </p:cNvPr>
          <p:cNvSpPr txBox="1"/>
          <p:nvPr/>
        </p:nvSpPr>
        <p:spPr>
          <a:xfrm>
            <a:off x="9873225" y="5350871"/>
            <a:ext cx="1755609"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代表</a:t>
            </a:r>
            <a:r>
              <a:rPr lang="en-US" altLang="zh-TW" dirty="0">
                <a:latin typeface="微軟正黑體" panose="020B0604030504040204" pitchFamily="34" charset="-120"/>
                <a:ea typeface="微軟正黑體" panose="020B0604030504040204" pitchFamily="34" charset="-120"/>
              </a:rPr>
              <a:t>AP Server</a:t>
            </a:r>
            <a:endParaRPr lang="zh-TW" altLang="en-US" dirty="0">
              <a:latin typeface="微軟正黑體" panose="020B0604030504040204" pitchFamily="34" charset="-120"/>
              <a:ea typeface="微軟正黑體" panose="020B0604030504040204" pitchFamily="34" charset="-120"/>
            </a:endParaRPr>
          </a:p>
        </p:txBody>
      </p:sp>
      <p:grpSp>
        <p:nvGrpSpPr>
          <p:cNvPr id="3" name="群組 2">
            <a:extLst>
              <a:ext uri="{FF2B5EF4-FFF2-40B4-BE49-F238E27FC236}">
                <a16:creationId xmlns:a16="http://schemas.microsoft.com/office/drawing/2014/main" id="{5FD8724A-251A-3C50-0C6E-EABAE15CEBF3}"/>
              </a:ext>
            </a:extLst>
          </p:cNvPr>
          <p:cNvGrpSpPr/>
          <p:nvPr/>
        </p:nvGrpSpPr>
        <p:grpSpPr>
          <a:xfrm>
            <a:off x="1447050" y="1498451"/>
            <a:ext cx="9304356" cy="3706957"/>
            <a:chOff x="1447050" y="1498451"/>
            <a:chExt cx="9304356" cy="3706957"/>
          </a:xfrm>
        </p:grpSpPr>
        <p:pic>
          <p:nvPicPr>
            <p:cNvPr id="4100" name="Picture 4">
              <a:extLst>
                <a:ext uri="{FF2B5EF4-FFF2-40B4-BE49-F238E27FC236}">
                  <a16:creationId xmlns:a16="http://schemas.microsoft.com/office/drawing/2014/main" id="{19253CE4-C009-1C99-7504-C63346F3CA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050" y="1498451"/>
              <a:ext cx="9304356" cy="370695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群組 1">
              <a:extLst>
                <a:ext uri="{FF2B5EF4-FFF2-40B4-BE49-F238E27FC236}">
                  <a16:creationId xmlns:a16="http://schemas.microsoft.com/office/drawing/2014/main" id="{0CDD5728-66A7-4681-976D-4A7AF2D8074A}"/>
                </a:ext>
              </a:extLst>
            </p:cNvPr>
            <p:cNvGrpSpPr>
              <a:grpSpLocks noChangeAspect="1"/>
            </p:cNvGrpSpPr>
            <p:nvPr/>
          </p:nvGrpSpPr>
          <p:grpSpPr>
            <a:xfrm>
              <a:off x="9246664" y="1983696"/>
              <a:ext cx="1504367" cy="3077153"/>
              <a:chOff x="8718095" y="2057400"/>
              <a:chExt cx="1314451" cy="2688684"/>
            </a:xfrm>
          </p:grpSpPr>
          <p:sp>
            <p:nvSpPr>
              <p:cNvPr id="12" name="Google Shape;2319;p37">
                <a:extLst>
                  <a:ext uri="{FF2B5EF4-FFF2-40B4-BE49-F238E27FC236}">
                    <a16:creationId xmlns:a16="http://schemas.microsoft.com/office/drawing/2014/main" id="{5C5D5CFA-E01B-4309-8B42-DC9F051F8899}"/>
                  </a:ext>
                </a:extLst>
              </p:cNvPr>
              <p:cNvSpPr/>
              <p:nvPr/>
            </p:nvSpPr>
            <p:spPr>
              <a:xfrm>
                <a:off x="8724899" y="2057400"/>
                <a:ext cx="1307647" cy="8382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18" name="Google Shape;2319;p37">
                <a:extLst>
                  <a:ext uri="{FF2B5EF4-FFF2-40B4-BE49-F238E27FC236}">
                    <a16:creationId xmlns:a16="http://schemas.microsoft.com/office/drawing/2014/main" id="{A6D69DD9-7BC5-4FBC-91A3-5C142E5D61CA}"/>
                  </a:ext>
                </a:extLst>
              </p:cNvPr>
              <p:cNvSpPr/>
              <p:nvPr/>
            </p:nvSpPr>
            <p:spPr>
              <a:xfrm>
                <a:off x="8724899" y="2982642"/>
                <a:ext cx="1307647" cy="8382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sp>
            <p:nvSpPr>
              <p:cNvPr id="19" name="Google Shape;2319;p37">
                <a:extLst>
                  <a:ext uri="{FF2B5EF4-FFF2-40B4-BE49-F238E27FC236}">
                    <a16:creationId xmlns:a16="http://schemas.microsoft.com/office/drawing/2014/main" id="{A73EA7CD-1BD3-43DB-AB72-3B462F376D5D}"/>
                  </a:ext>
                </a:extLst>
              </p:cNvPr>
              <p:cNvSpPr/>
              <p:nvPr/>
            </p:nvSpPr>
            <p:spPr>
              <a:xfrm>
                <a:off x="8718095" y="3907884"/>
                <a:ext cx="1307647" cy="8382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Montserrat Medium"/>
                  <a:ea typeface="Montserrat Medium"/>
                  <a:cs typeface="Montserrat Medium"/>
                  <a:sym typeface="Montserrat Medium"/>
                </a:endParaRPr>
              </a:p>
            </p:txBody>
          </p:sp>
        </p:grpSp>
      </p:grpSp>
    </p:spTree>
    <p:extLst>
      <p:ext uri="{BB962C8B-B14F-4D97-AF65-F5344CB8AC3E}">
        <p14:creationId xmlns:p14="http://schemas.microsoft.com/office/powerpoint/2010/main" val="1879473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1E1BE739-D888-4754-8F0E-6AB2BB084B7B}"/>
              </a:ext>
            </a:extLst>
          </p:cNvPr>
          <p:cNvSpPr/>
          <p:nvPr/>
        </p:nvSpPr>
        <p:spPr>
          <a:xfrm>
            <a:off x="0" y="0"/>
            <a:ext cx="12192000" cy="6858000"/>
          </a:xfrm>
          <a:prstGeom prst="rect">
            <a:avLst/>
          </a:prstGeom>
          <a:solidFill>
            <a:srgbClr val="B6AF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21</a:t>
            </a:fld>
            <a:endParaRPr lang="en-US" dirty="0"/>
          </a:p>
        </p:txBody>
      </p:sp>
      <p:sp>
        <p:nvSpPr>
          <p:cNvPr id="17" name="Oval 16">
            <a:extLst>
              <a:ext uri="{FF2B5EF4-FFF2-40B4-BE49-F238E27FC236}">
                <a16:creationId xmlns:a16="http://schemas.microsoft.com/office/drawing/2014/main" id="{5A1A481B-CE42-4717-8548-B752C57D5720}"/>
              </a:ext>
            </a:extLst>
          </p:cNvPr>
          <p:cNvSpPr/>
          <p:nvPr/>
        </p:nvSpPr>
        <p:spPr>
          <a:xfrm>
            <a:off x="1236133" y="3374818"/>
            <a:ext cx="2489200" cy="248920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1739584-F126-46E5-B03A-77F1F1754AF3}"/>
              </a:ext>
            </a:extLst>
          </p:cNvPr>
          <p:cNvSpPr/>
          <p:nvPr/>
        </p:nvSpPr>
        <p:spPr>
          <a:xfrm>
            <a:off x="1578007" y="3230032"/>
            <a:ext cx="2489200" cy="2489200"/>
          </a:xfrm>
          <a:prstGeom prst="ellipse">
            <a:avLst/>
          </a:prstGeom>
          <a:solidFill>
            <a:srgbClr val="B9AF9D">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56F1420-3585-43A1-9B3F-475BF0E2498D}"/>
              </a:ext>
            </a:extLst>
          </p:cNvPr>
          <p:cNvSpPr/>
          <p:nvPr/>
        </p:nvSpPr>
        <p:spPr>
          <a:xfrm>
            <a:off x="1236133" y="1504950"/>
            <a:ext cx="2489200" cy="2489200"/>
          </a:xfrm>
          <a:prstGeom prst="ellipse">
            <a:avLst/>
          </a:prstGeom>
          <a:solidFill>
            <a:srgbClr val="92929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0D5475C-ED4E-43D1-939D-AD4D971A1725}"/>
              </a:ext>
            </a:extLst>
          </p:cNvPr>
          <p:cNvSpPr/>
          <p:nvPr/>
        </p:nvSpPr>
        <p:spPr>
          <a:xfrm>
            <a:off x="2429207" y="2259578"/>
            <a:ext cx="2489200" cy="2489200"/>
          </a:xfrm>
          <a:prstGeom prst="ellipse">
            <a:avLst/>
          </a:prstGeom>
          <a:solidFill>
            <a:srgbClr val="D8CFB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8A86E4F-C248-4407-ACC2-D7629B6E6345}"/>
              </a:ext>
            </a:extLst>
          </p:cNvPr>
          <p:cNvSpPr/>
          <p:nvPr/>
        </p:nvSpPr>
        <p:spPr>
          <a:xfrm>
            <a:off x="3280406" y="3273501"/>
            <a:ext cx="2489200" cy="2489200"/>
          </a:xfrm>
          <a:prstGeom prst="ellipse">
            <a:avLst/>
          </a:prstGeom>
          <a:solidFill>
            <a:srgbClr val="B9AF9D">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B869AE7-C2C3-4F36-A449-324A496B53D1}"/>
              </a:ext>
            </a:extLst>
          </p:cNvPr>
          <p:cNvSpPr txBox="1"/>
          <p:nvPr/>
        </p:nvSpPr>
        <p:spPr>
          <a:xfrm>
            <a:off x="5711576" y="3230032"/>
            <a:ext cx="5334000" cy="630942"/>
          </a:xfrm>
          <a:prstGeom prst="rect">
            <a:avLst/>
          </a:prstGeom>
          <a:noFill/>
        </p:spPr>
        <p:txBody>
          <a:bodyPr wrap="square" rtlCol="0">
            <a:spAutoFit/>
          </a:bodyPr>
          <a:lstStyle/>
          <a:p>
            <a:pPr algn="ctr"/>
            <a:r>
              <a:rPr lang="zh-TW" altLang="en-US" sz="3500" b="1" dirty="0">
                <a:solidFill>
                  <a:schemeClr val="bg1"/>
                </a:solidFill>
                <a:latin typeface="Montserrat ExtraBold" panose="00000900000000000000" pitchFamily="50" charset="0"/>
              </a:rPr>
              <a:t>已有成果</a:t>
            </a:r>
          </a:p>
        </p:txBody>
      </p:sp>
      <p:pic>
        <p:nvPicPr>
          <p:cNvPr id="6" name="圖形 5">
            <a:extLst>
              <a:ext uri="{FF2B5EF4-FFF2-40B4-BE49-F238E27FC236}">
                <a16:creationId xmlns:a16="http://schemas.microsoft.com/office/drawing/2014/main" id="{AEBA0184-7913-43A9-AECD-96A9CD13F8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3807" y="2784178"/>
            <a:ext cx="1440000" cy="1440000"/>
          </a:xfrm>
          <a:prstGeom prst="rect">
            <a:avLst/>
          </a:prstGeom>
        </p:spPr>
      </p:pic>
    </p:spTree>
    <p:extLst>
      <p:ext uri="{BB962C8B-B14F-4D97-AF65-F5344CB8AC3E}">
        <p14:creationId xmlns:p14="http://schemas.microsoft.com/office/powerpoint/2010/main" val="194525170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22</a:t>
            </a:fld>
            <a:endParaRPr lang="en-US" dirty="0"/>
          </a:p>
        </p:txBody>
      </p:sp>
      <p:sp>
        <p:nvSpPr>
          <p:cNvPr id="72" name="TextBox 71">
            <a:extLst>
              <a:ext uri="{FF2B5EF4-FFF2-40B4-BE49-F238E27FC236}">
                <a16:creationId xmlns:a16="http://schemas.microsoft.com/office/drawing/2014/main" id="{2D385D93-17D1-4908-9F0F-13E692D4613B}"/>
              </a:ext>
            </a:extLst>
          </p:cNvPr>
          <p:cNvSpPr txBox="1"/>
          <p:nvPr/>
        </p:nvSpPr>
        <p:spPr>
          <a:xfrm>
            <a:off x="6981025" y="2664029"/>
            <a:ext cx="4267113" cy="348813"/>
          </a:xfrm>
          <a:prstGeom prst="rect">
            <a:avLst/>
          </a:prstGeom>
          <a:noFill/>
        </p:spPr>
        <p:txBody>
          <a:bodyPr wrap="square" rtlCol="0">
            <a:spAutoFit/>
          </a:bodyPr>
          <a:lstStyle/>
          <a:p>
            <a:pPr>
              <a:lnSpc>
                <a:spcPts val="2000"/>
              </a:lnSpc>
            </a:pPr>
            <a:r>
              <a:rPr lang="zh-TW" altLang="en-US" sz="2000" dirty="0">
                <a:solidFill>
                  <a:schemeClr val="tx1">
                    <a:lumMod val="50000"/>
                    <a:lumOff val="50000"/>
                  </a:schemeClr>
                </a:solidFill>
                <a:latin typeface="微軟正黑體" panose="020B0604030504040204" pitchFamily="34" charset="-120"/>
                <a:ea typeface="微軟正黑體" panose="020B0604030504040204" pitchFamily="34" charset="-120"/>
              </a:rPr>
              <a:t>提供多元的前後端環境選擇</a:t>
            </a:r>
            <a:endParaRPr lang="en-US" sz="2000"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a:t>
            </a:r>
          </a:p>
        </p:txBody>
      </p:sp>
      <p:grpSp>
        <p:nvGrpSpPr>
          <p:cNvPr id="4" name="群組 3">
            <a:extLst>
              <a:ext uri="{FF2B5EF4-FFF2-40B4-BE49-F238E27FC236}">
                <a16:creationId xmlns:a16="http://schemas.microsoft.com/office/drawing/2014/main" id="{08A08514-FC48-46EA-B27A-7826AD04C213}"/>
              </a:ext>
            </a:extLst>
          </p:cNvPr>
          <p:cNvGrpSpPr/>
          <p:nvPr/>
        </p:nvGrpSpPr>
        <p:grpSpPr>
          <a:xfrm>
            <a:off x="-1" y="1896358"/>
            <a:ext cx="6754762" cy="4005034"/>
            <a:chOff x="-1" y="1814718"/>
            <a:chExt cx="6754762" cy="4005034"/>
          </a:xfrm>
        </p:grpSpPr>
        <p:grpSp>
          <p:nvGrpSpPr>
            <p:cNvPr id="8" name="Group 7">
              <a:extLst>
                <a:ext uri="{FF2B5EF4-FFF2-40B4-BE49-F238E27FC236}">
                  <a16:creationId xmlns:a16="http://schemas.microsoft.com/office/drawing/2014/main" id="{1A7C8771-E8BA-47C4-912A-6B74A3D176FE}"/>
                </a:ext>
              </a:extLst>
            </p:cNvPr>
            <p:cNvGrpSpPr/>
            <p:nvPr/>
          </p:nvGrpSpPr>
          <p:grpSpPr>
            <a:xfrm>
              <a:off x="-1" y="1814718"/>
              <a:ext cx="6754762" cy="4005034"/>
              <a:chOff x="-1" y="1677489"/>
              <a:chExt cx="6754762" cy="3165759"/>
            </a:xfrm>
          </p:grpSpPr>
          <p:sp>
            <p:nvSpPr>
              <p:cNvPr id="58" name="Shape 8">
                <a:extLst>
                  <a:ext uri="{FF2B5EF4-FFF2-40B4-BE49-F238E27FC236}">
                    <a16:creationId xmlns:a16="http://schemas.microsoft.com/office/drawing/2014/main" id="{BD911D94-A65F-49EA-9AA3-07FA0765857A}"/>
                  </a:ext>
                </a:extLst>
              </p:cNvPr>
              <p:cNvSpPr/>
              <p:nvPr/>
            </p:nvSpPr>
            <p:spPr>
              <a:xfrm>
                <a:off x="-1" y="3935788"/>
                <a:ext cx="3623713" cy="90746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B6AF9D"/>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93" name="Shape 12">
                <a:extLst>
                  <a:ext uri="{FF2B5EF4-FFF2-40B4-BE49-F238E27FC236}">
                    <a16:creationId xmlns:a16="http://schemas.microsoft.com/office/drawing/2014/main" id="{0B9F71EA-0C7E-41FA-8AF7-984DFE059D9B}"/>
                  </a:ext>
                </a:extLst>
              </p:cNvPr>
              <p:cNvSpPr/>
              <p:nvPr/>
            </p:nvSpPr>
            <p:spPr>
              <a:xfrm>
                <a:off x="3618570" y="3935788"/>
                <a:ext cx="641360" cy="907460"/>
              </a:xfrm>
              <a:custGeom>
                <a:avLst/>
                <a:gdLst/>
                <a:ahLst/>
                <a:cxnLst>
                  <a:cxn ang="0">
                    <a:pos x="wd2" y="hd2"/>
                  </a:cxn>
                  <a:cxn ang="5400000">
                    <a:pos x="wd2" y="hd2"/>
                  </a:cxn>
                  <a:cxn ang="10800000">
                    <a:pos x="wd2" y="hd2"/>
                  </a:cxn>
                  <a:cxn ang="16200000">
                    <a:pos x="wd2" y="hd2"/>
                  </a:cxn>
                </a:cxnLst>
                <a:rect l="0" t="0" r="r" b="b"/>
                <a:pathLst>
                  <a:path w="21600" h="21600" extrusionOk="0">
                    <a:moveTo>
                      <a:pt x="21600" y="19086"/>
                    </a:moveTo>
                    <a:lnTo>
                      <a:pt x="21600" y="3114"/>
                    </a:lnTo>
                    <a:lnTo>
                      <a:pt x="0" y="0"/>
                    </a:lnTo>
                    <a:lnTo>
                      <a:pt x="0" y="21600"/>
                    </a:lnTo>
                    <a:cubicBezTo>
                      <a:pt x="0" y="21600"/>
                      <a:pt x="21600" y="19086"/>
                      <a:pt x="21600" y="19086"/>
                    </a:cubicBezTo>
                    <a:close/>
                  </a:path>
                </a:pathLst>
              </a:custGeom>
              <a:solidFill>
                <a:srgbClr val="D8CFB6"/>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97" name="Shape 16">
                <a:extLst>
                  <a:ext uri="{FF2B5EF4-FFF2-40B4-BE49-F238E27FC236}">
                    <a16:creationId xmlns:a16="http://schemas.microsoft.com/office/drawing/2014/main" id="{A48F3621-E724-459E-BF56-E6614FA91294}"/>
                  </a:ext>
                </a:extLst>
              </p:cNvPr>
              <p:cNvSpPr/>
              <p:nvPr/>
            </p:nvSpPr>
            <p:spPr>
              <a:xfrm>
                <a:off x="4260072" y="4068304"/>
                <a:ext cx="2494689" cy="67098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B6AF9D">
                  <a:alpha val="50000"/>
                </a:srgb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96" name="Shape 15">
                <a:extLst>
                  <a:ext uri="{FF2B5EF4-FFF2-40B4-BE49-F238E27FC236}">
                    <a16:creationId xmlns:a16="http://schemas.microsoft.com/office/drawing/2014/main" id="{560D5EE4-E1C6-4148-9C1B-50F8AE60AE98}"/>
                  </a:ext>
                </a:extLst>
              </p:cNvPr>
              <p:cNvSpPr/>
              <p:nvPr/>
            </p:nvSpPr>
            <p:spPr>
              <a:xfrm>
                <a:off x="4260072" y="3176953"/>
                <a:ext cx="2494689" cy="67098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929292">
                  <a:alpha val="50000"/>
                </a:srgb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57" name="Shape 7">
                <a:extLst>
                  <a:ext uri="{FF2B5EF4-FFF2-40B4-BE49-F238E27FC236}">
                    <a16:creationId xmlns:a16="http://schemas.microsoft.com/office/drawing/2014/main" id="{03F3DBB4-FD54-46EE-8FF7-9D55C234E76D}"/>
                  </a:ext>
                </a:extLst>
              </p:cNvPr>
              <p:cNvSpPr/>
              <p:nvPr/>
            </p:nvSpPr>
            <p:spPr>
              <a:xfrm>
                <a:off x="-1" y="2807292"/>
                <a:ext cx="3623713" cy="90746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929292"/>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92" name="Shape 11">
                <a:extLst>
                  <a:ext uri="{FF2B5EF4-FFF2-40B4-BE49-F238E27FC236}">
                    <a16:creationId xmlns:a16="http://schemas.microsoft.com/office/drawing/2014/main" id="{13B18A62-2010-4937-A4D9-823A636BE6BF}"/>
                  </a:ext>
                </a:extLst>
              </p:cNvPr>
              <p:cNvSpPr/>
              <p:nvPr/>
            </p:nvSpPr>
            <p:spPr>
              <a:xfrm>
                <a:off x="3618570" y="2807291"/>
                <a:ext cx="641360" cy="10383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7641"/>
                    </a:lnTo>
                    <a:lnTo>
                      <a:pt x="0" y="0"/>
                    </a:lnTo>
                    <a:lnTo>
                      <a:pt x="0" y="18878"/>
                    </a:lnTo>
                    <a:cubicBezTo>
                      <a:pt x="0" y="18878"/>
                      <a:pt x="21600" y="21600"/>
                      <a:pt x="21600" y="21600"/>
                    </a:cubicBezTo>
                    <a:close/>
                  </a:path>
                </a:pathLst>
              </a:custGeom>
              <a:solidFill>
                <a:schemeClr val="bg1">
                  <a:lumMod val="65000"/>
                </a:scheme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56" name="Shape 6">
                <a:extLst>
                  <a:ext uri="{FF2B5EF4-FFF2-40B4-BE49-F238E27FC236}">
                    <a16:creationId xmlns:a16="http://schemas.microsoft.com/office/drawing/2014/main" id="{6F28C801-1C03-40E6-B5EC-2AF4157A15C9}"/>
                  </a:ext>
                </a:extLst>
              </p:cNvPr>
              <p:cNvSpPr/>
              <p:nvPr/>
            </p:nvSpPr>
            <p:spPr>
              <a:xfrm>
                <a:off x="-1" y="1677489"/>
                <a:ext cx="3623713" cy="90746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758187"/>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60" name="Shape 10">
                <a:extLst>
                  <a:ext uri="{FF2B5EF4-FFF2-40B4-BE49-F238E27FC236}">
                    <a16:creationId xmlns:a16="http://schemas.microsoft.com/office/drawing/2014/main" id="{B6FED07F-55F5-4FB2-812F-69FEED9A24C1}"/>
                  </a:ext>
                </a:extLst>
              </p:cNvPr>
              <p:cNvSpPr/>
              <p:nvPr/>
            </p:nvSpPr>
            <p:spPr>
              <a:xfrm>
                <a:off x="3618570" y="1677489"/>
                <a:ext cx="641360" cy="1274774"/>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10231"/>
                    </a:lnTo>
                    <a:lnTo>
                      <a:pt x="0" y="0"/>
                    </a:lnTo>
                    <a:lnTo>
                      <a:pt x="0" y="15376"/>
                    </a:lnTo>
                    <a:cubicBezTo>
                      <a:pt x="0" y="15376"/>
                      <a:pt x="21600" y="21600"/>
                      <a:pt x="21600" y="21600"/>
                    </a:cubicBezTo>
                    <a:close/>
                  </a:path>
                </a:pathLst>
              </a:custGeom>
              <a:solidFill>
                <a:srgbClr val="929292"/>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95" name="Shape 14">
                <a:extLst>
                  <a:ext uri="{FF2B5EF4-FFF2-40B4-BE49-F238E27FC236}">
                    <a16:creationId xmlns:a16="http://schemas.microsoft.com/office/drawing/2014/main" id="{DF60D59A-6EA6-4489-AC01-17B3C3BF1F8D}"/>
                  </a:ext>
                </a:extLst>
              </p:cNvPr>
              <p:cNvSpPr/>
              <p:nvPr/>
            </p:nvSpPr>
            <p:spPr>
              <a:xfrm>
                <a:off x="4260072" y="2284291"/>
                <a:ext cx="2494689" cy="67098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021113">
                  <a:alpha val="50000"/>
                </a:srgb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89" name="TextBox 88">
                <a:extLst>
                  <a:ext uri="{FF2B5EF4-FFF2-40B4-BE49-F238E27FC236}">
                    <a16:creationId xmlns:a16="http://schemas.microsoft.com/office/drawing/2014/main" id="{2421856B-0AAA-40FE-8F24-28291DAA000F}"/>
                  </a:ext>
                </a:extLst>
              </p:cNvPr>
              <p:cNvSpPr txBox="1"/>
              <p:nvPr/>
            </p:nvSpPr>
            <p:spPr>
              <a:xfrm>
                <a:off x="5081442" y="2462825"/>
                <a:ext cx="851947" cy="316265"/>
              </a:xfrm>
              <a:prstGeom prst="rect">
                <a:avLst/>
              </a:prstGeom>
              <a:noFill/>
            </p:spPr>
            <p:txBody>
              <a:bodyPr wrap="square" rtlCol="0">
                <a:spAutoFit/>
              </a:bodyPr>
              <a:lstStyle/>
              <a:p>
                <a:r>
                  <a:rPr lang="zh-TW" altLang="en-US" sz="2000" b="1" dirty="0">
                    <a:solidFill>
                      <a:schemeClr val="bg1"/>
                    </a:solidFill>
                    <a:latin typeface="Montserrat Light" panose="00000400000000000000" pitchFamily="50" charset="0"/>
                  </a:rPr>
                  <a:t>開發</a:t>
                </a:r>
                <a:endParaRPr lang="en-US" sz="2000" b="1" dirty="0">
                  <a:solidFill>
                    <a:schemeClr val="bg1"/>
                  </a:solidFill>
                  <a:latin typeface="Montserrat Light" panose="00000400000000000000" pitchFamily="50" charset="0"/>
                </a:endParaRPr>
              </a:p>
            </p:txBody>
          </p:sp>
        </p:grpSp>
        <p:pic>
          <p:nvPicPr>
            <p:cNvPr id="40" name="圖形 39">
              <a:extLst>
                <a:ext uri="{FF2B5EF4-FFF2-40B4-BE49-F238E27FC236}">
                  <a16:creationId xmlns:a16="http://schemas.microsoft.com/office/drawing/2014/main" id="{7D87E77B-6736-44E6-AB3E-98BA4C6C3C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80404" y="1902735"/>
              <a:ext cx="972000" cy="972000"/>
            </a:xfrm>
            <a:prstGeom prst="rect">
              <a:avLst/>
            </a:prstGeom>
          </p:spPr>
        </p:pic>
        <p:pic>
          <p:nvPicPr>
            <p:cNvPr id="41" name="圖形 40">
              <a:extLst>
                <a:ext uri="{FF2B5EF4-FFF2-40B4-BE49-F238E27FC236}">
                  <a16:creationId xmlns:a16="http://schemas.microsoft.com/office/drawing/2014/main" id="{1E691F5E-2BA6-4E59-A278-96DD600C3AD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80404" y="3326324"/>
              <a:ext cx="972000" cy="972000"/>
            </a:xfrm>
            <a:prstGeom prst="rect">
              <a:avLst/>
            </a:prstGeom>
          </p:spPr>
        </p:pic>
        <p:pic>
          <p:nvPicPr>
            <p:cNvPr id="3" name="圖形 2">
              <a:extLst>
                <a:ext uri="{FF2B5EF4-FFF2-40B4-BE49-F238E27FC236}">
                  <a16:creationId xmlns:a16="http://schemas.microsoft.com/office/drawing/2014/main" id="{A0EBC92E-749F-478F-84E9-1CC35580D7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2836" y="4759722"/>
              <a:ext cx="972000" cy="972000"/>
            </a:xfrm>
            <a:prstGeom prst="rect">
              <a:avLst/>
            </a:prstGeom>
          </p:spPr>
        </p:pic>
        <p:sp>
          <p:nvSpPr>
            <p:cNvPr id="45" name="TextBox 88">
              <a:extLst>
                <a:ext uri="{FF2B5EF4-FFF2-40B4-BE49-F238E27FC236}">
                  <a16:creationId xmlns:a16="http://schemas.microsoft.com/office/drawing/2014/main" id="{F24277EB-8EF3-47C9-A1D3-02789F9F9B50}"/>
                </a:ext>
              </a:extLst>
            </p:cNvPr>
            <p:cNvSpPr txBox="1"/>
            <p:nvPr/>
          </p:nvSpPr>
          <p:spPr>
            <a:xfrm>
              <a:off x="5081442" y="3938071"/>
              <a:ext cx="851947" cy="400110"/>
            </a:xfrm>
            <a:prstGeom prst="rect">
              <a:avLst/>
            </a:prstGeom>
            <a:noFill/>
          </p:spPr>
          <p:txBody>
            <a:bodyPr wrap="square" rtlCol="0">
              <a:spAutoFit/>
            </a:bodyPr>
            <a:lstStyle/>
            <a:p>
              <a:r>
                <a:rPr lang="zh-TW" altLang="en-US" sz="2000" b="1" dirty="0">
                  <a:solidFill>
                    <a:schemeClr val="bg1"/>
                  </a:solidFill>
                  <a:latin typeface="Montserrat Light" panose="00000400000000000000" pitchFamily="50" charset="0"/>
                </a:rPr>
                <a:t>維運</a:t>
              </a:r>
              <a:endParaRPr lang="en-US" sz="2000" b="1" dirty="0">
                <a:solidFill>
                  <a:schemeClr val="bg1"/>
                </a:solidFill>
                <a:latin typeface="Montserrat Light" panose="00000400000000000000" pitchFamily="50" charset="0"/>
              </a:endParaRPr>
            </a:p>
          </p:txBody>
        </p:sp>
        <p:sp>
          <p:nvSpPr>
            <p:cNvPr id="46" name="TextBox 88">
              <a:extLst>
                <a:ext uri="{FF2B5EF4-FFF2-40B4-BE49-F238E27FC236}">
                  <a16:creationId xmlns:a16="http://schemas.microsoft.com/office/drawing/2014/main" id="{8AC407B4-7365-409F-8C74-2C84DB2D34C1}"/>
                </a:ext>
              </a:extLst>
            </p:cNvPr>
            <p:cNvSpPr txBox="1"/>
            <p:nvPr/>
          </p:nvSpPr>
          <p:spPr>
            <a:xfrm>
              <a:off x="5081442" y="5039112"/>
              <a:ext cx="851947" cy="400110"/>
            </a:xfrm>
            <a:prstGeom prst="rect">
              <a:avLst/>
            </a:prstGeom>
            <a:noFill/>
          </p:spPr>
          <p:txBody>
            <a:bodyPr wrap="square" rtlCol="0">
              <a:spAutoFit/>
            </a:bodyPr>
            <a:lstStyle/>
            <a:p>
              <a:r>
                <a:rPr lang="zh-TW" altLang="en-US" sz="2000" b="1" dirty="0">
                  <a:solidFill>
                    <a:schemeClr val="bg1"/>
                  </a:solidFill>
                  <a:latin typeface="Montserrat Light" panose="00000400000000000000" pitchFamily="50" charset="0"/>
                </a:rPr>
                <a:t>憑證</a:t>
              </a:r>
              <a:endParaRPr lang="en-US" sz="2000" b="1" dirty="0">
                <a:solidFill>
                  <a:schemeClr val="bg1"/>
                </a:solidFill>
                <a:latin typeface="Montserrat Light" panose="00000400000000000000" pitchFamily="50" charset="0"/>
              </a:endParaRPr>
            </a:p>
          </p:txBody>
        </p:sp>
      </p:grpSp>
      <p:sp>
        <p:nvSpPr>
          <p:cNvPr id="23" name="TextBox 71">
            <a:extLst>
              <a:ext uri="{FF2B5EF4-FFF2-40B4-BE49-F238E27FC236}">
                <a16:creationId xmlns:a16="http://schemas.microsoft.com/office/drawing/2014/main" id="{97014D94-41E5-4F84-BBEF-CD15A292D4D5}"/>
              </a:ext>
            </a:extLst>
          </p:cNvPr>
          <p:cNvSpPr txBox="1"/>
          <p:nvPr/>
        </p:nvSpPr>
        <p:spPr>
          <a:xfrm>
            <a:off x="6981028" y="2946360"/>
            <a:ext cx="4987814" cy="582339"/>
          </a:xfrm>
          <a:prstGeom prst="rect">
            <a:avLst/>
          </a:prstGeom>
          <a:noFill/>
        </p:spPr>
        <p:txBody>
          <a:bodyPr wrap="square" rtlCol="0">
            <a:spAutoFit/>
          </a:bodyPr>
          <a:lstStyle/>
          <a:p>
            <a:pPr>
              <a:lnSpc>
                <a:spcPts val="2000"/>
              </a:lnSpc>
            </a:pPr>
            <a:r>
              <a:rPr lang="zh-TW" altLang="en-US" sz="1400" dirty="0">
                <a:solidFill>
                  <a:schemeClr val="tx1">
                    <a:lumMod val="50000"/>
                    <a:lumOff val="50000"/>
                  </a:schemeClr>
                </a:solidFill>
                <a:latin typeface="微軟正黑體" panose="020B0604030504040204" pitchFamily="34" charset="-120"/>
                <a:ea typeface="微軟正黑體" panose="020B0604030504040204" pitchFamily="34" charset="-120"/>
              </a:rPr>
              <a:t>讓一個伺服器能夠存在多種不同環境的應用程式</a:t>
            </a:r>
            <a:endParaRPr lang="en-US" altLang="zh-TW" sz="1400" dirty="0">
              <a:solidFill>
                <a:schemeClr val="tx1">
                  <a:lumMod val="50000"/>
                  <a:lumOff val="50000"/>
                </a:schemeClr>
              </a:solidFill>
              <a:latin typeface="微軟正黑體" panose="020B0604030504040204" pitchFamily="34" charset="-120"/>
              <a:ea typeface="微軟正黑體" panose="020B0604030504040204" pitchFamily="34" charset="-120"/>
            </a:endParaRPr>
          </a:p>
          <a:p>
            <a:pPr>
              <a:lnSpc>
                <a:spcPts val="2000"/>
              </a:lnSpc>
            </a:pPr>
            <a:r>
              <a:rPr lang="zh-TW" altLang="en-US" sz="1400" dirty="0">
                <a:solidFill>
                  <a:schemeClr val="tx1">
                    <a:lumMod val="50000"/>
                    <a:lumOff val="50000"/>
                  </a:schemeClr>
                </a:solidFill>
                <a:latin typeface="微軟正黑體" panose="020B0604030504040204" pitchFamily="34" charset="-120"/>
                <a:ea typeface="微軟正黑體" panose="020B0604030504040204" pitchFamily="34" charset="-120"/>
              </a:rPr>
              <a:t>如</a:t>
            </a:r>
            <a:r>
              <a:rPr lang="en-US" altLang="zh-TW" sz="1400" dirty="0">
                <a:solidFill>
                  <a:schemeClr val="tx1">
                    <a:lumMod val="50000"/>
                    <a:lumOff val="50000"/>
                  </a:schemeClr>
                </a:solidFill>
                <a:latin typeface="微軟正黑體" panose="020B0604030504040204" pitchFamily="34" charset="-120"/>
                <a:ea typeface="微軟正黑體" panose="020B0604030504040204" pitchFamily="34" charset="-120"/>
              </a:rPr>
              <a:t>PHP, .NET, Node.js,</a:t>
            </a:r>
            <a:r>
              <a:rPr lang="zh-TW" altLang="en-US" sz="1400" dirty="0">
                <a:solidFill>
                  <a:schemeClr val="tx1">
                    <a:lumMod val="50000"/>
                    <a:lumOff val="50000"/>
                  </a:schemeClr>
                </a:solidFill>
                <a:latin typeface="微軟正黑體" panose="020B0604030504040204" pitchFamily="34" charset="-120"/>
                <a:ea typeface="微軟正黑體" panose="020B0604030504040204" pitchFamily="34" charset="-120"/>
              </a:rPr>
              <a:t> 資料庫</a:t>
            </a:r>
            <a:r>
              <a:rPr lang="en-US" altLang="zh-TW" sz="1400" dirty="0">
                <a:solidFill>
                  <a:schemeClr val="tx1">
                    <a:lumMod val="50000"/>
                    <a:lumOff val="50000"/>
                  </a:schemeClr>
                </a:solidFill>
                <a:latin typeface="微軟正黑體" panose="020B0604030504040204" pitchFamily="34" charset="-120"/>
                <a:ea typeface="微軟正黑體" panose="020B0604030504040204" pitchFamily="34" charset="-120"/>
              </a:rPr>
              <a:t> …</a:t>
            </a:r>
            <a:r>
              <a:rPr lang="zh-TW" altLang="en-US" sz="1400" dirty="0">
                <a:solidFill>
                  <a:schemeClr val="tx1">
                    <a:lumMod val="50000"/>
                    <a:lumOff val="50000"/>
                  </a:schemeClr>
                </a:solidFill>
                <a:latin typeface="微軟正黑體" panose="020B0604030504040204" pitchFamily="34" charset="-120"/>
                <a:ea typeface="微軟正黑體" panose="020B0604030504040204" pitchFamily="34" charset="-120"/>
              </a:rPr>
              <a:t>等，並各自存在獨立的容器中</a:t>
            </a:r>
            <a:endParaRPr lang="en-US" altLang="zh-TW" sz="1400"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26" name="TextBox 71">
            <a:extLst>
              <a:ext uri="{FF2B5EF4-FFF2-40B4-BE49-F238E27FC236}">
                <a16:creationId xmlns:a16="http://schemas.microsoft.com/office/drawing/2014/main" id="{74AAD73A-A829-4204-809C-51CBD155497A}"/>
              </a:ext>
            </a:extLst>
          </p:cNvPr>
          <p:cNvSpPr txBox="1"/>
          <p:nvPr/>
        </p:nvSpPr>
        <p:spPr>
          <a:xfrm>
            <a:off x="6981025" y="3792101"/>
            <a:ext cx="4267113" cy="348813"/>
          </a:xfrm>
          <a:prstGeom prst="rect">
            <a:avLst/>
          </a:prstGeom>
          <a:noFill/>
        </p:spPr>
        <p:txBody>
          <a:bodyPr wrap="square" rtlCol="0">
            <a:spAutoFit/>
          </a:bodyPr>
          <a:lstStyle/>
          <a:p>
            <a:pPr>
              <a:lnSpc>
                <a:spcPts val="2000"/>
              </a:lnSpc>
            </a:pPr>
            <a:r>
              <a:rPr lang="zh-TW" altLang="en-US" sz="2000" dirty="0">
                <a:solidFill>
                  <a:schemeClr val="tx1">
                    <a:lumMod val="50000"/>
                    <a:lumOff val="50000"/>
                  </a:schemeClr>
                </a:solidFill>
                <a:latin typeface="微軟正黑體" panose="020B0604030504040204" pitchFamily="34" charset="-120"/>
                <a:ea typeface="微軟正黑體" panose="020B0604030504040204" pitchFamily="34" charset="-120"/>
              </a:rPr>
              <a:t>簡化運行後的維護與管理</a:t>
            </a:r>
            <a:endParaRPr lang="en-US" sz="2000"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27" name="TextBox 71">
            <a:extLst>
              <a:ext uri="{FF2B5EF4-FFF2-40B4-BE49-F238E27FC236}">
                <a16:creationId xmlns:a16="http://schemas.microsoft.com/office/drawing/2014/main" id="{F4D5F973-0AA3-4A83-81EF-B0B4480D1870}"/>
              </a:ext>
            </a:extLst>
          </p:cNvPr>
          <p:cNvSpPr txBox="1"/>
          <p:nvPr/>
        </p:nvSpPr>
        <p:spPr>
          <a:xfrm>
            <a:off x="6981027" y="4074432"/>
            <a:ext cx="4987815" cy="582339"/>
          </a:xfrm>
          <a:prstGeom prst="rect">
            <a:avLst/>
          </a:prstGeom>
          <a:noFill/>
        </p:spPr>
        <p:txBody>
          <a:bodyPr wrap="square" rtlCol="0">
            <a:spAutoFit/>
          </a:bodyPr>
          <a:lstStyle/>
          <a:p>
            <a:pPr>
              <a:lnSpc>
                <a:spcPts val="2000"/>
              </a:lnSpc>
            </a:pPr>
            <a:r>
              <a:rPr lang="zh-TW" altLang="en-US" sz="1400" dirty="0">
                <a:solidFill>
                  <a:schemeClr val="tx1">
                    <a:lumMod val="50000"/>
                    <a:lumOff val="50000"/>
                  </a:schemeClr>
                </a:solidFill>
                <a:latin typeface="微軟正黑體" panose="020B0604030504040204" pitchFamily="34" charset="-120"/>
                <a:ea typeface="微軟正黑體" panose="020B0604030504040204" pitchFamily="34" charset="-120"/>
              </a:rPr>
              <a:t>設定自動建置應用程式並自動配置子網域與</a:t>
            </a:r>
            <a:r>
              <a:rPr lang="en-US" altLang="zh-TW" sz="1400" dirty="0">
                <a:solidFill>
                  <a:schemeClr val="tx1">
                    <a:lumMod val="50000"/>
                    <a:lumOff val="50000"/>
                  </a:schemeClr>
                </a:solidFill>
                <a:latin typeface="微軟正黑體" panose="020B0604030504040204" pitchFamily="34" charset="-120"/>
                <a:ea typeface="微軟正黑體" panose="020B0604030504040204" pitchFamily="34" charset="-120"/>
              </a:rPr>
              <a:t>Port</a:t>
            </a:r>
          </a:p>
          <a:p>
            <a:pPr>
              <a:lnSpc>
                <a:spcPts val="2000"/>
              </a:lnSpc>
            </a:pPr>
            <a:r>
              <a:rPr lang="zh-TW" altLang="en-US" sz="1400" dirty="0">
                <a:solidFill>
                  <a:schemeClr val="tx1">
                    <a:lumMod val="50000"/>
                    <a:lumOff val="50000"/>
                  </a:schemeClr>
                </a:solidFill>
                <a:latin typeface="微軟正黑體" panose="020B0604030504040204" pitchFamily="34" charset="-120"/>
                <a:ea typeface="微軟正黑體" panose="020B0604030504040204" pitchFamily="34" charset="-120"/>
              </a:rPr>
              <a:t>只需要通過管理容器便能開啟、暫停、移除應用程式</a:t>
            </a:r>
            <a:endParaRPr lang="en-US" sz="1400"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28" name="TextBox 71">
            <a:extLst>
              <a:ext uri="{FF2B5EF4-FFF2-40B4-BE49-F238E27FC236}">
                <a16:creationId xmlns:a16="http://schemas.microsoft.com/office/drawing/2014/main" id="{7747FEE8-CC25-4EE9-A207-D3101065A6B5}"/>
              </a:ext>
            </a:extLst>
          </p:cNvPr>
          <p:cNvSpPr txBox="1"/>
          <p:nvPr/>
        </p:nvSpPr>
        <p:spPr>
          <a:xfrm>
            <a:off x="6981027" y="4917291"/>
            <a:ext cx="4267113" cy="348813"/>
          </a:xfrm>
          <a:prstGeom prst="rect">
            <a:avLst/>
          </a:prstGeom>
          <a:noFill/>
        </p:spPr>
        <p:txBody>
          <a:bodyPr wrap="square" rtlCol="0">
            <a:spAutoFit/>
          </a:bodyPr>
          <a:lstStyle/>
          <a:p>
            <a:pPr>
              <a:lnSpc>
                <a:spcPts val="2000"/>
              </a:lnSpc>
            </a:pPr>
            <a:r>
              <a:rPr lang="zh-TW" altLang="en-US" sz="2000" dirty="0">
                <a:solidFill>
                  <a:schemeClr val="tx1">
                    <a:lumMod val="50000"/>
                    <a:lumOff val="50000"/>
                  </a:schemeClr>
                </a:solidFill>
                <a:latin typeface="微軟正黑體" panose="020B0604030504040204" pitchFamily="34" charset="-120"/>
                <a:ea typeface="微軟正黑體" panose="020B0604030504040204" pitchFamily="34" charset="-120"/>
              </a:rPr>
              <a:t>對</a:t>
            </a:r>
            <a:r>
              <a:rPr lang="en-US" altLang="zh-TW" sz="2000" dirty="0">
                <a:solidFill>
                  <a:schemeClr val="tx1">
                    <a:lumMod val="50000"/>
                    <a:lumOff val="50000"/>
                  </a:schemeClr>
                </a:solidFill>
                <a:latin typeface="微軟正黑體" panose="020B0604030504040204" pitchFamily="34" charset="-120"/>
                <a:ea typeface="微軟正黑體" panose="020B0604030504040204" pitchFamily="34" charset="-120"/>
              </a:rPr>
              <a:t>Docker</a:t>
            </a:r>
            <a:r>
              <a:rPr lang="zh-TW" altLang="en-US" sz="2000" dirty="0">
                <a:solidFill>
                  <a:schemeClr val="tx1">
                    <a:lumMod val="50000"/>
                    <a:lumOff val="50000"/>
                  </a:schemeClr>
                </a:solidFill>
                <a:latin typeface="微軟正黑體" panose="020B0604030504040204" pitchFamily="34" charset="-120"/>
                <a:ea typeface="微軟正黑體" panose="020B0604030504040204" pitchFamily="34" charset="-120"/>
              </a:rPr>
              <a:t>環境管理憑證</a:t>
            </a:r>
            <a:endParaRPr lang="en-US" sz="2000"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29" name="TextBox 71">
            <a:extLst>
              <a:ext uri="{FF2B5EF4-FFF2-40B4-BE49-F238E27FC236}">
                <a16:creationId xmlns:a16="http://schemas.microsoft.com/office/drawing/2014/main" id="{60D46A9D-D8CA-4C66-B10F-39D54AC65D24}"/>
              </a:ext>
            </a:extLst>
          </p:cNvPr>
          <p:cNvSpPr txBox="1"/>
          <p:nvPr/>
        </p:nvSpPr>
        <p:spPr>
          <a:xfrm>
            <a:off x="6981029" y="5199622"/>
            <a:ext cx="4987815" cy="582339"/>
          </a:xfrm>
          <a:prstGeom prst="rect">
            <a:avLst/>
          </a:prstGeom>
          <a:noFill/>
        </p:spPr>
        <p:txBody>
          <a:bodyPr wrap="square" rtlCol="0">
            <a:spAutoFit/>
          </a:bodyPr>
          <a:lstStyle/>
          <a:p>
            <a:pPr>
              <a:lnSpc>
                <a:spcPts val="2000"/>
              </a:lnSpc>
            </a:pPr>
            <a:r>
              <a:rPr lang="zh-TW" altLang="en-US" sz="1400" dirty="0">
                <a:solidFill>
                  <a:schemeClr val="tx1">
                    <a:lumMod val="50000"/>
                    <a:lumOff val="50000"/>
                  </a:schemeClr>
                </a:solidFill>
                <a:latin typeface="微軟正黑體" panose="020B0604030504040204" pitchFamily="34" charset="-120"/>
                <a:ea typeface="微軟正黑體" panose="020B0604030504040204" pitchFamily="34" charset="-120"/>
              </a:rPr>
              <a:t>本專題欲使用反向代理來使憑證設定在此反向代理</a:t>
            </a:r>
            <a:endParaRPr lang="en-US" altLang="zh-TW" sz="1400" dirty="0">
              <a:solidFill>
                <a:schemeClr val="tx1">
                  <a:lumMod val="50000"/>
                  <a:lumOff val="50000"/>
                </a:schemeClr>
              </a:solidFill>
              <a:latin typeface="微軟正黑體" panose="020B0604030504040204" pitchFamily="34" charset="-120"/>
              <a:ea typeface="微軟正黑體" panose="020B0604030504040204" pitchFamily="34" charset="-120"/>
            </a:endParaRPr>
          </a:p>
          <a:p>
            <a:pPr>
              <a:lnSpc>
                <a:spcPts val="2000"/>
              </a:lnSpc>
            </a:pPr>
            <a:r>
              <a:rPr lang="zh-TW" altLang="en-US" sz="1400" dirty="0">
                <a:solidFill>
                  <a:schemeClr val="tx1">
                    <a:lumMod val="50000"/>
                    <a:lumOff val="50000"/>
                  </a:schemeClr>
                </a:solidFill>
                <a:latin typeface="微軟正黑體" panose="020B0604030504040204" pitchFamily="34" charset="-120"/>
                <a:ea typeface="微軟正黑體" panose="020B0604030504040204" pitchFamily="34" charset="-120"/>
              </a:rPr>
              <a:t>使</a:t>
            </a:r>
            <a:r>
              <a:rPr lang="en-US" altLang="zh-TW" sz="1400" dirty="0">
                <a:solidFill>
                  <a:schemeClr val="tx1">
                    <a:lumMod val="50000"/>
                    <a:lumOff val="50000"/>
                  </a:schemeClr>
                </a:solidFill>
                <a:latin typeface="微軟正黑體" panose="020B0604030504040204" pitchFamily="34" charset="-120"/>
                <a:ea typeface="微軟正黑體" panose="020B0604030504040204" pitchFamily="34" charset="-120"/>
              </a:rPr>
              <a:t>Docker</a:t>
            </a:r>
            <a:r>
              <a:rPr lang="zh-TW" altLang="en-US" sz="1400" dirty="0">
                <a:solidFill>
                  <a:schemeClr val="tx1">
                    <a:lumMod val="50000"/>
                    <a:lumOff val="50000"/>
                  </a:schemeClr>
                </a:solidFill>
                <a:latin typeface="微軟正黑體" panose="020B0604030504040204" pitchFamily="34" charset="-120"/>
                <a:ea typeface="微軟正黑體" panose="020B0604030504040204" pitchFamily="34" charset="-120"/>
              </a:rPr>
              <a:t>要使用憑證時不需將憑證包進容器環境中</a:t>
            </a:r>
            <a:endParaRPr lang="en-US" sz="1400"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19805544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01" name="矩形: 圓角 100">
            <a:extLst>
              <a:ext uri="{FF2B5EF4-FFF2-40B4-BE49-F238E27FC236}">
                <a16:creationId xmlns:a16="http://schemas.microsoft.com/office/drawing/2014/main" id="{D7ACB389-8BD8-4651-8A49-ABEBC6BD43D1}"/>
              </a:ext>
            </a:extLst>
          </p:cNvPr>
          <p:cNvSpPr/>
          <p:nvPr/>
        </p:nvSpPr>
        <p:spPr>
          <a:xfrm>
            <a:off x="2284727" y="3164212"/>
            <a:ext cx="7622545" cy="3633150"/>
          </a:xfrm>
          <a:prstGeom prst="roundRect">
            <a:avLst>
              <a:gd name="adj" fmla="val 8377"/>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A0A09E"/>
              </a:solidFill>
              <a:latin typeface="微軟正黑體" panose="020B0604030504040204" pitchFamily="34" charset="-120"/>
              <a:ea typeface="微軟正黑體" panose="020B0604030504040204" pitchFamily="34" charset="-120"/>
            </a:endParaRPr>
          </a:p>
        </p:txBody>
      </p:sp>
      <p:sp>
        <p:nvSpPr>
          <p:cNvPr id="102" name="矩形: 圓角化同側角落 101">
            <a:extLst>
              <a:ext uri="{FF2B5EF4-FFF2-40B4-BE49-F238E27FC236}">
                <a16:creationId xmlns:a16="http://schemas.microsoft.com/office/drawing/2014/main" id="{37C59949-FC8C-45C9-9225-9B0687657724}"/>
              </a:ext>
            </a:extLst>
          </p:cNvPr>
          <p:cNvSpPr/>
          <p:nvPr/>
        </p:nvSpPr>
        <p:spPr>
          <a:xfrm>
            <a:off x="2284728" y="3162841"/>
            <a:ext cx="7620344" cy="533488"/>
          </a:xfrm>
          <a:prstGeom prst="round2SameRect">
            <a:avLst>
              <a:gd name="adj1" fmla="val 16667"/>
              <a:gd name="adj2" fmla="val 0"/>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latin typeface="Arial" panose="020B0604020202020204" pitchFamily="34" charset="0"/>
                <a:cs typeface="Arial" panose="020B0604020202020204" pitchFamily="34" charset="0"/>
              </a:rPr>
              <a:t>Docker</a:t>
            </a:r>
            <a:endParaRPr lang="zh-TW" altLang="en-US" dirty="0">
              <a:solidFill>
                <a:srgbClr val="A0A09E"/>
              </a:solidFill>
              <a:latin typeface="Arial" panose="020B0604020202020204" pitchFamily="34" charset="0"/>
              <a:cs typeface="Arial" panose="020B0604020202020204" pitchFamily="34" charset="0"/>
            </a:endParaRPr>
          </a:p>
        </p:txBody>
      </p:sp>
      <p:grpSp>
        <p:nvGrpSpPr>
          <p:cNvPr id="32" name="群組 31">
            <a:extLst>
              <a:ext uri="{FF2B5EF4-FFF2-40B4-BE49-F238E27FC236}">
                <a16:creationId xmlns:a16="http://schemas.microsoft.com/office/drawing/2014/main" id="{68498114-2E2A-46AB-8CC3-20F9D0CFD67A}"/>
              </a:ext>
            </a:extLst>
          </p:cNvPr>
          <p:cNvGrpSpPr/>
          <p:nvPr/>
        </p:nvGrpSpPr>
        <p:grpSpPr>
          <a:xfrm>
            <a:off x="3010441" y="4286207"/>
            <a:ext cx="3177094" cy="2324659"/>
            <a:chOff x="8388855" y="3760539"/>
            <a:chExt cx="3177094" cy="2324659"/>
          </a:xfrm>
          <a:effectLst>
            <a:outerShdw blurRad="50800" dist="38100" dir="2700000" algn="tl" rotWithShape="0">
              <a:prstClr val="black">
                <a:alpha val="40000"/>
              </a:prstClr>
            </a:outerShdw>
          </a:effectLst>
        </p:grpSpPr>
        <p:grpSp>
          <p:nvGrpSpPr>
            <p:cNvPr id="83" name="群組 82">
              <a:extLst>
                <a:ext uri="{FF2B5EF4-FFF2-40B4-BE49-F238E27FC236}">
                  <a16:creationId xmlns:a16="http://schemas.microsoft.com/office/drawing/2014/main" id="{BB845DA9-0051-4633-A4CC-C9A9214BEDF1}"/>
                </a:ext>
              </a:extLst>
            </p:cNvPr>
            <p:cNvGrpSpPr>
              <a:grpSpLocks noChangeAspect="1"/>
            </p:cNvGrpSpPr>
            <p:nvPr/>
          </p:nvGrpSpPr>
          <p:grpSpPr>
            <a:xfrm>
              <a:off x="8388855" y="3760539"/>
              <a:ext cx="3173890" cy="2324659"/>
              <a:chOff x="2047926" y="2716647"/>
              <a:chExt cx="3363958" cy="2463871"/>
            </a:xfrm>
          </p:grpSpPr>
          <p:sp>
            <p:nvSpPr>
              <p:cNvPr id="84" name="矩形: 圓角 83">
                <a:extLst>
                  <a:ext uri="{FF2B5EF4-FFF2-40B4-BE49-F238E27FC236}">
                    <a16:creationId xmlns:a16="http://schemas.microsoft.com/office/drawing/2014/main" id="{E626C567-C71D-4029-925C-4EB8C6918DED}"/>
                  </a:ext>
                </a:extLst>
              </p:cNvPr>
              <p:cNvSpPr/>
              <p:nvPr/>
            </p:nvSpPr>
            <p:spPr>
              <a:xfrm>
                <a:off x="2047926" y="2716647"/>
                <a:ext cx="3363958" cy="2463871"/>
              </a:xfrm>
              <a:prstGeom prst="roundRect">
                <a:avLst>
                  <a:gd name="adj" fmla="val 3676"/>
                </a:avLst>
              </a:prstGeom>
              <a:solidFill>
                <a:srgbClr val="F0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5" name="矩形: 圓角化同側角落 84">
                <a:extLst>
                  <a:ext uri="{FF2B5EF4-FFF2-40B4-BE49-F238E27FC236}">
                    <a16:creationId xmlns:a16="http://schemas.microsoft.com/office/drawing/2014/main" id="{8EB2EF6A-F6EE-4B96-A8F1-4700F7371425}"/>
                  </a:ext>
                </a:extLst>
              </p:cNvPr>
              <p:cNvSpPr/>
              <p:nvPr/>
            </p:nvSpPr>
            <p:spPr>
              <a:xfrm>
                <a:off x="2047926" y="2716647"/>
                <a:ext cx="3363958" cy="667517"/>
              </a:xfrm>
              <a:prstGeom prst="round2SameRect">
                <a:avLst>
                  <a:gd name="adj1" fmla="val 10005"/>
                  <a:gd name="adj2" fmla="val 0"/>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6" name="群組 85">
                <a:extLst>
                  <a:ext uri="{FF2B5EF4-FFF2-40B4-BE49-F238E27FC236}">
                    <a16:creationId xmlns:a16="http://schemas.microsoft.com/office/drawing/2014/main" id="{2A687D99-925A-4E09-9BC3-0EC0CA361BF4}"/>
                  </a:ext>
                </a:extLst>
              </p:cNvPr>
              <p:cNvGrpSpPr>
                <a:grpSpLocks noChangeAspect="1"/>
              </p:cNvGrpSpPr>
              <p:nvPr/>
            </p:nvGrpSpPr>
            <p:grpSpPr>
              <a:xfrm>
                <a:off x="2149046" y="2963605"/>
                <a:ext cx="576703" cy="148939"/>
                <a:chOff x="3153203" y="2920837"/>
                <a:chExt cx="418240" cy="108014"/>
              </a:xfrm>
            </p:grpSpPr>
            <p:sp>
              <p:nvSpPr>
                <p:cNvPr id="94" name="橢圓 93">
                  <a:extLst>
                    <a:ext uri="{FF2B5EF4-FFF2-40B4-BE49-F238E27FC236}">
                      <a16:creationId xmlns:a16="http://schemas.microsoft.com/office/drawing/2014/main" id="{09868D48-8970-486B-891A-2223621C004F}"/>
                    </a:ext>
                  </a:extLst>
                </p:cNvPr>
                <p:cNvSpPr/>
                <p:nvPr/>
              </p:nvSpPr>
              <p:spPr>
                <a:xfrm>
                  <a:off x="3153203" y="2920839"/>
                  <a:ext cx="108000" cy="108000"/>
                </a:xfrm>
                <a:prstGeom prst="ellipse">
                  <a:avLst/>
                </a:prstGeom>
                <a:solidFill>
                  <a:srgbClr val="FB5F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橢圓 94">
                  <a:extLst>
                    <a:ext uri="{FF2B5EF4-FFF2-40B4-BE49-F238E27FC236}">
                      <a16:creationId xmlns:a16="http://schemas.microsoft.com/office/drawing/2014/main" id="{CFB6C403-9AA3-4F6E-AE79-4DDF86CAE8EA}"/>
                    </a:ext>
                  </a:extLst>
                </p:cNvPr>
                <p:cNvSpPr/>
                <p:nvPr/>
              </p:nvSpPr>
              <p:spPr>
                <a:xfrm>
                  <a:off x="3308323" y="2920851"/>
                  <a:ext cx="108000" cy="108000"/>
                </a:xfrm>
                <a:prstGeom prst="ellipse">
                  <a:avLst/>
                </a:prstGeom>
                <a:solidFill>
                  <a:srgbClr val="FD692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橢圓 95">
                  <a:extLst>
                    <a:ext uri="{FF2B5EF4-FFF2-40B4-BE49-F238E27FC236}">
                      <a16:creationId xmlns:a16="http://schemas.microsoft.com/office/drawing/2014/main" id="{BD3A6ADA-A5AD-4AE1-B936-9800B629225E}"/>
                    </a:ext>
                  </a:extLst>
                </p:cNvPr>
                <p:cNvSpPr/>
                <p:nvPr/>
              </p:nvSpPr>
              <p:spPr>
                <a:xfrm>
                  <a:off x="3463443" y="2920837"/>
                  <a:ext cx="108000" cy="108000"/>
                </a:xfrm>
                <a:prstGeom prst="ellipse">
                  <a:avLst/>
                </a:prstGeom>
                <a:solidFill>
                  <a:srgbClr val="29C83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7" name="矩形: 圓角 86">
                <a:extLst>
                  <a:ext uri="{FF2B5EF4-FFF2-40B4-BE49-F238E27FC236}">
                    <a16:creationId xmlns:a16="http://schemas.microsoft.com/office/drawing/2014/main" id="{BABE3D2D-0DA9-47F9-A6BA-C141C4DA5CF2}"/>
                  </a:ext>
                </a:extLst>
              </p:cNvPr>
              <p:cNvSpPr/>
              <p:nvPr/>
            </p:nvSpPr>
            <p:spPr>
              <a:xfrm>
                <a:off x="2848706" y="2902313"/>
                <a:ext cx="1641348" cy="271462"/>
              </a:xfrm>
              <a:prstGeom prst="roundRect">
                <a:avLst/>
              </a:prstGeom>
              <a:solidFill>
                <a:srgbClr val="F7F7F7"/>
              </a:solidFill>
              <a:ln>
                <a:solidFill>
                  <a:srgbClr val="E2E2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88" name="圖形 87">
                <a:extLst>
                  <a:ext uri="{FF2B5EF4-FFF2-40B4-BE49-F238E27FC236}">
                    <a16:creationId xmlns:a16="http://schemas.microsoft.com/office/drawing/2014/main" id="{54E17578-03A1-4C1F-A971-355BBF365A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74381" y="2928330"/>
                <a:ext cx="213892" cy="213892"/>
              </a:xfrm>
              <a:prstGeom prst="rect">
                <a:avLst/>
              </a:prstGeom>
            </p:spPr>
          </p:pic>
          <p:sp>
            <p:nvSpPr>
              <p:cNvPr id="89" name="文字方塊 88">
                <a:extLst>
                  <a:ext uri="{FF2B5EF4-FFF2-40B4-BE49-F238E27FC236}">
                    <a16:creationId xmlns:a16="http://schemas.microsoft.com/office/drawing/2014/main" id="{05264CB8-CA95-4B0E-934D-E999E3BBEA76}"/>
                  </a:ext>
                </a:extLst>
              </p:cNvPr>
              <p:cNvSpPr txBox="1"/>
              <p:nvPr/>
            </p:nvSpPr>
            <p:spPr>
              <a:xfrm>
                <a:off x="3194146" y="2902313"/>
                <a:ext cx="1085104" cy="276999"/>
              </a:xfrm>
              <a:prstGeom prst="rect">
                <a:avLst/>
              </a:prstGeom>
              <a:noFill/>
            </p:spPr>
            <p:txBody>
              <a:bodyPr wrap="square" rtlCol="0">
                <a:spAutoFit/>
              </a:bodyPr>
              <a:lstStyle/>
              <a:p>
                <a:r>
                  <a:rPr lang="en-US" altLang="zh-TW" sz="1100" dirty="0">
                    <a:solidFill>
                      <a:srgbClr val="A0A09E"/>
                    </a:solidFill>
                    <a:latin typeface="Arial" panose="020B0604020202020204" pitchFamily="34" charset="0"/>
                    <a:cs typeface="Arial" panose="020B0604020202020204" pitchFamily="34" charset="0"/>
                  </a:rPr>
                  <a:t>https://xxx/c/</a:t>
                </a:r>
                <a:endParaRPr lang="zh-TW" altLang="en-US" sz="1100" dirty="0">
                  <a:solidFill>
                    <a:srgbClr val="A0A09E"/>
                  </a:solidFill>
                  <a:latin typeface="Arial" panose="020B0604020202020204" pitchFamily="34" charset="0"/>
                  <a:cs typeface="Arial" panose="020B0604020202020204" pitchFamily="34" charset="0"/>
                </a:endParaRPr>
              </a:p>
            </p:txBody>
          </p:sp>
          <p:grpSp>
            <p:nvGrpSpPr>
              <p:cNvPr id="90" name="群組 89">
                <a:extLst>
                  <a:ext uri="{FF2B5EF4-FFF2-40B4-BE49-F238E27FC236}">
                    <a16:creationId xmlns:a16="http://schemas.microsoft.com/office/drawing/2014/main" id="{D55C46E1-8E6C-4DF1-BBEC-86C3E213D9D5}"/>
                  </a:ext>
                </a:extLst>
              </p:cNvPr>
              <p:cNvGrpSpPr/>
              <p:nvPr/>
            </p:nvGrpSpPr>
            <p:grpSpPr>
              <a:xfrm>
                <a:off x="4622344" y="2944947"/>
                <a:ext cx="657250" cy="192622"/>
                <a:chOff x="5626500" y="2834220"/>
                <a:chExt cx="657250" cy="192622"/>
              </a:xfrm>
            </p:grpSpPr>
            <p:pic>
              <p:nvPicPr>
                <p:cNvPr id="91" name="圖形 90">
                  <a:extLst>
                    <a:ext uri="{FF2B5EF4-FFF2-40B4-BE49-F238E27FC236}">
                      <a16:creationId xmlns:a16="http://schemas.microsoft.com/office/drawing/2014/main" id="{9B960185-91FF-4E58-9E2E-CB907683D9C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6500" y="2834220"/>
                  <a:ext cx="180000" cy="180000"/>
                </a:xfrm>
                <a:prstGeom prst="rect">
                  <a:avLst/>
                </a:prstGeom>
              </p:spPr>
            </p:pic>
            <p:pic>
              <p:nvPicPr>
                <p:cNvPr id="92" name="圖形 91">
                  <a:extLst>
                    <a:ext uri="{FF2B5EF4-FFF2-40B4-BE49-F238E27FC236}">
                      <a16:creationId xmlns:a16="http://schemas.microsoft.com/office/drawing/2014/main" id="{9244E3F7-CF89-4DC8-9170-54940CB50D2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65125" y="2834220"/>
                  <a:ext cx="180000" cy="179999"/>
                </a:xfrm>
                <a:prstGeom prst="rect">
                  <a:avLst/>
                </a:prstGeom>
              </p:spPr>
            </p:pic>
            <p:pic>
              <p:nvPicPr>
                <p:cNvPr id="93" name="圖形 92">
                  <a:extLst>
                    <a:ext uri="{FF2B5EF4-FFF2-40B4-BE49-F238E27FC236}">
                      <a16:creationId xmlns:a16="http://schemas.microsoft.com/office/drawing/2014/main" id="{667576E4-644E-42D7-8A0E-23EF4AC1E46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6103750" y="2846843"/>
                  <a:ext cx="180000" cy="179999"/>
                </a:xfrm>
                <a:prstGeom prst="rect">
                  <a:avLst/>
                </a:prstGeom>
              </p:spPr>
            </p:pic>
          </p:grpSp>
        </p:grpSp>
        <p:sp>
          <p:nvSpPr>
            <p:cNvPr id="98" name="文字方塊 97">
              <a:extLst>
                <a:ext uri="{FF2B5EF4-FFF2-40B4-BE49-F238E27FC236}">
                  <a16:creationId xmlns:a16="http://schemas.microsoft.com/office/drawing/2014/main" id="{421626B2-ADD9-40BC-ACB6-2533ECEE86B1}"/>
                </a:ext>
              </a:extLst>
            </p:cNvPr>
            <p:cNvSpPr txBox="1"/>
            <p:nvPr/>
          </p:nvSpPr>
          <p:spPr>
            <a:xfrm>
              <a:off x="8398468" y="4815217"/>
              <a:ext cx="3167481" cy="769441"/>
            </a:xfrm>
            <a:prstGeom prst="rect">
              <a:avLst/>
            </a:prstGeom>
            <a:noFill/>
          </p:spPr>
          <p:txBody>
            <a:bodyPr wrap="square" rtlCol="0">
              <a:spAutoFit/>
            </a:bodyPr>
            <a:lstStyle/>
            <a:p>
              <a:pPr algn="ctr"/>
              <a:r>
                <a:rPr lang="en-US" altLang="zh-TW" sz="4400" dirty="0">
                  <a:solidFill>
                    <a:srgbClr val="A0A09E"/>
                  </a:solidFill>
                  <a:latin typeface="Arial" panose="020B0604020202020204" pitchFamily="34" charset="0"/>
                  <a:cs typeface="Arial" panose="020B0604020202020204" pitchFamily="34" charset="0"/>
                </a:rPr>
                <a:t>Node.js</a:t>
              </a:r>
              <a:endParaRPr lang="zh-TW" altLang="en-US" sz="4400" dirty="0">
                <a:solidFill>
                  <a:srgbClr val="A0A09E"/>
                </a:solidFill>
                <a:latin typeface="Arial" panose="020B0604020202020204" pitchFamily="34" charset="0"/>
                <a:cs typeface="Arial" panose="020B0604020202020204" pitchFamily="34" charset="0"/>
              </a:endParaRPr>
            </a:p>
          </p:txBody>
        </p:sp>
      </p:gr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23</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 </a:t>
            </a:r>
            <a:r>
              <a:rPr lang="en-US" altLang="zh-TW" sz="3500" b="1" dirty="0">
                <a:solidFill>
                  <a:schemeClr val="tx1">
                    <a:lumMod val="75000"/>
                    <a:lumOff val="25000"/>
                  </a:schemeClr>
                </a:solidFill>
                <a:latin typeface="Montserrat Light" panose="00000400000000000000" pitchFamily="50" charset="0"/>
              </a:rPr>
              <a:t>– </a:t>
            </a:r>
            <a:r>
              <a:rPr lang="zh-TW" altLang="en-US" sz="3500" b="1" dirty="0">
                <a:solidFill>
                  <a:schemeClr val="tx1">
                    <a:lumMod val="75000"/>
                    <a:lumOff val="25000"/>
                  </a:schemeClr>
                </a:solidFill>
                <a:latin typeface="Montserrat Light" panose="00000400000000000000" pitchFamily="50" charset="0"/>
              </a:rPr>
              <a:t>系統架構</a:t>
            </a:r>
          </a:p>
        </p:txBody>
      </p:sp>
      <p:grpSp>
        <p:nvGrpSpPr>
          <p:cNvPr id="31" name="群組 30">
            <a:extLst>
              <a:ext uri="{FF2B5EF4-FFF2-40B4-BE49-F238E27FC236}">
                <a16:creationId xmlns:a16="http://schemas.microsoft.com/office/drawing/2014/main" id="{8E42825A-E1C7-4DBD-95FD-3DFD9B379279}"/>
              </a:ext>
            </a:extLst>
          </p:cNvPr>
          <p:cNvGrpSpPr/>
          <p:nvPr/>
        </p:nvGrpSpPr>
        <p:grpSpPr>
          <a:xfrm>
            <a:off x="2702216" y="4052653"/>
            <a:ext cx="3173890" cy="2324659"/>
            <a:chOff x="4509851" y="3760539"/>
            <a:chExt cx="3173890" cy="2324659"/>
          </a:xfrm>
          <a:effectLst>
            <a:outerShdw blurRad="50800" dist="38100" dir="2700000" algn="tl" rotWithShape="0">
              <a:prstClr val="black">
                <a:alpha val="40000"/>
              </a:prstClr>
            </a:outerShdw>
          </a:effectLst>
        </p:grpSpPr>
        <p:grpSp>
          <p:nvGrpSpPr>
            <p:cNvPr id="69" name="群組 68">
              <a:extLst>
                <a:ext uri="{FF2B5EF4-FFF2-40B4-BE49-F238E27FC236}">
                  <a16:creationId xmlns:a16="http://schemas.microsoft.com/office/drawing/2014/main" id="{F962AC41-B433-4458-8D54-39B2E416176E}"/>
                </a:ext>
              </a:extLst>
            </p:cNvPr>
            <p:cNvGrpSpPr>
              <a:grpSpLocks noChangeAspect="1"/>
            </p:cNvGrpSpPr>
            <p:nvPr/>
          </p:nvGrpSpPr>
          <p:grpSpPr>
            <a:xfrm>
              <a:off x="4509851" y="3760539"/>
              <a:ext cx="3173890" cy="2324659"/>
              <a:chOff x="2047926" y="2716647"/>
              <a:chExt cx="3363958" cy="2463871"/>
            </a:xfrm>
          </p:grpSpPr>
          <p:sp>
            <p:nvSpPr>
              <p:cNvPr id="70" name="矩形: 圓角 69">
                <a:extLst>
                  <a:ext uri="{FF2B5EF4-FFF2-40B4-BE49-F238E27FC236}">
                    <a16:creationId xmlns:a16="http://schemas.microsoft.com/office/drawing/2014/main" id="{34A97D9A-5E7B-4FA1-A0AE-76CE6D11CD4B}"/>
                  </a:ext>
                </a:extLst>
              </p:cNvPr>
              <p:cNvSpPr/>
              <p:nvPr/>
            </p:nvSpPr>
            <p:spPr>
              <a:xfrm>
                <a:off x="2047926" y="2716648"/>
                <a:ext cx="3363958" cy="2463870"/>
              </a:xfrm>
              <a:prstGeom prst="roundRect">
                <a:avLst>
                  <a:gd name="adj" fmla="val 3676"/>
                </a:avLst>
              </a:prstGeom>
              <a:solidFill>
                <a:srgbClr val="F0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1" name="矩形: 圓角化同側角落 70">
                <a:extLst>
                  <a:ext uri="{FF2B5EF4-FFF2-40B4-BE49-F238E27FC236}">
                    <a16:creationId xmlns:a16="http://schemas.microsoft.com/office/drawing/2014/main" id="{72351E62-F477-4AC4-A256-BF5376F57E08}"/>
                  </a:ext>
                </a:extLst>
              </p:cNvPr>
              <p:cNvSpPr/>
              <p:nvPr/>
            </p:nvSpPr>
            <p:spPr>
              <a:xfrm>
                <a:off x="2047926" y="2716647"/>
                <a:ext cx="3363958" cy="667517"/>
              </a:xfrm>
              <a:prstGeom prst="round2SameRect">
                <a:avLst>
                  <a:gd name="adj1" fmla="val 10005"/>
                  <a:gd name="adj2" fmla="val 0"/>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2" name="群組 71">
                <a:extLst>
                  <a:ext uri="{FF2B5EF4-FFF2-40B4-BE49-F238E27FC236}">
                    <a16:creationId xmlns:a16="http://schemas.microsoft.com/office/drawing/2014/main" id="{9D57447E-A88F-421F-864C-83C97D60A893}"/>
                  </a:ext>
                </a:extLst>
              </p:cNvPr>
              <p:cNvGrpSpPr>
                <a:grpSpLocks noChangeAspect="1"/>
              </p:cNvGrpSpPr>
              <p:nvPr/>
            </p:nvGrpSpPr>
            <p:grpSpPr>
              <a:xfrm>
                <a:off x="2149046" y="2963605"/>
                <a:ext cx="576703" cy="148939"/>
                <a:chOff x="3153203" y="2920837"/>
                <a:chExt cx="418240" cy="108014"/>
              </a:xfrm>
            </p:grpSpPr>
            <p:sp>
              <p:nvSpPr>
                <p:cNvPr id="80" name="橢圓 79">
                  <a:extLst>
                    <a:ext uri="{FF2B5EF4-FFF2-40B4-BE49-F238E27FC236}">
                      <a16:creationId xmlns:a16="http://schemas.microsoft.com/office/drawing/2014/main" id="{EBE04A0C-33D1-4E1D-9A38-11271A82F16A}"/>
                    </a:ext>
                  </a:extLst>
                </p:cNvPr>
                <p:cNvSpPr/>
                <p:nvPr/>
              </p:nvSpPr>
              <p:spPr>
                <a:xfrm>
                  <a:off x="3153203" y="2920839"/>
                  <a:ext cx="108000" cy="108000"/>
                </a:xfrm>
                <a:prstGeom prst="ellipse">
                  <a:avLst/>
                </a:prstGeom>
                <a:solidFill>
                  <a:srgbClr val="FB5F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58AE5A23-3A13-4F20-A41C-6C3F6D02DA4F}"/>
                    </a:ext>
                  </a:extLst>
                </p:cNvPr>
                <p:cNvSpPr/>
                <p:nvPr/>
              </p:nvSpPr>
              <p:spPr>
                <a:xfrm>
                  <a:off x="3308323" y="2920851"/>
                  <a:ext cx="108000" cy="108000"/>
                </a:xfrm>
                <a:prstGeom prst="ellipse">
                  <a:avLst/>
                </a:prstGeom>
                <a:solidFill>
                  <a:srgbClr val="FD692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橢圓 81">
                  <a:extLst>
                    <a:ext uri="{FF2B5EF4-FFF2-40B4-BE49-F238E27FC236}">
                      <a16:creationId xmlns:a16="http://schemas.microsoft.com/office/drawing/2014/main" id="{6F2072A5-FFA2-4023-9962-31BC6E9EF47C}"/>
                    </a:ext>
                  </a:extLst>
                </p:cNvPr>
                <p:cNvSpPr/>
                <p:nvPr/>
              </p:nvSpPr>
              <p:spPr>
                <a:xfrm>
                  <a:off x="3463443" y="2920837"/>
                  <a:ext cx="108000" cy="108000"/>
                </a:xfrm>
                <a:prstGeom prst="ellipse">
                  <a:avLst/>
                </a:prstGeom>
                <a:solidFill>
                  <a:srgbClr val="29C83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3" name="矩形: 圓角 72">
                <a:extLst>
                  <a:ext uri="{FF2B5EF4-FFF2-40B4-BE49-F238E27FC236}">
                    <a16:creationId xmlns:a16="http://schemas.microsoft.com/office/drawing/2014/main" id="{C4738DE3-AEBE-4C70-866B-3E248488EE14}"/>
                  </a:ext>
                </a:extLst>
              </p:cNvPr>
              <p:cNvSpPr/>
              <p:nvPr/>
            </p:nvSpPr>
            <p:spPr>
              <a:xfrm>
                <a:off x="2848706" y="2902313"/>
                <a:ext cx="1641348" cy="271462"/>
              </a:xfrm>
              <a:prstGeom prst="roundRect">
                <a:avLst/>
              </a:prstGeom>
              <a:solidFill>
                <a:srgbClr val="F7F7F7"/>
              </a:solidFill>
              <a:ln>
                <a:solidFill>
                  <a:srgbClr val="E2E2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74" name="圖形 73">
                <a:extLst>
                  <a:ext uri="{FF2B5EF4-FFF2-40B4-BE49-F238E27FC236}">
                    <a16:creationId xmlns:a16="http://schemas.microsoft.com/office/drawing/2014/main" id="{943DDA92-DA13-4B6D-9A74-D269C13139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74381" y="2928330"/>
                <a:ext cx="213892" cy="213892"/>
              </a:xfrm>
              <a:prstGeom prst="rect">
                <a:avLst/>
              </a:prstGeom>
            </p:spPr>
          </p:pic>
          <p:sp>
            <p:nvSpPr>
              <p:cNvPr id="75" name="文字方塊 74">
                <a:extLst>
                  <a:ext uri="{FF2B5EF4-FFF2-40B4-BE49-F238E27FC236}">
                    <a16:creationId xmlns:a16="http://schemas.microsoft.com/office/drawing/2014/main" id="{E2CDBCE2-096D-4791-83E2-8EC34969574A}"/>
                  </a:ext>
                </a:extLst>
              </p:cNvPr>
              <p:cNvSpPr txBox="1"/>
              <p:nvPr/>
            </p:nvSpPr>
            <p:spPr>
              <a:xfrm>
                <a:off x="3186509" y="2896777"/>
                <a:ext cx="1085104" cy="276999"/>
              </a:xfrm>
              <a:prstGeom prst="rect">
                <a:avLst/>
              </a:prstGeom>
              <a:noFill/>
            </p:spPr>
            <p:txBody>
              <a:bodyPr wrap="square" rtlCol="0">
                <a:spAutoFit/>
              </a:bodyPr>
              <a:lstStyle/>
              <a:p>
                <a:r>
                  <a:rPr lang="en-US" altLang="zh-TW" sz="1100" dirty="0">
                    <a:solidFill>
                      <a:srgbClr val="A0A09E"/>
                    </a:solidFill>
                    <a:latin typeface="Arial" panose="020B0604020202020204" pitchFamily="34" charset="0"/>
                    <a:cs typeface="Arial" panose="020B0604020202020204" pitchFamily="34" charset="0"/>
                  </a:rPr>
                  <a:t>https://xxx/b/</a:t>
                </a:r>
                <a:endParaRPr lang="zh-TW" altLang="en-US" sz="1100" dirty="0">
                  <a:solidFill>
                    <a:srgbClr val="A0A09E"/>
                  </a:solidFill>
                  <a:latin typeface="Arial" panose="020B0604020202020204" pitchFamily="34" charset="0"/>
                  <a:cs typeface="Arial" panose="020B0604020202020204" pitchFamily="34" charset="0"/>
                </a:endParaRPr>
              </a:p>
            </p:txBody>
          </p:sp>
          <p:grpSp>
            <p:nvGrpSpPr>
              <p:cNvPr id="76" name="群組 75">
                <a:extLst>
                  <a:ext uri="{FF2B5EF4-FFF2-40B4-BE49-F238E27FC236}">
                    <a16:creationId xmlns:a16="http://schemas.microsoft.com/office/drawing/2014/main" id="{4A3B15AC-D605-4482-B816-057E10805C6B}"/>
                  </a:ext>
                </a:extLst>
              </p:cNvPr>
              <p:cNvGrpSpPr/>
              <p:nvPr/>
            </p:nvGrpSpPr>
            <p:grpSpPr>
              <a:xfrm>
                <a:off x="4622344" y="2944947"/>
                <a:ext cx="657250" cy="192622"/>
                <a:chOff x="5626500" y="2834220"/>
                <a:chExt cx="657250" cy="192622"/>
              </a:xfrm>
            </p:grpSpPr>
            <p:pic>
              <p:nvPicPr>
                <p:cNvPr id="77" name="圖形 76">
                  <a:extLst>
                    <a:ext uri="{FF2B5EF4-FFF2-40B4-BE49-F238E27FC236}">
                      <a16:creationId xmlns:a16="http://schemas.microsoft.com/office/drawing/2014/main" id="{35F31459-1975-4CEA-8DF0-A58A2EEECC5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6500" y="2834220"/>
                  <a:ext cx="180000" cy="180000"/>
                </a:xfrm>
                <a:prstGeom prst="rect">
                  <a:avLst/>
                </a:prstGeom>
              </p:spPr>
            </p:pic>
            <p:pic>
              <p:nvPicPr>
                <p:cNvPr id="78" name="圖形 77">
                  <a:extLst>
                    <a:ext uri="{FF2B5EF4-FFF2-40B4-BE49-F238E27FC236}">
                      <a16:creationId xmlns:a16="http://schemas.microsoft.com/office/drawing/2014/main" id="{FD9DE10F-8995-44AF-917C-F6831435D8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65125" y="2834220"/>
                  <a:ext cx="180000" cy="179999"/>
                </a:xfrm>
                <a:prstGeom prst="rect">
                  <a:avLst/>
                </a:prstGeom>
              </p:spPr>
            </p:pic>
            <p:pic>
              <p:nvPicPr>
                <p:cNvPr id="79" name="圖形 78">
                  <a:extLst>
                    <a:ext uri="{FF2B5EF4-FFF2-40B4-BE49-F238E27FC236}">
                      <a16:creationId xmlns:a16="http://schemas.microsoft.com/office/drawing/2014/main" id="{1A24D079-4A14-487F-9A80-65F6989485E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6103750" y="2846843"/>
                  <a:ext cx="180000" cy="179999"/>
                </a:xfrm>
                <a:prstGeom prst="rect">
                  <a:avLst/>
                </a:prstGeom>
              </p:spPr>
            </p:pic>
          </p:grpSp>
        </p:grpSp>
        <p:sp>
          <p:nvSpPr>
            <p:cNvPr id="97" name="文字方塊 96">
              <a:extLst>
                <a:ext uri="{FF2B5EF4-FFF2-40B4-BE49-F238E27FC236}">
                  <a16:creationId xmlns:a16="http://schemas.microsoft.com/office/drawing/2014/main" id="{ADB37FB0-BBE2-4F97-9BEA-850250657C12}"/>
                </a:ext>
              </a:extLst>
            </p:cNvPr>
            <p:cNvSpPr txBox="1"/>
            <p:nvPr/>
          </p:nvSpPr>
          <p:spPr>
            <a:xfrm>
              <a:off x="4516260" y="4817552"/>
              <a:ext cx="3167481" cy="769441"/>
            </a:xfrm>
            <a:prstGeom prst="rect">
              <a:avLst/>
            </a:prstGeom>
            <a:noFill/>
          </p:spPr>
          <p:txBody>
            <a:bodyPr wrap="square" rtlCol="0">
              <a:spAutoFit/>
            </a:bodyPr>
            <a:lstStyle/>
            <a:p>
              <a:pPr algn="ctr"/>
              <a:r>
                <a:rPr lang="en-US" altLang="zh-TW" sz="4400" dirty="0">
                  <a:solidFill>
                    <a:srgbClr val="A0A09E"/>
                  </a:solidFill>
                  <a:latin typeface="Arial" panose="020B0604020202020204" pitchFamily="34" charset="0"/>
                  <a:cs typeface="Arial" panose="020B0604020202020204" pitchFamily="34" charset="0"/>
                </a:rPr>
                <a:t>.NET</a:t>
              </a:r>
              <a:endParaRPr lang="zh-TW" altLang="en-US" sz="4400" dirty="0">
                <a:solidFill>
                  <a:srgbClr val="A0A09E"/>
                </a:solidFill>
                <a:latin typeface="Arial" panose="020B0604020202020204" pitchFamily="34" charset="0"/>
                <a:cs typeface="Arial" panose="020B0604020202020204" pitchFamily="34" charset="0"/>
              </a:endParaRPr>
            </a:p>
          </p:txBody>
        </p:sp>
      </p:grpSp>
      <p:grpSp>
        <p:nvGrpSpPr>
          <p:cNvPr id="29" name="群組 28">
            <a:extLst>
              <a:ext uri="{FF2B5EF4-FFF2-40B4-BE49-F238E27FC236}">
                <a16:creationId xmlns:a16="http://schemas.microsoft.com/office/drawing/2014/main" id="{8AE07340-C58E-4091-929D-12D45523F230}"/>
              </a:ext>
            </a:extLst>
          </p:cNvPr>
          <p:cNvGrpSpPr>
            <a:grpSpLocks noChangeAspect="1"/>
          </p:cNvGrpSpPr>
          <p:nvPr/>
        </p:nvGrpSpPr>
        <p:grpSpPr>
          <a:xfrm>
            <a:off x="2390787" y="3846180"/>
            <a:ext cx="3173890" cy="2324659"/>
            <a:chOff x="2047926" y="2716647"/>
            <a:chExt cx="3363958" cy="2463871"/>
          </a:xfrm>
          <a:effectLst>
            <a:outerShdw blurRad="50800" dist="38100" dir="2700000" algn="tl" rotWithShape="0">
              <a:prstClr val="black">
                <a:alpha val="40000"/>
              </a:prstClr>
            </a:outerShdw>
          </a:effectLst>
        </p:grpSpPr>
        <p:sp>
          <p:nvSpPr>
            <p:cNvPr id="2" name="矩形: 圓角 1">
              <a:extLst>
                <a:ext uri="{FF2B5EF4-FFF2-40B4-BE49-F238E27FC236}">
                  <a16:creationId xmlns:a16="http://schemas.microsoft.com/office/drawing/2014/main" id="{671D4271-5E48-4BA7-A662-AC27BA555E48}"/>
                </a:ext>
              </a:extLst>
            </p:cNvPr>
            <p:cNvSpPr/>
            <p:nvPr/>
          </p:nvSpPr>
          <p:spPr>
            <a:xfrm>
              <a:off x="2047926" y="2716648"/>
              <a:ext cx="3363958" cy="2463870"/>
            </a:xfrm>
            <a:prstGeom prst="roundRect">
              <a:avLst>
                <a:gd name="adj" fmla="val 3676"/>
              </a:avLst>
            </a:prstGeom>
            <a:solidFill>
              <a:srgbClr val="F0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 name="矩形: 圓角化同側角落 3">
              <a:extLst>
                <a:ext uri="{FF2B5EF4-FFF2-40B4-BE49-F238E27FC236}">
                  <a16:creationId xmlns:a16="http://schemas.microsoft.com/office/drawing/2014/main" id="{1B40F7F5-3F67-4D7E-9ADD-00CE891193A1}"/>
                </a:ext>
              </a:extLst>
            </p:cNvPr>
            <p:cNvSpPr/>
            <p:nvPr/>
          </p:nvSpPr>
          <p:spPr>
            <a:xfrm>
              <a:off x="2047926" y="2716647"/>
              <a:ext cx="3363958" cy="667517"/>
            </a:xfrm>
            <a:prstGeom prst="round2SameRect">
              <a:avLst>
                <a:gd name="adj1" fmla="val 10005"/>
                <a:gd name="adj2" fmla="val 0"/>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 name="群組 5">
              <a:extLst>
                <a:ext uri="{FF2B5EF4-FFF2-40B4-BE49-F238E27FC236}">
                  <a16:creationId xmlns:a16="http://schemas.microsoft.com/office/drawing/2014/main" id="{87CE1167-4141-4EE3-A185-5B83C252C10C}"/>
                </a:ext>
              </a:extLst>
            </p:cNvPr>
            <p:cNvGrpSpPr>
              <a:grpSpLocks noChangeAspect="1"/>
            </p:cNvGrpSpPr>
            <p:nvPr/>
          </p:nvGrpSpPr>
          <p:grpSpPr>
            <a:xfrm>
              <a:off x="2149046" y="2963605"/>
              <a:ext cx="576703" cy="148939"/>
              <a:chOff x="3153203" y="2920837"/>
              <a:chExt cx="418240" cy="108014"/>
            </a:xfrm>
          </p:grpSpPr>
          <p:sp>
            <p:nvSpPr>
              <p:cNvPr id="5" name="橢圓 4">
                <a:extLst>
                  <a:ext uri="{FF2B5EF4-FFF2-40B4-BE49-F238E27FC236}">
                    <a16:creationId xmlns:a16="http://schemas.microsoft.com/office/drawing/2014/main" id="{89F0AAFA-1A3C-43D4-8213-CCD23AD7B87C}"/>
                  </a:ext>
                </a:extLst>
              </p:cNvPr>
              <p:cNvSpPr/>
              <p:nvPr/>
            </p:nvSpPr>
            <p:spPr>
              <a:xfrm>
                <a:off x="3153203" y="2920839"/>
                <a:ext cx="108000" cy="108000"/>
              </a:xfrm>
              <a:prstGeom prst="ellipse">
                <a:avLst/>
              </a:prstGeom>
              <a:solidFill>
                <a:srgbClr val="FB5F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A7DCD560-A20F-4B31-822C-D6833614E151}"/>
                  </a:ext>
                </a:extLst>
              </p:cNvPr>
              <p:cNvSpPr/>
              <p:nvPr/>
            </p:nvSpPr>
            <p:spPr>
              <a:xfrm>
                <a:off x="3308323" y="2920851"/>
                <a:ext cx="108000" cy="108000"/>
              </a:xfrm>
              <a:prstGeom prst="ellipse">
                <a:avLst/>
              </a:prstGeom>
              <a:solidFill>
                <a:srgbClr val="FD692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DF978066-71A4-4BAB-9EF3-FB6651C8F7A3}"/>
                  </a:ext>
                </a:extLst>
              </p:cNvPr>
              <p:cNvSpPr/>
              <p:nvPr/>
            </p:nvSpPr>
            <p:spPr>
              <a:xfrm>
                <a:off x="3463443" y="2920837"/>
                <a:ext cx="108000" cy="108000"/>
              </a:xfrm>
              <a:prstGeom prst="ellipse">
                <a:avLst/>
              </a:prstGeom>
              <a:solidFill>
                <a:srgbClr val="29C83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 name="矩形: 圓角 6">
              <a:extLst>
                <a:ext uri="{FF2B5EF4-FFF2-40B4-BE49-F238E27FC236}">
                  <a16:creationId xmlns:a16="http://schemas.microsoft.com/office/drawing/2014/main" id="{2A9B7FFC-0BBC-417D-BBE3-25C4EFBBDA76}"/>
                </a:ext>
              </a:extLst>
            </p:cNvPr>
            <p:cNvSpPr/>
            <p:nvPr/>
          </p:nvSpPr>
          <p:spPr>
            <a:xfrm>
              <a:off x="2848706" y="2902313"/>
              <a:ext cx="1641348" cy="271462"/>
            </a:xfrm>
            <a:prstGeom prst="roundRect">
              <a:avLst/>
            </a:prstGeom>
            <a:solidFill>
              <a:srgbClr val="F7F7F7"/>
            </a:solidFill>
            <a:ln>
              <a:solidFill>
                <a:srgbClr val="E2E2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7" name="圖形 16">
              <a:extLst>
                <a:ext uri="{FF2B5EF4-FFF2-40B4-BE49-F238E27FC236}">
                  <a16:creationId xmlns:a16="http://schemas.microsoft.com/office/drawing/2014/main" id="{B8535C1C-A580-4A0A-B6CE-4E19BBB5C5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74381" y="2928330"/>
              <a:ext cx="213892" cy="213892"/>
            </a:xfrm>
            <a:prstGeom prst="rect">
              <a:avLst/>
            </a:prstGeom>
          </p:spPr>
        </p:pic>
        <p:sp>
          <p:nvSpPr>
            <p:cNvPr id="18" name="文字方塊 17">
              <a:extLst>
                <a:ext uri="{FF2B5EF4-FFF2-40B4-BE49-F238E27FC236}">
                  <a16:creationId xmlns:a16="http://schemas.microsoft.com/office/drawing/2014/main" id="{FF22A825-F56A-4EB0-B4FC-E84E9D6217AD}"/>
                </a:ext>
              </a:extLst>
            </p:cNvPr>
            <p:cNvSpPr txBox="1"/>
            <p:nvPr/>
          </p:nvSpPr>
          <p:spPr>
            <a:xfrm>
              <a:off x="3192045" y="2893680"/>
              <a:ext cx="1085104" cy="276999"/>
            </a:xfrm>
            <a:prstGeom prst="rect">
              <a:avLst/>
            </a:prstGeom>
            <a:noFill/>
          </p:spPr>
          <p:txBody>
            <a:bodyPr wrap="square" rtlCol="0">
              <a:spAutoFit/>
            </a:bodyPr>
            <a:lstStyle/>
            <a:p>
              <a:r>
                <a:rPr lang="en-US" altLang="zh-TW" sz="1100" dirty="0">
                  <a:solidFill>
                    <a:srgbClr val="A0A09E"/>
                  </a:solidFill>
                  <a:latin typeface="Arial" panose="020B0604020202020204" pitchFamily="34" charset="0"/>
                  <a:cs typeface="Arial" panose="020B0604020202020204" pitchFamily="34" charset="0"/>
                </a:rPr>
                <a:t>https://xxx/a/</a:t>
              </a:r>
              <a:endParaRPr lang="zh-TW" altLang="en-US" sz="1100" dirty="0">
                <a:solidFill>
                  <a:srgbClr val="A0A09E"/>
                </a:solidFill>
                <a:latin typeface="Arial" panose="020B0604020202020204" pitchFamily="34" charset="0"/>
                <a:cs typeface="Arial" panose="020B0604020202020204" pitchFamily="34" charset="0"/>
              </a:endParaRPr>
            </a:p>
          </p:txBody>
        </p:sp>
        <p:grpSp>
          <p:nvGrpSpPr>
            <p:cNvPr id="27" name="群組 26">
              <a:extLst>
                <a:ext uri="{FF2B5EF4-FFF2-40B4-BE49-F238E27FC236}">
                  <a16:creationId xmlns:a16="http://schemas.microsoft.com/office/drawing/2014/main" id="{85D88388-021A-4148-9345-50DE68E1B82E}"/>
                </a:ext>
              </a:extLst>
            </p:cNvPr>
            <p:cNvGrpSpPr/>
            <p:nvPr/>
          </p:nvGrpSpPr>
          <p:grpSpPr>
            <a:xfrm>
              <a:off x="4622344" y="2944947"/>
              <a:ext cx="657250" cy="192622"/>
              <a:chOff x="5626500" y="2834220"/>
              <a:chExt cx="657250" cy="192622"/>
            </a:xfrm>
          </p:grpSpPr>
          <p:pic>
            <p:nvPicPr>
              <p:cNvPr id="22" name="圖形 21">
                <a:extLst>
                  <a:ext uri="{FF2B5EF4-FFF2-40B4-BE49-F238E27FC236}">
                    <a16:creationId xmlns:a16="http://schemas.microsoft.com/office/drawing/2014/main" id="{8310FCC4-2367-4DC4-A231-2F7FF14AE7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6500" y="2834220"/>
                <a:ext cx="180000" cy="180000"/>
              </a:xfrm>
              <a:prstGeom prst="rect">
                <a:avLst/>
              </a:prstGeom>
            </p:spPr>
          </p:pic>
          <p:pic>
            <p:nvPicPr>
              <p:cNvPr id="24" name="圖形 23">
                <a:extLst>
                  <a:ext uri="{FF2B5EF4-FFF2-40B4-BE49-F238E27FC236}">
                    <a16:creationId xmlns:a16="http://schemas.microsoft.com/office/drawing/2014/main" id="{750CF1A1-FF4D-4382-976B-19DEE49DFD0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65125" y="2834220"/>
                <a:ext cx="180000" cy="179999"/>
              </a:xfrm>
              <a:prstGeom prst="rect">
                <a:avLst/>
              </a:prstGeom>
            </p:spPr>
          </p:pic>
          <p:pic>
            <p:nvPicPr>
              <p:cNvPr id="26" name="圖形 25">
                <a:extLst>
                  <a:ext uri="{FF2B5EF4-FFF2-40B4-BE49-F238E27FC236}">
                    <a16:creationId xmlns:a16="http://schemas.microsoft.com/office/drawing/2014/main" id="{523D21DE-24A3-4EFA-BC82-DD28997AC9B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6103750" y="2846843"/>
                <a:ext cx="180000" cy="179999"/>
              </a:xfrm>
              <a:prstGeom prst="rect">
                <a:avLst/>
              </a:prstGeom>
            </p:spPr>
          </p:pic>
        </p:grpSp>
      </p:grpSp>
      <p:grpSp>
        <p:nvGrpSpPr>
          <p:cNvPr id="59" name="群組 58">
            <a:extLst>
              <a:ext uri="{FF2B5EF4-FFF2-40B4-BE49-F238E27FC236}">
                <a16:creationId xmlns:a16="http://schemas.microsoft.com/office/drawing/2014/main" id="{0BD49DC4-1044-464B-8A7A-A1053B941ECF}"/>
              </a:ext>
            </a:extLst>
          </p:cNvPr>
          <p:cNvGrpSpPr/>
          <p:nvPr/>
        </p:nvGrpSpPr>
        <p:grpSpPr>
          <a:xfrm>
            <a:off x="6793726" y="4640332"/>
            <a:ext cx="2502163" cy="1314971"/>
            <a:chOff x="7250132" y="5465088"/>
            <a:chExt cx="2591376" cy="1314971"/>
          </a:xfrm>
          <a:effectLst>
            <a:outerShdw blurRad="50800" dist="38100" dir="2700000" algn="tl" rotWithShape="0">
              <a:prstClr val="black">
                <a:alpha val="40000"/>
              </a:prstClr>
            </a:outerShdw>
          </a:effectLst>
        </p:grpSpPr>
        <p:sp>
          <p:nvSpPr>
            <p:cNvPr id="61" name="矩形: 圓角 60">
              <a:extLst>
                <a:ext uri="{FF2B5EF4-FFF2-40B4-BE49-F238E27FC236}">
                  <a16:creationId xmlns:a16="http://schemas.microsoft.com/office/drawing/2014/main" id="{3E0C0F1A-1C4E-417A-BE91-21D7F1E3D9C4}"/>
                </a:ext>
              </a:extLst>
            </p:cNvPr>
            <p:cNvSpPr/>
            <p:nvPr/>
          </p:nvSpPr>
          <p:spPr>
            <a:xfrm>
              <a:off x="7250133" y="5466459"/>
              <a:ext cx="2591375" cy="1313600"/>
            </a:xfrm>
            <a:prstGeom prst="roundRect">
              <a:avLst>
                <a:gd name="adj" fmla="val 8377"/>
              </a:avLst>
            </a:prstGeom>
            <a:solidFill>
              <a:srgbClr val="F0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A0A09E"/>
                </a:solidFill>
                <a:latin typeface="微軟正黑體" panose="020B0604030504040204" pitchFamily="34" charset="-120"/>
                <a:ea typeface="微軟正黑體" panose="020B0604030504040204" pitchFamily="34" charset="-120"/>
              </a:endParaRPr>
            </a:p>
          </p:txBody>
        </p:sp>
        <p:pic>
          <p:nvPicPr>
            <p:cNvPr id="62" name="圖形 61">
              <a:extLst>
                <a:ext uri="{FF2B5EF4-FFF2-40B4-BE49-F238E27FC236}">
                  <a16:creationId xmlns:a16="http://schemas.microsoft.com/office/drawing/2014/main" id="{3D7C378C-D0DD-4600-B620-436CCBF0F16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58128" y="5880059"/>
              <a:ext cx="900000" cy="900000"/>
            </a:xfrm>
            <a:prstGeom prst="rect">
              <a:avLst/>
            </a:prstGeom>
          </p:spPr>
        </p:pic>
        <p:sp>
          <p:nvSpPr>
            <p:cNvPr id="64" name="矩形: 圓角化同側角落 63">
              <a:extLst>
                <a:ext uri="{FF2B5EF4-FFF2-40B4-BE49-F238E27FC236}">
                  <a16:creationId xmlns:a16="http://schemas.microsoft.com/office/drawing/2014/main" id="{1288CB60-1039-476C-9DAF-E60BC59F105B}"/>
                </a:ext>
              </a:extLst>
            </p:cNvPr>
            <p:cNvSpPr/>
            <p:nvPr/>
          </p:nvSpPr>
          <p:spPr>
            <a:xfrm>
              <a:off x="7250132" y="5465088"/>
              <a:ext cx="2590112" cy="413600"/>
            </a:xfrm>
            <a:prstGeom prst="round2SameRect">
              <a:avLst>
                <a:gd name="adj1" fmla="val 16667"/>
                <a:gd name="adj2" fmla="val 0"/>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latin typeface="Arial" panose="020B0604020202020204" pitchFamily="34" charset="0"/>
                  <a:cs typeface="Arial" panose="020B0604020202020204" pitchFamily="34" charset="0"/>
                </a:rPr>
                <a:t>DB</a:t>
              </a:r>
              <a:endParaRPr lang="zh-TW" altLang="en-US" dirty="0">
                <a:solidFill>
                  <a:srgbClr val="A0A09E"/>
                </a:solidFill>
                <a:latin typeface="Arial" panose="020B0604020202020204" pitchFamily="34" charset="0"/>
                <a:cs typeface="Arial" panose="020B0604020202020204" pitchFamily="34" charset="0"/>
              </a:endParaRPr>
            </a:p>
          </p:txBody>
        </p:sp>
      </p:grpSp>
      <p:sp>
        <p:nvSpPr>
          <p:cNvPr id="65" name="矩形: 圓角 64">
            <a:extLst>
              <a:ext uri="{FF2B5EF4-FFF2-40B4-BE49-F238E27FC236}">
                <a16:creationId xmlns:a16="http://schemas.microsoft.com/office/drawing/2014/main" id="{D8A1F17C-9B3E-4E89-ADFD-043C4872DF90}"/>
              </a:ext>
            </a:extLst>
          </p:cNvPr>
          <p:cNvSpPr/>
          <p:nvPr/>
        </p:nvSpPr>
        <p:spPr>
          <a:xfrm>
            <a:off x="4845335" y="1976975"/>
            <a:ext cx="2503383"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latin typeface="微軟正黑體" panose="020B0604030504040204" pitchFamily="34" charset="-120"/>
                <a:ea typeface="微軟正黑體" panose="020B0604030504040204" pitchFamily="34" charset="-120"/>
              </a:rPr>
              <a:t>Web Server</a:t>
            </a:r>
            <a:endParaRPr lang="zh-TW" altLang="en-US" dirty="0">
              <a:solidFill>
                <a:srgbClr val="A0A09E"/>
              </a:solidFill>
              <a:latin typeface="微軟正黑體" panose="020B0604030504040204" pitchFamily="34" charset="-120"/>
              <a:ea typeface="微軟正黑體" panose="020B0604030504040204" pitchFamily="34" charset="-120"/>
            </a:endParaRPr>
          </a:p>
        </p:txBody>
      </p:sp>
      <p:sp>
        <p:nvSpPr>
          <p:cNvPr id="67" name="矩形: 圓角 66">
            <a:extLst>
              <a:ext uri="{FF2B5EF4-FFF2-40B4-BE49-F238E27FC236}">
                <a16:creationId xmlns:a16="http://schemas.microsoft.com/office/drawing/2014/main" id="{2FC29F03-9EAE-4174-99EA-E871C803875D}"/>
              </a:ext>
            </a:extLst>
          </p:cNvPr>
          <p:cNvSpPr/>
          <p:nvPr/>
        </p:nvSpPr>
        <p:spPr>
          <a:xfrm>
            <a:off x="7927423" y="1976975"/>
            <a:ext cx="1979849"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rgbClr val="A0A09E"/>
                </a:solidFill>
                <a:latin typeface="微軟正黑體" panose="020B0604030504040204" pitchFamily="34" charset="-120"/>
                <a:ea typeface="微軟正黑體" panose="020B0604030504040204" pitchFamily="34" charset="-120"/>
              </a:rPr>
              <a:t>憑證</a:t>
            </a:r>
          </a:p>
        </p:txBody>
      </p:sp>
      <p:sp>
        <p:nvSpPr>
          <p:cNvPr id="99" name="矩形: 圓角 98">
            <a:extLst>
              <a:ext uri="{FF2B5EF4-FFF2-40B4-BE49-F238E27FC236}">
                <a16:creationId xmlns:a16="http://schemas.microsoft.com/office/drawing/2014/main" id="{2AF60DBC-582E-4920-8BDC-CC7F42D5FBCB}"/>
              </a:ext>
            </a:extLst>
          </p:cNvPr>
          <p:cNvSpPr/>
          <p:nvPr/>
        </p:nvSpPr>
        <p:spPr>
          <a:xfrm>
            <a:off x="4843280" y="1361598"/>
            <a:ext cx="2503383"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latin typeface="微軟正黑體" panose="020B0604030504040204" pitchFamily="34" charset="-120"/>
                <a:ea typeface="微軟正黑體" panose="020B0604030504040204" pitchFamily="34" charset="-120"/>
              </a:rPr>
              <a:t>User</a:t>
            </a:r>
            <a:endParaRPr lang="zh-TW" altLang="en-US" dirty="0">
              <a:solidFill>
                <a:srgbClr val="A0A09E"/>
              </a:solidFill>
              <a:latin typeface="微軟正黑體" panose="020B0604030504040204" pitchFamily="34" charset="-120"/>
              <a:ea typeface="微軟正黑體" panose="020B0604030504040204" pitchFamily="34" charset="-120"/>
            </a:endParaRPr>
          </a:p>
        </p:txBody>
      </p:sp>
      <p:cxnSp>
        <p:nvCxnSpPr>
          <p:cNvPr id="103" name="直線接點 102">
            <a:extLst>
              <a:ext uri="{FF2B5EF4-FFF2-40B4-BE49-F238E27FC236}">
                <a16:creationId xmlns:a16="http://schemas.microsoft.com/office/drawing/2014/main" id="{84D986AD-9765-41ED-A97A-2A0212FBF2E4}"/>
              </a:ext>
            </a:extLst>
          </p:cNvPr>
          <p:cNvCxnSpPr>
            <a:cxnSpLocks/>
            <a:stCxn id="99" idx="2"/>
            <a:endCxn id="65" idx="0"/>
          </p:cNvCxnSpPr>
          <p:nvPr/>
        </p:nvCxnSpPr>
        <p:spPr>
          <a:xfrm>
            <a:off x="6094972" y="1818798"/>
            <a:ext cx="2055" cy="158177"/>
          </a:xfrm>
          <a:prstGeom prst="line">
            <a:avLst/>
          </a:prstGeom>
          <a:ln w="25400">
            <a:solidFill>
              <a:srgbClr val="A0A09E"/>
            </a:solidFill>
            <a:prstDash val="sysDot"/>
            <a:tailEnd type="oval"/>
          </a:ln>
        </p:spPr>
        <p:style>
          <a:lnRef idx="1">
            <a:schemeClr val="dk1"/>
          </a:lnRef>
          <a:fillRef idx="0">
            <a:schemeClr val="dk1"/>
          </a:fillRef>
          <a:effectRef idx="0">
            <a:schemeClr val="dk1"/>
          </a:effectRef>
          <a:fontRef idx="minor">
            <a:schemeClr val="tx1"/>
          </a:fontRef>
        </p:style>
      </p:cxnSp>
      <p:cxnSp>
        <p:nvCxnSpPr>
          <p:cNvPr id="104" name="直線接點 103">
            <a:extLst>
              <a:ext uri="{FF2B5EF4-FFF2-40B4-BE49-F238E27FC236}">
                <a16:creationId xmlns:a16="http://schemas.microsoft.com/office/drawing/2014/main" id="{4356A429-5993-44CC-BD40-EDE03C8E2B4A}"/>
              </a:ext>
            </a:extLst>
          </p:cNvPr>
          <p:cNvCxnSpPr>
            <a:cxnSpLocks/>
            <a:stCxn id="66" idx="2"/>
            <a:endCxn id="102" idx="3"/>
          </p:cNvCxnSpPr>
          <p:nvPr/>
        </p:nvCxnSpPr>
        <p:spPr>
          <a:xfrm>
            <a:off x="6094900" y="3053005"/>
            <a:ext cx="0" cy="109836"/>
          </a:xfrm>
          <a:prstGeom prst="line">
            <a:avLst/>
          </a:prstGeom>
          <a:ln w="25400">
            <a:solidFill>
              <a:srgbClr val="A0A09E"/>
            </a:solidFill>
            <a:prstDash val="sysDot"/>
            <a:tailEnd type="oval"/>
          </a:ln>
        </p:spPr>
        <p:style>
          <a:lnRef idx="1">
            <a:schemeClr val="dk1"/>
          </a:lnRef>
          <a:fillRef idx="0">
            <a:schemeClr val="dk1"/>
          </a:fillRef>
          <a:effectRef idx="0">
            <a:schemeClr val="dk1"/>
          </a:effectRef>
          <a:fontRef idx="minor">
            <a:schemeClr val="tx1"/>
          </a:fontRef>
        </p:style>
      </p:cxnSp>
      <p:cxnSp>
        <p:nvCxnSpPr>
          <p:cNvPr id="105" name="直線接點 104">
            <a:extLst>
              <a:ext uri="{FF2B5EF4-FFF2-40B4-BE49-F238E27FC236}">
                <a16:creationId xmlns:a16="http://schemas.microsoft.com/office/drawing/2014/main" id="{1EA16260-DEC1-4C79-A14F-14600112A4CD}"/>
              </a:ext>
            </a:extLst>
          </p:cNvPr>
          <p:cNvCxnSpPr>
            <a:cxnSpLocks/>
            <a:stCxn id="65" idx="3"/>
            <a:endCxn id="67" idx="1"/>
          </p:cNvCxnSpPr>
          <p:nvPr/>
        </p:nvCxnSpPr>
        <p:spPr>
          <a:xfrm>
            <a:off x="7348718" y="2205575"/>
            <a:ext cx="578705" cy="0"/>
          </a:xfrm>
          <a:prstGeom prst="line">
            <a:avLst/>
          </a:prstGeom>
          <a:ln w="25400">
            <a:solidFill>
              <a:srgbClr val="A0A09E"/>
            </a:solidFill>
            <a:prstDash val="sysDot"/>
          </a:ln>
        </p:spPr>
        <p:style>
          <a:lnRef idx="1">
            <a:schemeClr val="dk1"/>
          </a:lnRef>
          <a:fillRef idx="0">
            <a:schemeClr val="dk1"/>
          </a:fillRef>
          <a:effectRef idx="0">
            <a:schemeClr val="dk1"/>
          </a:effectRef>
          <a:fontRef idx="minor">
            <a:schemeClr val="tx1"/>
          </a:fontRef>
        </p:style>
      </p:cxnSp>
      <p:sp>
        <p:nvSpPr>
          <p:cNvPr id="109" name="矩形: 圓角 108">
            <a:extLst>
              <a:ext uri="{FF2B5EF4-FFF2-40B4-BE49-F238E27FC236}">
                <a16:creationId xmlns:a16="http://schemas.microsoft.com/office/drawing/2014/main" id="{694C193C-AB59-4980-A260-3D0F940A7820}"/>
              </a:ext>
            </a:extLst>
          </p:cNvPr>
          <p:cNvSpPr/>
          <p:nvPr/>
        </p:nvSpPr>
        <p:spPr>
          <a:xfrm>
            <a:off x="2637542" y="4991573"/>
            <a:ext cx="2503383" cy="457200"/>
          </a:xfrm>
          <a:prstGeom prst="round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rPr>
              <a:t>Container</a:t>
            </a:r>
            <a:endParaRPr lang="zh-TW" altLang="en-US" dirty="0">
              <a:solidFill>
                <a:srgbClr val="A0A09E"/>
              </a:solidFill>
            </a:endParaRPr>
          </a:p>
        </p:txBody>
      </p:sp>
      <p:sp>
        <p:nvSpPr>
          <p:cNvPr id="66" name="矩形: 圓角 65">
            <a:extLst>
              <a:ext uri="{FF2B5EF4-FFF2-40B4-BE49-F238E27FC236}">
                <a16:creationId xmlns:a16="http://schemas.microsoft.com/office/drawing/2014/main" id="{BAC3A39E-6479-4517-A06A-8708681C64F7}"/>
              </a:ext>
            </a:extLst>
          </p:cNvPr>
          <p:cNvSpPr/>
          <p:nvPr/>
        </p:nvSpPr>
        <p:spPr>
          <a:xfrm>
            <a:off x="4843208" y="2595805"/>
            <a:ext cx="2503383"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latin typeface="微軟正黑體" panose="020B0604030504040204" pitchFamily="34" charset="-120"/>
                <a:ea typeface="微軟正黑體" panose="020B0604030504040204" pitchFamily="34" charset="-120"/>
              </a:rPr>
              <a:t>Reverse Proxy</a:t>
            </a:r>
            <a:endParaRPr lang="zh-TW" altLang="en-US" dirty="0">
              <a:solidFill>
                <a:srgbClr val="A0A09E"/>
              </a:solidFill>
              <a:latin typeface="微軟正黑體" panose="020B0604030504040204" pitchFamily="34" charset="-120"/>
              <a:ea typeface="微軟正黑體" panose="020B0604030504040204" pitchFamily="34" charset="-120"/>
            </a:endParaRPr>
          </a:p>
        </p:txBody>
      </p:sp>
      <p:cxnSp>
        <p:nvCxnSpPr>
          <p:cNvPr id="100" name="直線接點 99">
            <a:extLst>
              <a:ext uri="{FF2B5EF4-FFF2-40B4-BE49-F238E27FC236}">
                <a16:creationId xmlns:a16="http://schemas.microsoft.com/office/drawing/2014/main" id="{66E4D414-0F5F-4ADC-B31D-A880FD3894CB}"/>
              </a:ext>
            </a:extLst>
          </p:cNvPr>
          <p:cNvCxnSpPr>
            <a:cxnSpLocks/>
            <a:stCxn id="65" idx="2"/>
            <a:endCxn id="66" idx="0"/>
          </p:cNvCxnSpPr>
          <p:nvPr/>
        </p:nvCxnSpPr>
        <p:spPr>
          <a:xfrm flipH="1">
            <a:off x="6094900" y="2434175"/>
            <a:ext cx="2127" cy="161630"/>
          </a:xfrm>
          <a:prstGeom prst="line">
            <a:avLst/>
          </a:prstGeom>
          <a:ln w="25400">
            <a:solidFill>
              <a:srgbClr val="A0A09E"/>
            </a:solidFill>
            <a:prstDash val="sysDot"/>
            <a:tailEnd type="ova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37063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24</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 </a:t>
            </a:r>
            <a:r>
              <a:rPr lang="en-US" altLang="zh-TW" sz="3500" b="1" dirty="0">
                <a:solidFill>
                  <a:schemeClr val="tx1">
                    <a:lumMod val="75000"/>
                    <a:lumOff val="25000"/>
                  </a:schemeClr>
                </a:solidFill>
                <a:latin typeface="Montserrat Light" panose="00000400000000000000" pitchFamily="50" charset="0"/>
              </a:rPr>
              <a:t>– </a:t>
            </a:r>
            <a:r>
              <a:rPr lang="zh-TW" altLang="en-US" sz="3500" b="1" dirty="0">
                <a:solidFill>
                  <a:schemeClr val="tx1">
                    <a:lumMod val="75000"/>
                    <a:lumOff val="25000"/>
                  </a:schemeClr>
                </a:solidFill>
                <a:latin typeface="Montserrat Light" panose="00000400000000000000" pitchFamily="50" charset="0"/>
              </a:rPr>
              <a:t>系統運作</a:t>
            </a:r>
          </a:p>
        </p:txBody>
      </p:sp>
      <p:grpSp>
        <p:nvGrpSpPr>
          <p:cNvPr id="28" name="群組 27">
            <a:extLst>
              <a:ext uri="{FF2B5EF4-FFF2-40B4-BE49-F238E27FC236}">
                <a16:creationId xmlns:a16="http://schemas.microsoft.com/office/drawing/2014/main" id="{E6B59741-FB34-4B1C-B940-A54E8E7DBDB7}"/>
              </a:ext>
            </a:extLst>
          </p:cNvPr>
          <p:cNvGrpSpPr/>
          <p:nvPr/>
        </p:nvGrpSpPr>
        <p:grpSpPr>
          <a:xfrm>
            <a:off x="626051" y="3491118"/>
            <a:ext cx="3177094" cy="2324659"/>
            <a:chOff x="626051" y="3760539"/>
            <a:chExt cx="3177094" cy="2324659"/>
          </a:xfrm>
          <a:effectLst>
            <a:outerShdw blurRad="50800" dist="38100" dir="2700000" algn="tl" rotWithShape="0">
              <a:prstClr val="black">
                <a:alpha val="40000"/>
              </a:prstClr>
            </a:outerShdw>
          </a:effectLst>
        </p:grpSpPr>
        <p:grpSp>
          <p:nvGrpSpPr>
            <p:cNvPr id="29" name="群組 28">
              <a:extLst>
                <a:ext uri="{FF2B5EF4-FFF2-40B4-BE49-F238E27FC236}">
                  <a16:creationId xmlns:a16="http://schemas.microsoft.com/office/drawing/2014/main" id="{8AE07340-C58E-4091-929D-12D45523F230}"/>
                </a:ext>
              </a:extLst>
            </p:cNvPr>
            <p:cNvGrpSpPr>
              <a:grpSpLocks noChangeAspect="1"/>
            </p:cNvGrpSpPr>
            <p:nvPr/>
          </p:nvGrpSpPr>
          <p:grpSpPr>
            <a:xfrm>
              <a:off x="629255" y="3760539"/>
              <a:ext cx="3173890" cy="2324659"/>
              <a:chOff x="2047926" y="2716647"/>
              <a:chExt cx="3363958" cy="2463871"/>
            </a:xfrm>
          </p:grpSpPr>
          <p:sp>
            <p:nvSpPr>
              <p:cNvPr id="2" name="矩形: 圓角 1">
                <a:extLst>
                  <a:ext uri="{FF2B5EF4-FFF2-40B4-BE49-F238E27FC236}">
                    <a16:creationId xmlns:a16="http://schemas.microsoft.com/office/drawing/2014/main" id="{671D4271-5E48-4BA7-A662-AC27BA555E48}"/>
                  </a:ext>
                </a:extLst>
              </p:cNvPr>
              <p:cNvSpPr/>
              <p:nvPr/>
            </p:nvSpPr>
            <p:spPr>
              <a:xfrm>
                <a:off x="2047926" y="2716648"/>
                <a:ext cx="3363958" cy="2463870"/>
              </a:xfrm>
              <a:prstGeom prst="roundRect">
                <a:avLst>
                  <a:gd name="adj" fmla="val 3676"/>
                </a:avLst>
              </a:prstGeom>
              <a:solidFill>
                <a:srgbClr val="F0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 name="矩形: 圓角化同側角落 3">
                <a:extLst>
                  <a:ext uri="{FF2B5EF4-FFF2-40B4-BE49-F238E27FC236}">
                    <a16:creationId xmlns:a16="http://schemas.microsoft.com/office/drawing/2014/main" id="{1B40F7F5-3F67-4D7E-9ADD-00CE891193A1}"/>
                  </a:ext>
                </a:extLst>
              </p:cNvPr>
              <p:cNvSpPr/>
              <p:nvPr/>
            </p:nvSpPr>
            <p:spPr>
              <a:xfrm>
                <a:off x="2047926" y="2716647"/>
                <a:ext cx="3363958" cy="667517"/>
              </a:xfrm>
              <a:prstGeom prst="round2SameRect">
                <a:avLst>
                  <a:gd name="adj1" fmla="val 10005"/>
                  <a:gd name="adj2" fmla="val 0"/>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 name="群組 5">
                <a:extLst>
                  <a:ext uri="{FF2B5EF4-FFF2-40B4-BE49-F238E27FC236}">
                    <a16:creationId xmlns:a16="http://schemas.microsoft.com/office/drawing/2014/main" id="{87CE1167-4141-4EE3-A185-5B83C252C10C}"/>
                  </a:ext>
                </a:extLst>
              </p:cNvPr>
              <p:cNvGrpSpPr>
                <a:grpSpLocks noChangeAspect="1"/>
              </p:cNvGrpSpPr>
              <p:nvPr/>
            </p:nvGrpSpPr>
            <p:grpSpPr>
              <a:xfrm>
                <a:off x="2149046" y="2963605"/>
                <a:ext cx="576703" cy="148939"/>
                <a:chOff x="3153203" y="2920837"/>
                <a:chExt cx="418240" cy="108014"/>
              </a:xfrm>
            </p:grpSpPr>
            <p:sp>
              <p:nvSpPr>
                <p:cNvPr id="5" name="橢圓 4">
                  <a:extLst>
                    <a:ext uri="{FF2B5EF4-FFF2-40B4-BE49-F238E27FC236}">
                      <a16:creationId xmlns:a16="http://schemas.microsoft.com/office/drawing/2014/main" id="{89F0AAFA-1A3C-43D4-8213-CCD23AD7B87C}"/>
                    </a:ext>
                  </a:extLst>
                </p:cNvPr>
                <p:cNvSpPr/>
                <p:nvPr/>
              </p:nvSpPr>
              <p:spPr>
                <a:xfrm>
                  <a:off x="3153203" y="2920839"/>
                  <a:ext cx="108000" cy="108000"/>
                </a:xfrm>
                <a:prstGeom prst="ellipse">
                  <a:avLst/>
                </a:prstGeom>
                <a:solidFill>
                  <a:srgbClr val="FB5F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A7DCD560-A20F-4B31-822C-D6833614E151}"/>
                    </a:ext>
                  </a:extLst>
                </p:cNvPr>
                <p:cNvSpPr/>
                <p:nvPr/>
              </p:nvSpPr>
              <p:spPr>
                <a:xfrm>
                  <a:off x="3308323" y="2920851"/>
                  <a:ext cx="108000" cy="108000"/>
                </a:xfrm>
                <a:prstGeom prst="ellipse">
                  <a:avLst/>
                </a:prstGeom>
                <a:solidFill>
                  <a:srgbClr val="FD692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DF978066-71A4-4BAB-9EF3-FB6651C8F7A3}"/>
                    </a:ext>
                  </a:extLst>
                </p:cNvPr>
                <p:cNvSpPr/>
                <p:nvPr/>
              </p:nvSpPr>
              <p:spPr>
                <a:xfrm>
                  <a:off x="3463443" y="2920837"/>
                  <a:ext cx="108000" cy="108000"/>
                </a:xfrm>
                <a:prstGeom prst="ellipse">
                  <a:avLst/>
                </a:prstGeom>
                <a:solidFill>
                  <a:srgbClr val="29C83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 name="矩形: 圓角 6">
                <a:extLst>
                  <a:ext uri="{FF2B5EF4-FFF2-40B4-BE49-F238E27FC236}">
                    <a16:creationId xmlns:a16="http://schemas.microsoft.com/office/drawing/2014/main" id="{2A9B7FFC-0BBC-417D-BBE3-25C4EFBBDA76}"/>
                  </a:ext>
                </a:extLst>
              </p:cNvPr>
              <p:cNvSpPr/>
              <p:nvPr/>
            </p:nvSpPr>
            <p:spPr>
              <a:xfrm>
                <a:off x="2848706" y="2902313"/>
                <a:ext cx="1641348" cy="271462"/>
              </a:xfrm>
              <a:prstGeom prst="roundRect">
                <a:avLst/>
              </a:prstGeom>
              <a:solidFill>
                <a:srgbClr val="F7F7F7"/>
              </a:solidFill>
              <a:ln>
                <a:solidFill>
                  <a:srgbClr val="E2E2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7" name="圖形 16">
                <a:extLst>
                  <a:ext uri="{FF2B5EF4-FFF2-40B4-BE49-F238E27FC236}">
                    <a16:creationId xmlns:a16="http://schemas.microsoft.com/office/drawing/2014/main" id="{B8535C1C-A580-4A0A-B6CE-4E19BBB5C5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05158" y="2928330"/>
                <a:ext cx="213892" cy="213892"/>
              </a:xfrm>
              <a:prstGeom prst="rect">
                <a:avLst/>
              </a:prstGeom>
            </p:spPr>
          </p:pic>
          <p:sp>
            <p:nvSpPr>
              <p:cNvPr id="18" name="文字方塊 17">
                <a:extLst>
                  <a:ext uri="{FF2B5EF4-FFF2-40B4-BE49-F238E27FC236}">
                    <a16:creationId xmlns:a16="http://schemas.microsoft.com/office/drawing/2014/main" id="{FF22A825-F56A-4EB0-B4FC-E84E9D6217AD}"/>
                  </a:ext>
                </a:extLst>
              </p:cNvPr>
              <p:cNvSpPr txBox="1"/>
              <p:nvPr/>
            </p:nvSpPr>
            <p:spPr>
              <a:xfrm>
                <a:off x="3122821" y="2893680"/>
                <a:ext cx="1356632" cy="277276"/>
              </a:xfrm>
              <a:prstGeom prst="rect">
                <a:avLst/>
              </a:prstGeom>
              <a:noFill/>
            </p:spPr>
            <p:txBody>
              <a:bodyPr wrap="square" rtlCol="0">
                <a:spAutoFit/>
              </a:bodyPr>
              <a:lstStyle/>
              <a:p>
                <a:r>
                  <a:rPr lang="en-US" altLang="zh-TW" sz="1100" dirty="0">
                    <a:solidFill>
                      <a:srgbClr val="A0A09E"/>
                    </a:solidFill>
                    <a:latin typeface="Arial" panose="020B0604020202020204" pitchFamily="34" charset="0"/>
                    <a:cs typeface="Arial" panose="020B0604020202020204" pitchFamily="34" charset="0"/>
                  </a:rPr>
                  <a:t>https://xxx.com/a/</a:t>
                </a:r>
                <a:endParaRPr lang="zh-TW" altLang="en-US" sz="1100" dirty="0">
                  <a:solidFill>
                    <a:srgbClr val="A0A09E"/>
                  </a:solidFill>
                  <a:latin typeface="Arial" panose="020B0604020202020204" pitchFamily="34" charset="0"/>
                  <a:cs typeface="Arial" panose="020B0604020202020204" pitchFamily="34" charset="0"/>
                </a:endParaRPr>
              </a:p>
            </p:txBody>
          </p:sp>
          <p:grpSp>
            <p:nvGrpSpPr>
              <p:cNvPr id="27" name="群組 26">
                <a:extLst>
                  <a:ext uri="{FF2B5EF4-FFF2-40B4-BE49-F238E27FC236}">
                    <a16:creationId xmlns:a16="http://schemas.microsoft.com/office/drawing/2014/main" id="{85D88388-021A-4148-9345-50DE68E1B82E}"/>
                  </a:ext>
                </a:extLst>
              </p:cNvPr>
              <p:cNvGrpSpPr/>
              <p:nvPr/>
            </p:nvGrpSpPr>
            <p:grpSpPr>
              <a:xfrm>
                <a:off x="4622344" y="2944947"/>
                <a:ext cx="657250" cy="192622"/>
                <a:chOff x="5626500" y="2834220"/>
                <a:chExt cx="657250" cy="192622"/>
              </a:xfrm>
            </p:grpSpPr>
            <p:pic>
              <p:nvPicPr>
                <p:cNvPr id="22" name="圖形 21">
                  <a:extLst>
                    <a:ext uri="{FF2B5EF4-FFF2-40B4-BE49-F238E27FC236}">
                      <a16:creationId xmlns:a16="http://schemas.microsoft.com/office/drawing/2014/main" id="{8310FCC4-2367-4DC4-A231-2F7FF14AE7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6500" y="2834220"/>
                  <a:ext cx="180000" cy="180000"/>
                </a:xfrm>
                <a:prstGeom prst="rect">
                  <a:avLst/>
                </a:prstGeom>
              </p:spPr>
            </p:pic>
            <p:pic>
              <p:nvPicPr>
                <p:cNvPr id="24" name="圖形 23">
                  <a:extLst>
                    <a:ext uri="{FF2B5EF4-FFF2-40B4-BE49-F238E27FC236}">
                      <a16:creationId xmlns:a16="http://schemas.microsoft.com/office/drawing/2014/main" id="{750CF1A1-FF4D-4382-976B-19DEE49DFD0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65125" y="2834220"/>
                  <a:ext cx="180000" cy="179999"/>
                </a:xfrm>
                <a:prstGeom prst="rect">
                  <a:avLst/>
                </a:prstGeom>
              </p:spPr>
            </p:pic>
            <p:pic>
              <p:nvPicPr>
                <p:cNvPr id="26" name="圖形 25">
                  <a:extLst>
                    <a:ext uri="{FF2B5EF4-FFF2-40B4-BE49-F238E27FC236}">
                      <a16:creationId xmlns:a16="http://schemas.microsoft.com/office/drawing/2014/main" id="{523D21DE-24A3-4EFA-BC82-DD28997AC9B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6103750" y="2846843"/>
                  <a:ext cx="180000" cy="179999"/>
                </a:xfrm>
                <a:prstGeom prst="rect">
                  <a:avLst/>
                </a:prstGeom>
              </p:spPr>
            </p:pic>
          </p:grpSp>
        </p:grpSp>
        <p:sp>
          <p:nvSpPr>
            <p:cNvPr id="30" name="文字方塊 29">
              <a:extLst>
                <a:ext uri="{FF2B5EF4-FFF2-40B4-BE49-F238E27FC236}">
                  <a16:creationId xmlns:a16="http://schemas.microsoft.com/office/drawing/2014/main" id="{4F2B64E7-97BC-462B-94DB-E02AC4058206}"/>
                </a:ext>
              </a:extLst>
            </p:cNvPr>
            <p:cNvSpPr txBox="1"/>
            <p:nvPr/>
          </p:nvSpPr>
          <p:spPr>
            <a:xfrm>
              <a:off x="626051" y="4815216"/>
              <a:ext cx="3167481" cy="769441"/>
            </a:xfrm>
            <a:prstGeom prst="rect">
              <a:avLst/>
            </a:prstGeom>
            <a:noFill/>
          </p:spPr>
          <p:txBody>
            <a:bodyPr wrap="square" rtlCol="0">
              <a:spAutoFit/>
            </a:bodyPr>
            <a:lstStyle/>
            <a:p>
              <a:pPr algn="ctr"/>
              <a:r>
                <a:rPr lang="en-US" altLang="zh-TW" sz="4400" dirty="0">
                  <a:solidFill>
                    <a:srgbClr val="A0A09E"/>
                  </a:solidFill>
                  <a:latin typeface="Arial" panose="020B0604020202020204" pitchFamily="34" charset="0"/>
                  <a:cs typeface="Arial" panose="020B0604020202020204" pitchFamily="34" charset="0"/>
                </a:rPr>
                <a:t>PHP</a:t>
              </a:r>
              <a:endParaRPr lang="zh-TW" altLang="en-US" sz="4400" dirty="0">
                <a:solidFill>
                  <a:srgbClr val="A0A09E"/>
                </a:solidFill>
                <a:latin typeface="Arial" panose="020B0604020202020204" pitchFamily="34" charset="0"/>
                <a:cs typeface="Arial" panose="020B0604020202020204" pitchFamily="34" charset="0"/>
              </a:endParaRPr>
            </a:p>
          </p:txBody>
        </p:sp>
      </p:grpSp>
      <p:grpSp>
        <p:nvGrpSpPr>
          <p:cNvPr id="31" name="群組 30">
            <a:extLst>
              <a:ext uri="{FF2B5EF4-FFF2-40B4-BE49-F238E27FC236}">
                <a16:creationId xmlns:a16="http://schemas.microsoft.com/office/drawing/2014/main" id="{8E42825A-E1C7-4DBD-95FD-3DFD9B379279}"/>
              </a:ext>
            </a:extLst>
          </p:cNvPr>
          <p:cNvGrpSpPr/>
          <p:nvPr/>
        </p:nvGrpSpPr>
        <p:grpSpPr>
          <a:xfrm>
            <a:off x="4509851" y="3491118"/>
            <a:ext cx="3173890" cy="2324659"/>
            <a:chOff x="4509851" y="3760539"/>
            <a:chExt cx="3173890" cy="2324659"/>
          </a:xfrm>
          <a:effectLst>
            <a:outerShdw blurRad="50800" dist="38100" dir="2700000" algn="tl" rotWithShape="0">
              <a:prstClr val="black">
                <a:alpha val="40000"/>
              </a:prstClr>
            </a:outerShdw>
          </a:effectLst>
        </p:grpSpPr>
        <p:grpSp>
          <p:nvGrpSpPr>
            <p:cNvPr id="69" name="群組 68">
              <a:extLst>
                <a:ext uri="{FF2B5EF4-FFF2-40B4-BE49-F238E27FC236}">
                  <a16:creationId xmlns:a16="http://schemas.microsoft.com/office/drawing/2014/main" id="{F962AC41-B433-4458-8D54-39B2E416176E}"/>
                </a:ext>
              </a:extLst>
            </p:cNvPr>
            <p:cNvGrpSpPr>
              <a:grpSpLocks noChangeAspect="1"/>
            </p:cNvGrpSpPr>
            <p:nvPr/>
          </p:nvGrpSpPr>
          <p:grpSpPr>
            <a:xfrm>
              <a:off x="4509851" y="3760539"/>
              <a:ext cx="3173890" cy="2324659"/>
              <a:chOff x="2047926" y="2716647"/>
              <a:chExt cx="3363958" cy="2463871"/>
            </a:xfrm>
          </p:grpSpPr>
          <p:sp>
            <p:nvSpPr>
              <p:cNvPr id="70" name="矩形: 圓角 69">
                <a:extLst>
                  <a:ext uri="{FF2B5EF4-FFF2-40B4-BE49-F238E27FC236}">
                    <a16:creationId xmlns:a16="http://schemas.microsoft.com/office/drawing/2014/main" id="{34A97D9A-5E7B-4FA1-A0AE-76CE6D11CD4B}"/>
                  </a:ext>
                </a:extLst>
              </p:cNvPr>
              <p:cNvSpPr/>
              <p:nvPr/>
            </p:nvSpPr>
            <p:spPr>
              <a:xfrm>
                <a:off x="2047926" y="2716648"/>
                <a:ext cx="3363958" cy="2463870"/>
              </a:xfrm>
              <a:prstGeom prst="roundRect">
                <a:avLst>
                  <a:gd name="adj" fmla="val 3676"/>
                </a:avLst>
              </a:prstGeom>
              <a:solidFill>
                <a:srgbClr val="F0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1" name="矩形: 圓角化同側角落 70">
                <a:extLst>
                  <a:ext uri="{FF2B5EF4-FFF2-40B4-BE49-F238E27FC236}">
                    <a16:creationId xmlns:a16="http://schemas.microsoft.com/office/drawing/2014/main" id="{72351E62-F477-4AC4-A256-BF5376F57E08}"/>
                  </a:ext>
                </a:extLst>
              </p:cNvPr>
              <p:cNvSpPr/>
              <p:nvPr/>
            </p:nvSpPr>
            <p:spPr>
              <a:xfrm>
                <a:off x="2047926" y="2716647"/>
                <a:ext cx="3363958" cy="667517"/>
              </a:xfrm>
              <a:prstGeom prst="round2SameRect">
                <a:avLst>
                  <a:gd name="adj1" fmla="val 10005"/>
                  <a:gd name="adj2" fmla="val 0"/>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2" name="群組 71">
                <a:extLst>
                  <a:ext uri="{FF2B5EF4-FFF2-40B4-BE49-F238E27FC236}">
                    <a16:creationId xmlns:a16="http://schemas.microsoft.com/office/drawing/2014/main" id="{9D57447E-A88F-421F-864C-83C97D60A893}"/>
                  </a:ext>
                </a:extLst>
              </p:cNvPr>
              <p:cNvGrpSpPr>
                <a:grpSpLocks noChangeAspect="1"/>
              </p:cNvGrpSpPr>
              <p:nvPr/>
            </p:nvGrpSpPr>
            <p:grpSpPr>
              <a:xfrm>
                <a:off x="2149046" y="2963605"/>
                <a:ext cx="576703" cy="148939"/>
                <a:chOff x="3153203" y="2920837"/>
                <a:chExt cx="418240" cy="108014"/>
              </a:xfrm>
            </p:grpSpPr>
            <p:sp>
              <p:nvSpPr>
                <p:cNvPr id="80" name="橢圓 79">
                  <a:extLst>
                    <a:ext uri="{FF2B5EF4-FFF2-40B4-BE49-F238E27FC236}">
                      <a16:creationId xmlns:a16="http://schemas.microsoft.com/office/drawing/2014/main" id="{EBE04A0C-33D1-4E1D-9A38-11271A82F16A}"/>
                    </a:ext>
                  </a:extLst>
                </p:cNvPr>
                <p:cNvSpPr/>
                <p:nvPr/>
              </p:nvSpPr>
              <p:spPr>
                <a:xfrm>
                  <a:off x="3153203" y="2920839"/>
                  <a:ext cx="108000" cy="108000"/>
                </a:xfrm>
                <a:prstGeom prst="ellipse">
                  <a:avLst/>
                </a:prstGeom>
                <a:solidFill>
                  <a:srgbClr val="FB5F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58AE5A23-3A13-4F20-A41C-6C3F6D02DA4F}"/>
                    </a:ext>
                  </a:extLst>
                </p:cNvPr>
                <p:cNvSpPr/>
                <p:nvPr/>
              </p:nvSpPr>
              <p:spPr>
                <a:xfrm>
                  <a:off x="3308323" y="2920851"/>
                  <a:ext cx="108000" cy="108000"/>
                </a:xfrm>
                <a:prstGeom prst="ellipse">
                  <a:avLst/>
                </a:prstGeom>
                <a:solidFill>
                  <a:srgbClr val="FD692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橢圓 81">
                  <a:extLst>
                    <a:ext uri="{FF2B5EF4-FFF2-40B4-BE49-F238E27FC236}">
                      <a16:creationId xmlns:a16="http://schemas.microsoft.com/office/drawing/2014/main" id="{6F2072A5-FFA2-4023-9962-31BC6E9EF47C}"/>
                    </a:ext>
                  </a:extLst>
                </p:cNvPr>
                <p:cNvSpPr/>
                <p:nvPr/>
              </p:nvSpPr>
              <p:spPr>
                <a:xfrm>
                  <a:off x="3463443" y="2920837"/>
                  <a:ext cx="108000" cy="108000"/>
                </a:xfrm>
                <a:prstGeom prst="ellipse">
                  <a:avLst/>
                </a:prstGeom>
                <a:solidFill>
                  <a:srgbClr val="29C83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3" name="矩形: 圓角 72">
                <a:extLst>
                  <a:ext uri="{FF2B5EF4-FFF2-40B4-BE49-F238E27FC236}">
                    <a16:creationId xmlns:a16="http://schemas.microsoft.com/office/drawing/2014/main" id="{C4738DE3-AEBE-4C70-866B-3E248488EE14}"/>
                  </a:ext>
                </a:extLst>
              </p:cNvPr>
              <p:cNvSpPr/>
              <p:nvPr/>
            </p:nvSpPr>
            <p:spPr>
              <a:xfrm>
                <a:off x="2848706" y="2902313"/>
                <a:ext cx="1641348" cy="271462"/>
              </a:xfrm>
              <a:prstGeom prst="roundRect">
                <a:avLst/>
              </a:prstGeom>
              <a:solidFill>
                <a:srgbClr val="F7F7F7"/>
              </a:solidFill>
              <a:ln>
                <a:solidFill>
                  <a:srgbClr val="E2E2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74" name="圖形 73">
                <a:extLst>
                  <a:ext uri="{FF2B5EF4-FFF2-40B4-BE49-F238E27FC236}">
                    <a16:creationId xmlns:a16="http://schemas.microsoft.com/office/drawing/2014/main" id="{943DDA92-DA13-4B6D-9A74-D269C13139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05158" y="2928330"/>
                <a:ext cx="213892" cy="213892"/>
              </a:xfrm>
              <a:prstGeom prst="rect">
                <a:avLst/>
              </a:prstGeom>
            </p:spPr>
          </p:pic>
          <p:sp>
            <p:nvSpPr>
              <p:cNvPr id="75" name="文字方塊 74">
                <a:extLst>
                  <a:ext uri="{FF2B5EF4-FFF2-40B4-BE49-F238E27FC236}">
                    <a16:creationId xmlns:a16="http://schemas.microsoft.com/office/drawing/2014/main" id="{E2CDBCE2-096D-4791-83E2-8EC34969574A}"/>
                  </a:ext>
                </a:extLst>
              </p:cNvPr>
              <p:cNvSpPr txBox="1"/>
              <p:nvPr/>
            </p:nvSpPr>
            <p:spPr>
              <a:xfrm>
                <a:off x="3117286" y="2896777"/>
                <a:ext cx="1370861" cy="277276"/>
              </a:xfrm>
              <a:prstGeom prst="rect">
                <a:avLst/>
              </a:prstGeom>
              <a:noFill/>
            </p:spPr>
            <p:txBody>
              <a:bodyPr wrap="square" rtlCol="0">
                <a:spAutoFit/>
              </a:bodyPr>
              <a:lstStyle/>
              <a:p>
                <a:r>
                  <a:rPr lang="en-US" altLang="zh-TW" sz="1100" dirty="0">
                    <a:solidFill>
                      <a:srgbClr val="A0A09E"/>
                    </a:solidFill>
                    <a:latin typeface="Arial" panose="020B0604020202020204" pitchFamily="34" charset="0"/>
                    <a:cs typeface="Arial" panose="020B0604020202020204" pitchFamily="34" charset="0"/>
                  </a:rPr>
                  <a:t>https://xxx.com/b/</a:t>
                </a:r>
                <a:endParaRPr lang="zh-TW" altLang="en-US" sz="1100" dirty="0">
                  <a:solidFill>
                    <a:srgbClr val="A0A09E"/>
                  </a:solidFill>
                  <a:latin typeface="Arial" panose="020B0604020202020204" pitchFamily="34" charset="0"/>
                  <a:cs typeface="Arial" panose="020B0604020202020204" pitchFamily="34" charset="0"/>
                </a:endParaRPr>
              </a:p>
            </p:txBody>
          </p:sp>
          <p:grpSp>
            <p:nvGrpSpPr>
              <p:cNvPr id="76" name="群組 75">
                <a:extLst>
                  <a:ext uri="{FF2B5EF4-FFF2-40B4-BE49-F238E27FC236}">
                    <a16:creationId xmlns:a16="http://schemas.microsoft.com/office/drawing/2014/main" id="{4A3B15AC-D605-4482-B816-057E10805C6B}"/>
                  </a:ext>
                </a:extLst>
              </p:cNvPr>
              <p:cNvGrpSpPr/>
              <p:nvPr/>
            </p:nvGrpSpPr>
            <p:grpSpPr>
              <a:xfrm>
                <a:off x="4622344" y="2944947"/>
                <a:ext cx="657250" cy="192622"/>
                <a:chOff x="5626500" y="2834220"/>
                <a:chExt cx="657250" cy="192622"/>
              </a:xfrm>
            </p:grpSpPr>
            <p:pic>
              <p:nvPicPr>
                <p:cNvPr id="77" name="圖形 76">
                  <a:extLst>
                    <a:ext uri="{FF2B5EF4-FFF2-40B4-BE49-F238E27FC236}">
                      <a16:creationId xmlns:a16="http://schemas.microsoft.com/office/drawing/2014/main" id="{35F31459-1975-4CEA-8DF0-A58A2EEECC5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6500" y="2834220"/>
                  <a:ext cx="180000" cy="180000"/>
                </a:xfrm>
                <a:prstGeom prst="rect">
                  <a:avLst/>
                </a:prstGeom>
              </p:spPr>
            </p:pic>
            <p:pic>
              <p:nvPicPr>
                <p:cNvPr id="78" name="圖形 77">
                  <a:extLst>
                    <a:ext uri="{FF2B5EF4-FFF2-40B4-BE49-F238E27FC236}">
                      <a16:creationId xmlns:a16="http://schemas.microsoft.com/office/drawing/2014/main" id="{FD9DE10F-8995-44AF-917C-F6831435D8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65125" y="2834220"/>
                  <a:ext cx="180000" cy="179999"/>
                </a:xfrm>
                <a:prstGeom prst="rect">
                  <a:avLst/>
                </a:prstGeom>
              </p:spPr>
            </p:pic>
            <p:pic>
              <p:nvPicPr>
                <p:cNvPr id="79" name="圖形 78">
                  <a:extLst>
                    <a:ext uri="{FF2B5EF4-FFF2-40B4-BE49-F238E27FC236}">
                      <a16:creationId xmlns:a16="http://schemas.microsoft.com/office/drawing/2014/main" id="{1A24D079-4A14-487F-9A80-65F6989485E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6103750" y="2846843"/>
                  <a:ext cx="180000" cy="179999"/>
                </a:xfrm>
                <a:prstGeom prst="rect">
                  <a:avLst/>
                </a:prstGeom>
              </p:spPr>
            </p:pic>
          </p:grpSp>
        </p:grpSp>
        <p:sp>
          <p:nvSpPr>
            <p:cNvPr id="97" name="文字方塊 96">
              <a:extLst>
                <a:ext uri="{FF2B5EF4-FFF2-40B4-BE49-F238E27FC236}">
                  <a16:creationId xmlns:a16="http://schemas.microsoft.com/office/drawing/2014/main" id="{ADB37FB0-BBE2-4F97-9BEA-850250657C12}"/>
                </a:ext>
              </a:extLst>
            </p:cNvPr>
            <p:cNvSpPr txBox="1"/>
            <p:nvPr/>
          </p:nvSpPr>
          <p:spPr>
            <a:xfrm>
              <a:off x="4516260" y="4817552"/>
              <a:ext cx="3167481" cy="769441"/>
            </a:xfrm>
            <a:prstGeom prst="rect">
              <a:avLst/>
            </a:prstGeom>
            <a:noFill/>
          </p:spPr>
          <p:txBody>
            <a:bodyPr wrap="square" rtlCol="0">
              <a:spAutoFit/>
            </a:bodyPr>
            <a:lstStyle/>
            <a:p>
              <a:pPr algn="ctr"/>
              <a:r>
                <a:rPr lang="en-US" altLang="zh-TW" sz="4400" dirty="0">
                  <a:solidFill>
                    <a:srgbClr val="A0A09E"/>
                  </a:solidFill>
                  <a:latin typeface="Arial" panose="020B0604020202020204" pitchFamily="34" charset="0"/>
                  <a:cs typeface="Arial" panose="020B0604020202020204" pitchFamily="34" charset="0"/>
                </a:rPr>
                <a:t>.NET</a:t>
              </a:r>
              <a:endParaRPr lang="zh-TW" altLang="en-US" sz="4400" dirty="0">
                <a:solidFill>
                  <a:srgbClr val="A0A09E"/>
                </a:solidFill>
                <a:latin typeface="Arial" panose="020B0604020202020204" pitchFamily="34" charset="0"/>
                <a:cs typeface="Arial" panose="020B0604020202020204" pitchFamily="34" charset="0"/>
              </a:endParaRPr>
            </a:p>
          </p:txBody>
        </p:sp>
      </p:grpSp>
      <p:grpSp>
        <p:nvGrpSpPr>
          <p:cNvPr id="32" name="群組 31">
            <a:extLst>
              <a:ext uri="{FF2B5EF4-FFF2-40B4-BE49-F238E27FC236}">
                <a16:creationId xmlns:a16="http://schemas.microsoft.com/office/drawing/2014/main" id="{68498114-2E2A-46AB-8CC3-20F9D0CFD67A}"/>
              </a:ext>
            </a:extLst>
          </p:cNvPr>
          <p:cNvGrpSpPr/>
          <p:nvPr/>
        </p:nvGrpSpPr>
        <p:grpSpPr>
          <a:xfrm>
            <a:off x="8388855" y="3491118"/>
            <a:ext cx="3177094" cy="2324659"/>
            <a:chOff x="8388855" y="3760539"/>
            <a:chExt cx="3177094" cy="2324659"/>
          </a:xfrm>
          <a:effectLst>
            <a:outerShdw blurRad="50800" dist="38100" dir="2700000" algn="tl" rotWithShape="0">
              <a:prstClr val="black">
                <a:alpha val="40000"/>
              </a:prstClr>
            </a:outerShdw>
          </a:effectLst>
        </p:grpSpPr>
        <p:grpSp>
          <p:nvGrpSpPr>
            <p:cNvPr id="83" name="群組 82">
              <a:extLst>
                <a:ext uri="{FF2B5EF4-FFF2-40B4-BE49-F238E27FC236}">
                  <a16:creationId xmlns:a16="http://schemas.microsoft.com/office/drawing/2014/main" id="{BB845DA9-0051-4633-A4CC-C9A9214BEDF1}"/>
                </a:ext>
              </a:extLst>
            </p:cNvPr>
            <p:cNvGrpSpPr>
              <a:grpSpLocks noChangeAspect="1"/>
            </p:cNvGrpSpPr>
            <p:nvPr/>
          </p:nvGrpSpPr>
          <p:grpSpPr>
            <a:xfrm>
              <a:off x="8388855" y="3760539"/>
              <a:ext cx="3173890" cy="2324659"/>
              <a:chOff x="2047926" y="2716647"/>
              <a:chExt cx="3363958" cy="2463871"/>
            </a:xfrm>
          </p:grpSpPr>
          <p:sp>
            <p:nvSpPr>
              <p:cNvPr id="84" name="矩形: 圓角 83">
                <a:extLst>
                  <a:ext uri="{FF2B5EF4-FFF2-40B4-BE49-F238E27FC236}">
                    <a16:creationId xmlns:a16="http://schemas.microsoft.com/office/drawing/2014/main" id="{E626C567-C71D-4029-925C-4EB8C6918DED}"/>
                  </a:ext>
                </a:extLst>
              </p:cNvPr>
              <p:cNvSpPr/>
              <p:nvPr/>
            </p:nvSpPr>
            <p:spPr>
              <a:xfrm>
                <a:off x="2047926" y="2716647"/>
                <a:ext cx="3363958" cy="2463871"/>
              </a:xfrm>
              <a:prstGeom prst="roundRect">
                <a:avLst>
                  <a:gd name="adj" fmla="val 3676"/>
                </a:avLst>
              </a:prstGeom>
              <a:solidFill>
                <a:srgbClr val="F0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5" name="矩形: 圓角化同側角落 84">
                <a:extLst>
                  <a:ext uri="{FF2B5EF4-FFF2-40B4-BE49-F238E27FC236}">
                    <a16:creationId xmlns:a16="http://schemas.microsoft.com/office/drawing/2014/main" id="{8EB2EF6A-F6EE-4B96-A8F1-4700F7371425}"/>
                  </a:ext>
                </a:extLst>
              </p:cNvPr>
              <p:cNvSpPr/>
              <p:nvPr/>
            </p:nvSpPr>
            <p:spPr>
              <a:xfrm>
                <a:off x="2047926" y="2716647"/>
                <a:ext cx="3363958" cy="667517"/>
              </a:xfrm>
              <a:prstGeom prst="round2SameRect">
                <a:avLst>
                  <a:gd name="adj1" fmla="val 10005"/>
                  <a:gd name="adj2" fmla="val 0"/>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6" name="群組 85">
                <a:extLst>
                  <a:ext uri="{FF2B5EF4-FFF2-40B4-BE49-F238E27FC236}">
                    <a16:creationId xmlns:a16="http://schemas.microsoft.com/office/drawing/2014/main" id="{2A687D99-925A-4E09-9BC3-0EC0CA361BF4}"/>
                  </a:ext>
                </a:extLst>
              </p:cNvPr>
              <p:cNvGrpSpPr>
                <a:grpSpLocks noChangeAspect="1"/>
              </p:cNvGrpSpPr>
              <p:nvPr/>
            </p:nvGrpSpPr>
            <p:grpSpPr>
              <a:xfrm>
                <a:off x="2149046" y="2963605"/>
                <a:ext cx="576703" cy="148939"/>
                <a:chOff x="3153203" y="2920837"/>
                <a:chExt cx="418240" cy="108014"/>
              </a:xfrm>
            </p:grpSpPr>
            <p:sp>
              <p:nvSpPr>
                <p:cNvPr id="94" name="橢圓 93">
                  <a:extLst>
                    <a:ext uri="{FF2B5EF4-FFF2-40B4-BE49-F238E27FC236}">
                      <a16:creationId xmlns:a16="http://schemas.microsoft.com/office/drawing/2014/main" id="{09868D48-8970-486B-891A-2223621C004F}"/>
                    </a:ext>
                  </a:extLst>
                </p:cNvPr>
                <p:cNvSpPr/>
                <p:nvPr/>
              </p:nvSpPr>
              <p:spPr>
                <a:xfrm>
                  <a:off x="3153203" y="2920839"/>
                  <a:ext cx="108000" cy="108000"/>
                </a:xfrm>
                <a:prstGeom prst="ellipse">
                  <a:avLst/>
                </a:prstGeom>
                <a:solidFill>
                  <a:srgbClr val="FB5F5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橢圓 94">
                  <a:extLst>
                    <a:ext uri="{FF2B5EF4-FFF2-40B4-BE49-F238E27FC236}">
                      <a16:creationId xmlns:a16="http://schemas.microsoft.com/office/drawing/2014/main" id="{CFB6C403-9AA3-4F6E-AE79-4DDF86CAE8EA}"/>
                    </a:ext>
                  </a:extLst>
                </p:cNvPr>
                <p:cNvSpPr/>
                <p:nvPr/>
              </p:nvSpPr>
              <p:spPr>
                <a:xfrm>
                  <a:off x="3308323" y="2920851"/>
                  <a:ext cx="108000" cy="108000"/>
                </a:xfrm>
                <a:prstGeom prst="ellipse">
                  <a:avLst/>
                </a:prstGeom>
                <a:solidFill>
                  <a:srgbClr val="FD692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橢圓 95">
                  <a:extLst>
                    <a:ext uri="{FF2B5EF4-FFF2-40B4-BE49-F238E27FC236}">
                      <a16:creationId xmlns:a16="http://schemas.microsoft.com/office/drawing/2014/main" id="{BD3A6ADA-A5AD-4AE1-B936-9800B629225E}"/>
                    </a:ext>
                  </a:extLst>
                </p:cNvPr>
                <p:cNvSpPr/>
                <p:nvPr/>
              </p:nvSpPr>
              <p:spPr>
                <a:xfrm>
                  <a:off x="3463443" y="2920837"/>
                  <a:ext cx="108000" cy="108000"/>
                </a:xfrm>
                <a:prstGeom prst="ellipse">
                  <a:avLst/>
                </a:prstGeom>
                <a:solidFill>
                  <a:srgbClr val="29C83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7" name="矩形: 圓角 86">
                <a:extLst>
                  <a:ext uri="{FF2B5EF4-FFF2-40B4-BE49-F238E27FC236}">
                    <a16:creationId xmlns:a16="http://schemas.microsoft.com/office/drawing/2014/main" id="{BABE3D2D-0DA9-47F9-A6BA-C141C4DA5CF2}"/>
                  </a:ext>
                </a:extLst>
              </p:cNvPr>
              <p:cNvSpPr/>
              <p:nvPr/>
            </p:nvSpPr>
            <p:spPr>
              <a:xfrm>
                <a:off x="2848706" y="2902313"/>
                <a:ext cx="1641348" cy="271462"/>
              </a:xfrm>
              <a:prstGeom prst="roundRect">
                <a:avLst/>
              </a:prstGeom>
              <a:solidFill>
                <a:srgbClr val="F7F7F7"/>
              </a:solidFill>
              <a:ln>
                <a:solidFill>
                  <a:srgbClr val="E2E2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88" name="圖形 87">
                <a:extLst>
                  <a:ext uri="{FF2B5EF4-FFF2-40B4-BE49-F238E27FC236}">
                    <a16:creationId xmlns:a16="http://schemas.microsoft.com/office/drawing/2014/main" id="{54E17578-03A1-4C1F-A971-355BBF365A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05158" y="2928330"/>
                <a:ext cx="213892" cy="213892"/>
              </a:xfrm>
              <a:prstGeom prst="rect">
                <a:avLst/>
              </a:prstGeom>
            </p:spPr>
          </p:pic>
          <p:sp>
            <p:nvSpPr>
              <p:cNvPr id="89" name="文字方塊 88">
                <a:extLst>
                  <a:ext uri="{FF2B5EF4-FFF2-40B4-BE49-F238E27FC236}">
                    <a16:creationId xmlns:a16="http://schemas.microsoft.com/office/drawing/2014/main" id="{05264CB8-CA95-4B0E-934D-E999E3BBEA76}"/>
                  </a:ext>
                </a:extLst>
              </p:cNvPr>
              <p:cNvSpPr txBox="1"/>
              <p:nvPr/>
            </p:nvSpPr>
            <p:spPr>
              <a:xfrm>
                <a:off x="3124923" y="2902313"/>
                <a:ext cx="1354533" cy="277276"/>
              </a:xfrm>
              <a:prstGeom prst="rect">
                <a:avLst/>
              </a:prstGeom>
              <a:noFill/>
            </p:spPr>
            <p:txBody>
              <a:bodyPr wrap="square" rtlCol="0">
                <a:spAutoFit/>
              </a:bodyPr>
              <a:lstStyle/>
              <a:p>
                <a:r>
                  <a:rPr lang="en-US" altLang="zh-TW" sz="1100" dirty="0">
                    <a:solidFill>
                      <a:srgbClr val="A0A09E"/>
                    </a:solidFill>
                    <a:latin typeface="Arial" panose="020B0604020202020204" pitchFamily="34" charset="0"/>
                    <a:cs typeface="Arial" panose="020B0604020202020204" pitchFamily="34" charset="0"/>
                  </a:rPr>
                  <a:t>https://xxx.com/c/</a:t>
                </a:r>
                <a:endParaRPr lang="zh-TW" altLang="en-US" sz="1100" dirty="0">
                  <a:solidFill>
                    <a:srgbClr val="A0A09E"/>
                  </a:solidFill>
                  <a:latin typeface="Arial" panose="020B0604020202020204" pitchFamily="34" charset="0"/>
                  <a:cs typeface="Arial" panose="020B0604020202020204" pitchFamily="34" charset="0"/>
                </a:endParaRPr>
              </a:p>
            </p:txBody>
          </p:sp>
          <p:grpSp>
            <p:nvGrpSpPr>
              <p:cNvPr id="90" name="群組 89">
                <a:extLst>
                  <a:ext uri="{FF2B5EF4-FFF2-40B4-BE49-F238E27FC236}">
                    <a16:creationId xmlns:a16="http://schemas.microsoft.com/office/drawing/2014/main" id="{D55C46E1-8E6C-4DF1-BBEC-86C3E213D9D5}"/>
                  </a:ext>
                </a:extLst>
              </p:cNvPr>
              <p:cNvGrpSpPr/>
              <p:nvPr/>
            </p:nvGrpSpPr>
            <p:grpSpPr>
              <a:xfrm>
                <a:off x="4622344" y="2944947"/>
                <a:ext cx="657250" cy="192622"/>
                <a:chOff x="5626500" y="2834220"/>
                <a:chExt cx="657250" cy="192622"/>
              </a:xfrm>
            </p:grpSpPr>
            <p:pic>
              <p:nvPicPr>
                <p:cNvPr id="91" name="圖形 90">
                  <a:extLst>
                    <a:ext uri="{FF2B5EF4-FFF2-40B4-BE49-F238E27FC236}">
                      <a16:creationId xmlns:a16="http://schemas.microsoft.com/office/drawing/2014/main" id="{9B960185-91FF-4E58-9E2E-CB907683D9C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6500" y="2834220"/>
                  <a:ext cx="180000" cy="180000"/>
                </a:xfrm>
                <a:prstGeom prst="rect">
                  <a:avLst/>
                </a:prstGeom>
              </p:spPr>
            </p:pic>
            <p:pic>
              <p:nvPicPr>
                <p:cNvPr id="92" name="圖形 91">
                  <a:extLst>
                    <a:ext uri="{FF2B5EF4-FFF2-40B4-BE49-F238E27FC236}">
                      <a16:creationId xmlns:a16="http://schemas.microsoft.com/office/drawing/2014/main" id="{9244E3F7-CF89-4DC8-9170-54940CB50D2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65125" y="2834220"/>
                  <a:ext cx="180000" cy="179999"/>
                </a:xfrm>
                <a:prstGeom prst="rect">
                  <a:avLst/>
                </a:prstGeom>
              </p:spPr>
            </p:pic>
            <p:pic>
              <p:nvPicPr>
                <p:cNvPr id="93" name="圖形 92">
                  <a:extLst>
                    <a:ext uri="{FF2B5EF4-FFF2-40B4-BE49-F238E27FC236}">
                      <a16:creationId xmlns:a16="http://schemas.microsoft.com/office/drawing/2014/main" id="{667576E4-644E-42D7-8A0E-23EF4AC1E46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6103750" y="2846843"/>
                  <a:ext cx="180000" cy="179999"/>
                </a:xfrm>
                <a:prstGeom prst="rect">
                  <a:avLst/>
                </a:prstGeom>
              </p:spPr>
            </p:pic>
          </p:grpSp>
        </p:grpSp>
        <p:sp>
          <p:nvSpPr>
            <p:cNvPr id="98" name="文字方塊 97">
              <a:extLst>
                <a:ext uri="{FF2B5EF4-FFF2-40B4-BE49-F238E27FC236}">
                  <a16:creationId xmlns:a16="http://schemas.microsoft.com/office/drawing/2014/main" id="{421626B2-ADD9-40BC-ACB6-2533ECEE86B1}"/>
                </a:ext>
              </a:extLst>
            </p:cNvPr>
            <p:cNvSpPr txBox="1"/>
            <p:nvPr/>
          </p:nvSpPr>
          <p:spPr>
            <a:xfrm>
              <a:off x="8398468" y="4815217"/>
              <a:ext cx="3167481" cy="769441"/>
            </a:xfrm>
            <a:prstGeom prst="rect">
              <a:avLst/>
            </a:prstGeom>
            <a:noFill/>
          </p:spPr>
          <p:txBody>
            <a:bodyPr wrap="square" rtlCol="0">
              <a:spAutoFit/>
            </a:bodyPr>
            <a:lstStyle/>
            <a:p>
              <a:pPr algn="ctr"/>
              <a:r>
                <a:rPr lang="en-US" altLang="zh-TW" sz="4400" dirty="0">
                  <a:solidFill>
                    <a:srgbClr val="A0A09E"/>
                  </a:solidFill>
                  <a:latin typeface="Arial" panose="020B0604020202020204" pitchFamily="34" charset="0"/>
                  <a:cs typeface="Arial" panose="020B0604020202020204" pitchFamily="34" charset="0"/>
                </a:rPr>
                <a:t>Node.js</a:t>
              </a:r>
              <a:endParaRPr lang="zh-TW" altLang="en-US" sz="4400" dirty="0">
                <a:solidFill>
                  <a:srgbClr val="A0A09E"/>
                </a:solidFill>
                <a:latin typeface="Arial" panose="020B0604020202020204" pitchFamily="34" charset="0"/>
                <a:cs typeface="Arial" panose="020B0604020202020204" pitchFamily="34" charset="0"/>
              </a:endParaRPr>
            </a:p>
          </p:txBody>
        </p:sp>
      </p:grpSp>
      <p:cxnSp>
        <p:nvCxnSpPr>
          <p:cNvPr id="10" name="直線接點 9">
            <a:extLst>
              <a:ext uri="{FF2B5EF4-FFF2-40B4-BE49-F238E27FC236}">
                <a16:creationId xmlns:a16="http://schemas.microsoft.com/office/drawing/2014/main" id="{C4E97AD3-84B2-4137-93E4-A457C291ACAF}"/>
              </a:ext>
            </a:extLst>
          </p:cNvPr>
          <p:cNvCxnSpPr>
            <a:cxnSpLocks/>
            <a:stCxn id="66" idx="2"/>
            <a:endCxn id="71" idx="3"/>
          </p:cNvCxnSpPr>
          <p:nvPr/>
        </p:nvCxnSpPr>
        <p:spPr>
          <a:xfrm>
            <a:off x="6096796" y="2644358"/>
            <a:ext cx="0" cy="846760"/>
          </a:xfrm>
          <a:prstGeom prst="line">
            <a:avLst/>
          </a:prstGeom>
          <a:ln w="25400">
            <a:solidFill>
              <a:srgbClr val="A0A09E"/>
            </a:solidFill>
            <a:prstDash val="sysDot"/>
            <a:tailEnd type="oval"/>
          </a:ln>
        </p:spPr>
        <p:style>
          <a:lnRef idx="1">
            <a:schemeClr val="dk1"/>
          </a:lnRef>
          <a:fillRef idx="0">
            <a:schemeClr val="dk1"/>
          </a:fillRef>
          <a:effectRef idx="0">
            <a:schemeClr val="dk1"/>
          </a:effectRef>
          <a:fontRef idx="minor">
            <a:schemeClr val="tx1"/>
          </a:fontRef>
        </p:style>
      </p:cxnSp>
      <p:cxnSp>
        <p:nvCxnSpPr>
          <p:cNvPr id="60" name="直線接點 59">
            <a:extLst>
              <a:ext uri="{FF2B5EF4-FFF2-40B4-BE49-F238E27FC236}">
                <a16:creationId xmlns:a16="http://schemas.microsoft.com/office/drawing/2014/main" id="{B49050E4-AC1C-430E-90EC-9F3D89956046}"/>
              </a:ext>
            </a:extLst>
          </p:cNvPr>
          <p:cNvCxnSpPr>
            <a:cxnSpLocks/>
            <a:stCxn id="66" idx="2"/>
            <a:endCxn id="4" idx="3"/>
          </p:cNvCxnSpPr>
          <p:nvPr/>
        </p:nvCxnSpPr>
        <p:spPr>
          <a:xfrm flipH="1">
            <a:off x="2216200" y="2644358"/>
            <a:ext cx="3880596" cy="846760"/>
          </a:xfrm>
          <a:prstGeom prst="line">
            <a:avLst/>
          </a:prstGeom>
          <a:ln w="25400">
            <a:solidFill>
              <a:srgbClr val="A0A09E"/>
            </a:solidFill>
            <a:prstDash val="sysDot"/>
            <a:tailEnd type="oval"/>
          </a:ln>
        </p:spPr>
        <p:style>
          <a:lnRef idx="1">
            <a:schemeClr val="dk1"/>
          </a:lnRef>
          <a:fillRef idx="0">
            <a:schemeClr val="dk1"/>
          </a:fillRef>
          <a:effectRef idx="0">
            <a:schemeClr val="dk1"/>
          </a:effectRef>
          <a:fontRef idx="minor">
            <a:schemeClr val="tx1"/>
          </a:fontRef>
        </p:style>
      </p:cxnSp>
      <p:cxnSp>
        <p:nvCxnSpPr>
          <p:cNvPr id="63" name="直線接點 62">
            <a:extLst>
              <a:ext uri="{FF2B5EF4-FFF2-40B4-BE49-F238E27FC236}">
                <a16:creationId xmlns:a16="http://schemas.microsoft.com/office/drawing/2014/main" id="{E04C11AF-6E05-4E18-ACFA-3AA77AEF91B8}"/>
              </a:ext>
            </a:extLst>
          </p:cNvPr>
          <p:cNvCxnSpPr>
            <a:cxnSpLocks/>
            <a:stCxn id="66" idx="2"/>
            <a:endCxn id="85" idx="3"/>
          </p:cNvCxnSpPr>
          <p:nvPr/>
        </p:nvCxnSpPr>
        <p:spPr>
          <a:xfrm>
            <a:off x="6096796" y="2644358"/>
            <a:ext cx="3879004" cy="846760"/>
          </a:xfrm>
          <a:prstGeom prst="line">
            <a:avLst/>
          </a:prstGeom>
          <a:ln w="25400">
            <a:solidFill>
              <a:srgbClr val="A0A09E"/>
            </a:solidFill>
            <a:prstDash val="sysDot"/>
            <a:tailEnd type="oval"/>
          </a:ln>
        </p:spPr>
        <p:style>
          <a:lnRef idx="1">
            <a:schemeClr val="dk1"/>
          </a:lnRef>
          <a:fillRef idx="0">
            <a:schemeClr val="dk1"/>
          </a:fillRef>
          <a:effectRef idx="0">
            <a:schemeClr val="dk1"/>
          </a:effectRef>
          <a:fontRef idx="minor">
            <a:schemeClr val="tx1"/>
          </a:fontRef>
        </p:style>
      </p:cxnSp>
      <p:sp>
        <p:nvSpPr>
          <p:cNvPr id="66" name="矩形: 圓角 65">
            <a:extLst>
              <a:ext uri="{FF2B5EF4-FFF2-40B4-BE49-F238E27FC236}">
                <a16:creationId xmlns:a16="http://schemas.microsoft.com/office/drawing/2014/main" id="{E6C002CC-5B8E-4625-9EA7-9212B58B287D}"/>
              </a:ext>
            </a:extLst>
          </p:cNvPr>
          <p:cNvSpPr/>
          <p:nvPr/>
        </p:nvSpPr>
        <p:spPr>
          <a:xfrm>
            <a:off x="4845104" y="2187158"/>
            <a:ext cx="2503383"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rPr>
              <a:t>https://xxx.com</a:t>
            </a:r>
            <a:endParaRPr lang="zh-TW" altLang="en-US" dirty="0">
              <a:solidFill>
                <a:srgbClr val="A0A09E"/>
              </a:solidFill>
            </a:endParaRPr>
          </a:p>
        </p:txBody>
      </p:sp>
    </p:spTree>
    <p:extLst>
      <p:ext uri="{BB962C8B-B14F-4D97-AF65-F5344CB8AC3E}">
        <p14:creationId xmlns:p14="http://schemas.microsoft.com/office/powerpoint/2010/main" val="130741835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25</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 </a:t>
            </a:r>
            <a:r>
              <a:rPr lang="en-US" altLang="zh-TW" sz="3500" b="1" dirty="0">
                <a:solidFill>
                  <a:schemeClr val="tx1">
                    <a:lumMod val="75000"/>
                    <a:lumOff val="25000"/>
                  </a:schemeClr>
                </a:solidFill>
                <a:latin typeface="Montserrat Light" panose="00000400000000000000" pitchFamily="50" charset="0"/>
              </a:rPr>
              <a:t>–</a:t>
            </a:r>
            <a:r>
              <a:rPr lang="zh-TW" altLang="en-US" sz="3500" b="1" dirty="0">
                <a:solidFill>
                  <a:schemeClr val="tx1">
                    <a:lumMod val="75000"/>
                    <a:lumOff val="25000"/>
                  </a:schemeClr>
                </a:solidFill>
                <a:latin typeface="Montserrat Light" panose="00000400000000000000" pitchFamily="50" charset="0"/>
              </a:rPr>
              <a:t> </a:t>
            </a:r>
            <a:r>
              <a:rPr lang="en-US" altLang="zh-TW" sz="3500" b="1" dirty="0">
                <a:solidFill>
                  <a:schemeClr val="tx1">
                    <a:lumMod val="75000"/>
                    <a:lumOff val="25000"/>
                  </a:schemeClr>
                </a:solidFill>
                <a:latin typeface="Montserrat Light" panose="00000400000000000000" pitchFamily="50" charset="0"/>
              </a:rPr>
              <a:t>Web Server</a:t>
            </a:r>
            <a:r>
              <a:rPr lang="zh-TW" altLang="en-US" sz="3500" b="1" dirty="0">
                <a:solidFill>
                  <a:schemeClr val="tx1">
                    <a:lumMod val="75000"/>
                    <a:lumOff val="25000"/>
                  </a:schemeClr>
                </a:solidFill>
                <a:latin typeface="Montserrat Light" panose="00000400000000000000" pitchFamily="50" charset="0"/>
              </a:rPr>
              <a:t>配置</a:t>
            </a:r>
          </a:p>
        </p:txBody>
      </p:sp>
      <p:sp>
        <p:nvSpPr>
          <p:cNvPr id="14" name="矩形: 圓角 13">
            <a:extLst>
              <a:ext uri="{FF2B5EF4-FFF2-40B4-BE49-F238E27FC236}">
                <a16:creationId xmlns:a16="http://schemas.microsoft.com/office/drawing/2014/main" id="{2B5FD68E-8035-45FE-88D2-AB0A2D4914E9}"/>
              </a:ext>
            </a:extLst>
          </p:cNvPr>
          <p:cNvSpPr/>
          <p:nvPr/>
        </p:nvSpPr>
        <p:spPr>
          <a:xfrm>
            <a:off x="6829425" y="2247264"/>
            <a:ext cx="4476750" cy="3486149"/>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Apache2</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配置檔案</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啟用模組</a:t>
            </a:r>
            <a:r>
              <a:rPr lang="es-ES" altLang="zh-TW" dirty="0">
                <a:solidFill>
                  <a:schemeClr val="tx1">
                    <a:lumMod val="75000"/>
                    <a:lumOff val="25000"/>
                  </a:schemeClr>
                </a:solidFill>
                <a:latin typeface="微軟正黑體" panose="020B0604030504040204" pitchFamily="34" charset="-120"/>
                <a:ea typeface="微軟正黑體" panose="020B0604030504040204" pitchFamily="34" charset="-120"/>
              </a:rPr>
              <a:t>ssl, proxy, proxy_http</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並在配置檔中新增憑證與</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proxy</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設定</a:t>
            </a:r>
          </a:p>
        </p:txBody>
      </p:sp>
      <p:sp>
        <p:nvSpPr>
          <p:cNvPr id="2" name="文字方塊 1">
            <a:extLst>
              <a:ext uri="{FF2B5EF4-FFF2-40B4-BE49-F238E27FC236}">
                <a16:creationId xmlns:a16="http://schemas.microsoft.com/office/drawing/2014/main" id="{728D08D5-CA78-41D8-95C3-7FC51A5C83BB}"/>
              </a:ext>
            </a:extLst>
          </p:cNvPr>
          <p:cNvSpPr txBox="1"/>
          <p:nvPr/>
        </p:nvSpPr>
        <p:spPr>
          <a:xfrm>
            <a:off x="885825" y="2074429"/>
            <a:ext cx="5262979" cy="3831818"/>
          </a:xfrm>
          <a:prstGeom prst="rect">
            <a:avLst/>
          </a:prstGeom>
          <a:noFill/>
        </p:spPr>
        <p:txBody>
          <a:bodyPr wrap="none" rtlCol="0">
            <a:spAutoFit/>
          </a:bodyPr>
          <a:lstStyle/>
          <a:p>
            <a:r>
              <a:rPr lang="en-US" altLang="zh-TW" sz="1000" dirty="0">
                <a:solidFill>
                  <a:schemeClr val="bg1">
                    <a:lumMod val="50000"/>
                  </a:schemeClr>
                </a:solidFill>
              </a:rPr>
              <a:t>&lt;</a:t>
            </a:r>
            <a:r>
              <a:rPr lang="en-US" altLang="zh-TW" sz="1000" dirty="0" err="1">
                <a:solidFill>
                  <a:schemeClr val="bg1">
                    <a:lumMod val="50000"/>
                  </a:schemeClr>
                </a:solidFill>
              </a:rPr>
              <a:t>VirtualHost</a:t>
            </a:r>
            <a:r>
              <a:rPr lang="en-US" altLang="zh-TW" sz="1000" dirty="0">
                <a:solidFill>
                  <a:schemeClr val="bg1">
                    <a:lumMod val="50000"/>
                  </a:schemeClr>
                </a:solidFill>
              </a:rPr>
              <a:t> *:80&gt;</a:t>
            </a:r>
          </a:p>
          <a:p>
            <a:r>
              <a:rPr lang="en-US" altLang="zh-TW" sz="1000" dirty="0">
                <a:solidFill>
                  <a:schemeClr val="bg1">
                    <a:lumMod val="50000"/>
                  </a:schemeClr>
                </a:solidFill>
              </a:rPr>
              <a:t>        </a:t>
            </a:r>
            <a:r>
              <a:rPr lang="en-US" altLang="zh-TW" sz="1000" dirty="0" err="1">
                <a:solidFill>
                  <a:schemeClr val="bg1">
                    <a:lumMod val="50000"/>
                  </a:schemeClr>
                </a:solidFill>
              </a:rPr>
              <a:t>ServerName</a:t>
            </a:r>
            <a:r>
              <a:rPr lang="en-US" altLang="zh-TW" sz="1000" dirty="0">
                <a:solidFill>
                  <a:schemeClr val="bg1">
                    <a:lumMod val="50000"/>
                  </a:schemeClr>
                </a:solidFill>
              </a:rPr>
              <a:t> spl.sytes.net</a:t>
            </a:r>
          </a:p>
          <a:p>
            <a:r>
              <a:rPr lang="en-US" altLang="zh-TW" sz="1000" dirty="0">
                <a:solidFill>
                  <a:schemeClr val="bg1">
                    <a:lumMod val="50000"/>
                  </a:schemeClr>
                </a:solidFill>
              </a:rPr>
              <a:t>        </a:t>
            </a:r>
            <a:r>
              <a:rPr lang="en-US" altLang="zh-TW" sz="1000" dirty="0" err="1">
                <a:solidFill>
                  <a:schemeClr val="bg1">
                    <a:lumMod val="50000"/>
                  </a:schemeClr>
                </a:solidFill>
              </a:rPr>
              <a:t>ServerAlias</a:t>
            </a:r>
            <a:r>
              <a:rPr lang="en-US" altLang="zh-TW" sz="1000" dirty="0">
                <a:solidFill>
                  <a:schemeClr val="bg1">
                    <a:lumMod val="50000"/>
                  </a:schemeClr>
                </a:solidFill>
              </a:rPr>
              <a:t> spl.sytes.net</a:t>
            </a:r>
          </a:p>
          <a:p>
            <a:r>
              <a:rPr lang="en-US" altLang="zh-TW" sz="1000" dirty="0">
                <a:solidFill>
                  <a:schemeClr val="bg1">
                    <a:lumMod val="50000"/>
                  </a:schemeClr>
                </a:solidFill>
              </a:rPr>
              <a:t>&lt;/</a:t>
            </a:r>
            <a:r>
              <a:rPr lang="en-US" altLang="zh-TW" sz="1000" dirty="0" err="1">
                <a:solidFill>
                  <a:schemeClr val="bg1">
                    <a:lumMod val="50000"/>
                  </a:schemeClr>
                </a:solidFill>
              </a:rPr>
              <a:t>VirtualHost</a:t>
            </a:r>
            <a:r>
              <a:rPr lang="en-US" altLang="zh-TW" sz="1000" dirty="0">
                <a:solidFill>
                  <a:schemeClr val="bg1">
                    <a:lumMod val="50000"/>
                  </a:schemeClr>
                </a:solidFill>
              </a:rPr>
              <a:t>&gt;</a:t>
            </a:r>
          </a:p>
          <a:p>
            <a:endParaRPr lang="en-US" altLang="zh-TW" sz="1100" dirty="0">
              <a:solidFill>
                <a:schemeClr val="bg1">
                  <a:lumMod val="50000"/>
                </a:schemeClr>
              </a:solidFill>
            </a:endParaRPr>
          </a:p>
          <a:p>
            <a:r>
              <a:rPr lang="en-US" altLang="zh-TW" sz="1000" dirty="0">
                <a:solidFill>
                  <a:schemeClr val="bg1">
                    <a:lumMod val="50000"/>
                  </a:schemeClr>
                </a:solidFill>
              </a:rPr>
              <a:t>&lt;</a:t>
            </a:r>
            <a:r>
              <a:rPr lang="en-US" altLang="zh-TW" sz="1000" dirty="0" err="1">
                <a:solidFill>
                  <a:schemeClr val="bg1">
                    <a:lumMod val="50000"/>
                  </a:schemeClr>
                </a:solidFill>
              </a:rPr>
              <a:t>VirtualHost</a:t>
            </a:r>
            <a:r>
              <a:rPr lang="en-US" altLang="zh-TW" sz="1000" dirty="0">
                <a:solidFill>
                  <a:schemeClr val="bg1">
                    <a:lumMod val="50000"/>
                  </a:schemeClr>
                </a:solidFill>
              </a:rPr>
              <a:t> *:443&gt;</a:t>
            </a:r>
          </a:p>
          <a:p>
            <a:r>
              <a:rPr lang="en-US" altLang="zh-TW" sz="1000" dirty="0">
                <a:solidFill>
                  <a:schemeClr val="bg1">
                    <a:lumMod val="50000"/>
                  </a:schemeClr>
                </a:solidFill>
              </a:rPr>
              <a:t>        </a:t>
            </a:r>
            <a:r>
              <a:rPr lang="en-US" altLang="zh-TW" sz="1000" dirty="0" err="1">
                <a:solidFill>
                  <a:schemeClr val="bg1">
                    <a:lumMod val="50000"/>
                  </a:schemeClr>
                </a:solidFill>
              </a:rPr>
              <a:t>ServerName</a:t>
            </a:r>
            <a:r>
              <a:rPr lang="en-US" altLang="zh-TW" sz="1000" dirty="0">
                <a:solidFill>
                  <a:schemeClr val="bg1">
                    <a:lumMod val="50000"/>
                  </a:schemeClr>
                </a:solidFill>
              </a:rPr>
              <a:t> spl.sytes.net</a:t>
            </a:r>
          </a:p>
          <a:p>
            <a:r>
              <a:rPr lang="en-US" altLang="zh-TW" sz="1000" dirty="0">
                <a:solidFill>
                  <a:schemeClr val="bg1">
                    <a:lumMod val="50000"/>
                  </a:schemeClr>
                </a:solidFill>
              </a:rPr>
              <a:t>        </a:t>
            </a:r>
            <a:r>
              <a:rPr lang="en-US" altLang="zh-TW" sz="1000" dirty="0" err="1">
                <a:solidFill>
                  <a:schemeClr val="bg1">
                    <a:lumMod val="50000"/>
                  </a:schemeClr>
                </a:solidFill>
              </a:rPr>
              <a:t>ServerAlias</a:t>
            </a:r>
            <a:r>
              <a:rPr lang="en-US" altLang="zh-TW" sz="1000" dirty="0">
                <a:solidFill>
                  <a:schemeClr val="bg1">
                    <a:lumMod val="50000"/>
                  </a:schemeClr>
                </a:solidFill>
              </a:rPr>
              <a:t> spl.sytes.net</a:t>
            </a:r>
          </a:p>
          <a:p>
            <a:r>
              <a:rPr lang="en-US" altLang="zh-TW" sz="1300" dirty="0">
                <a:solidFill>
                  <a:srgbClr val="FF0000"/>
                </a:solidFill>
              </a:rPr>
              <a:t>        </a:t>
            </a:r>
            <a:r>
              <a:rPr lang="en-US" altLang="zh-TW" sz="1300" dirty="0" err="1">
                <a:solidFill>
                  <a:srgbClr val="FF0000"/>
                </a:solidFill>
              </a:rPr>
              <a:t>SSLEngine</a:t>
            </a:r>
            <a:r>
              <a:rPr lang="en-US" altLang="zh-TW" sz="1300" dirty="0">
                <a:solidFill>
                  <a:srgbClr val="FF0000"/>
                </a:solidFill>
              </a:rPr>
              <a:t> on</a:t>
            </a:r>
          </a:p>
          <a:p>
            <a:r>
              <a:rPr lang="en-US" altLang="zh-TW" sz="1300" dirty="0">
                <a:solidFill>
                  <a:srgbClr val="FF0000"/>
                </a:solidFill>
              </a:rPr>
              <a:t>        </a:t>
            </a:r>
            <a:r>
              <a:rPr lang="en-US" altLang="zh-TW" sz="1300" dirty="0" err="1">
                <a:solidFill>
                  <a:srgbClr val="FF0000"/>
                </a:solidFill>
              </a:rPr>
              <a:t>SSLCertificateFile</a:t>
            </a:r>
            <a:r>
              <a:rPr lang="en-US" altLang="zh-TW" sz="1300" dirty="0">
                <a:solidFill>
                  <a:srgbClr val="FF0000"/>
                </a:solidFill>
              </a:rPr>
              <a:t> /</a:t>
            </a:r>
            <a:r>
              <a:rPr lang="en-US" altLang="zh-TW" sz="1300" dirty="0" err="1">
                <a:solidFill>
                  <a:srgbClr val="FF0000"/>
                </a:solidFill>
              </a:rPr>
              <a:t>etc</a:t>
            </a:r>
            <a:r>
              <a:rPr lang="en-US" altLang="zh-TW" sz="1300" dirty="0">
                <a:solidFill>
                  <a:srgbClr val="FF0000"/>
                </a:solidFill>
              </a:rPr>
              <a:t>/</a:t>
            </a:r>
            <a:r>
              <a:rPr lang="en-US" altLang="zh-TW" sz="1300" dirty="0" err="1">
                <a:solidFill>
                  <a:srgbClr val="FF0000"/>
                </a:solidFill>
              </a:rPr>
              <a:t>letsencrypt</a:t>
            </a:r>
            <a:r>
              <a:rPr lang="en-US" altLang="zh-TW" sz="1300" dirty="0">
                <a:solidFill>
                  <a:srgbClr val="FF0000"/>
                </a:solidFill>
              </a:rPr>
              <a:t>/live/spl.sytes.net/</a:t>
            </a:r>
            <a:r>
              <a:rPr lang="en-US" altLang="zh-TW" sz="1300" dirty="0" err="1">
                <a:solidFill>
                  <a:srgbClr val="FF0000"/>
                </a:solidFill>
              </a:rPr>
              <a:t>fullchain.pem</a:t>
            </a:r>
            <a:endParaRPr lang="en-US" altLang="zh-TW" sz="1300" dirty="0">
              <a:solidFill>
                <a:srgbClr val="FF0000"/>
              </a:solidFill>
            </a:endParaRPr>
          </a:p>
          <a:p>
            <a:r>
              <a:rPr lang="en-US" altLang="zh-TW" sz="1300" dirty="0">
                <a:solidFill>
                  <a:srgbClr val="FF0000"/>
                </a:solidFill>
              </a:rPr>
              <a:t>        </a:t>
            </a:r>
            <a:r>
              <a:rPr lang="en-US" altLang="zh-TW" sz="1300" dirty="0" err="1">
                <a:solidFill>
                  <a:srgbClr val="FF0000"/>
                </a:solidFill>
              </a:rPr>
              <a:t>SSLCertificateKeyFile</a:t>
            </a:r>
            <a:r>
              <a:rPr lang="en-US" altLang="zh-TW" sz="1300" dirty="0">
                <a:solidFill>
                  <a:srgbClr val="FF0000"/>
                </a:solidFill>
              </a:rPr>
              <a:t> /</a:t>
            </a:r>
            <a:r>
              <a:rPr lang="en-US" altLang="zh-TW" sz="1300" dirty="0" err="1">
                <a:solidFill>
                  <a:srgbClr val="FF0000"/>
                </a:solidFill>
              </a:rPr>
              <a:t>etc</a:t>
            </a:r>
            <a:r>
              <a:rPr lang="en-US" altLang="zh-TW" sz="1300" dirty="0">
                <a:solidFill>
                  <a:srgbClr val="FF0000"/>
                </a:solidFill>
              </a:rPr>
              <a:t>/</a:t>
            </a:r>
            <a:r>
              <a:rPr lang="en-US" altLang="zh-TW" sz="1300" dirty="0" err="1">
                <a:solidFill>
                  <a:srgbClr val="FF0000"/>
                </a:solidFill>
              </a:rPr>
              <a:t>letsencrypt</a:t>
            </a:r>
            <a:r>
              <a:rPr lang="en-US" altLang="zh-TW" sz="1300" dirty="0">
                <a:solidFill>
                  <a:srgbClr val="FF0000"/>
                </a:solidFill>
              </a:rPr>
              <a:t>/live/spl.sytes.net/</a:t>
            </a:r>
            <a:r>
              <a:rPr lang="en-US" altLang="zh-TW" sz="1300" dirty="0" err="1">
                <a:solidFill>
                  <a:srgbClr val="FF0000"/>
                </a:solidFill>
              </a:rPr>
              <a:t>privkey.pem</a:t>
            </a:r>
            <a:r>
              <a:rPr lang="en-US" altLang="zh-TW" sz="1300" dirty="0">
                <a:solidFill>
                  <a:srgbClr val="FF0000"/>
                </a:solidFill>
              </a:rPr>
              <a:t>	</a:t>
            </a:r>
          </a:p>
          <a:p>
            <a:r>
              <a:rPr lang="en-US" altLang="zh-TW" sz="1300" dirty="0">
                <a:solidFill>
                  <a:srgbClr val="FF0000"/>
                </a:solidFill>
              </a:rPr>
              <a:t>        </a:t>
            </a:r>
            <a:r>
              <a:rPr lang="en-US" altLang="zh-TW" sz="1300" dirty="0" err="1">
                <a:solidFill>
                  <a:srgbClr val="FF0000"/>
                </a:solidFill>
              </a:rPr>
              <a:t>RewriteEngine</a:t>
            </a:r>
            <a:r>
              <a:rPr lang="en-US" altLang="zh-TW" sz="1300" dirty="0">
                <a:solidFill>
                  <a:srgbClr val="FF0000"/>
                </a:solidFill>
              </a:rPr>
              <a:t> on</a:t>
            </a:r>
          </a:p>
          <a:p>
            <a:r>
              <a:rPr lang="en-US" altLang="zh-TW" sz="1000" dirty="0">
                <a:solidFill>
                  <a:schemeClr val="bg1">
                    <a:lumMod val="50000"/>
                  </a:schemeClr>
                </a:solidFill>
              </a:rPr>
              <a:t>&lt;/</a:t>
            </a:r>
            <a:r>
              <a:rPr lang="en-US" altLang="zh-TW" sz="1000" dirty="0" err="1">
                <a:solidFill>
                  <a:schemeClr val="bg1">
                    <a:lumMod val="50000"/>
                  </a:schemeClr>
                </a:solidFill>
              </a:rPr>
              <a:t>VirtualHost</a:t>
            </a:r>
            <a:r>
              <a:rPr lang="en-US" altLang="zh-TW" sz="1000" dirty="0">
                <a:solidFill>
                  <a:schemeClr val="bg1">
                    <a:lumMod val="50000"/>
                  </a:schemeClr>
                </a:solidFill>
              </a:rPr>
              <a:t>&gt;</a:t>
            </a:r>
          </a:p>
          <a:p>
            <a:endParaRPr lang="en-US" altLang="zh-TW" sz="1100" dirty="0"/>
          </a:p>
          <a:p>
            <a:r>
              <a:rPr lang="en-US" altLang="zh-TW" sz="1300" dirty="0">
                <a:solidFill>
                  <a:srgbClr val="FF0000"/>
                </a:solidFill>
              </a:rPr>
              <a:t>&lt;Proxy *&gt;</a:t>
            </a:r>
          </a:p>
          <a:p>
            <a:r>
              <a:rPr lang="en-US" altLang="zh-TW" sz="1300" dirty="0">
                <a:solidFill>
                  <a:srgbClr val="FF0000"/>
                </a:solidFill>
              </a:rPr>
              <a:t>        Order </a:t>
            </a:r>
            <a:r>
              <a:rPr lang="en-US" altLang="zh-TW" sz="1300" dirty="0" err="1">
                <a:solidFill>
                  <a:srgbClr val="FF0000"/>
                </a:solidFill>
              </a:rPr>
              <a:t>allow,deny</a:t>
            </a:r>
            <a:endParaRPr lang="en-US" altLang="zh-TW" sz="1300" dirty="0">
              <a:solidFill>
                <a:srgbClr val="FF0000"/>
              </a:solidFill>
            </a:endParaRPr>
          </a:p>
          <a:p>
            <a:r>
              <a:rPr lang="en-US" altLang="zh-TW" sz="1300" dirty="0">
                <a:solidFill>
                  <a:srgbClr val="FF0000"/>
                </a:solidFill>
              </a:rPr>
              <a:t>        Allow from all</a:t>
            </a:r>
          </a:p>
          <a:p>
            <a:r>
              <a:rPr lang="en-US" altLang="zh-TW" sz="1300" dirty="0">
                <a:solidFill>
                  <a:srgbClr val="FF0000"/>
                </a:solidFill>
              </a:rPr>
              <a:t>&lt;/Proxy&gt;</a:t>
            </a:r>
          </a:p>
          <a:p>
            <a:endParaRPr lang="en-US" altLang="zh-TW" sz="1100" dirty="0">
              <a:solidFill>
                <a:srgbClr val="FF0000"/>
              </a:solidFill>
            </a:endParaRPr>
          </a:p>
          <a:p>
            <a:r>
              <a:rPr lang="en-US" altLang="zh-TW" sz="1300" dirty="0" err="1">
                <a:solidFill>
                  <a:srgbClr val="FF0000"/>
                </a:solidFill>
              </a:rPr>
              <a:t>ProxyPreserveHost</a:t>
            </a:r>
            <a:r>
              <a:rPr lang="en-US" altLang="zh-TW" sz="1300" dirty="0">
                <a:solidFill>
                  <a:srgbClr val="FF0000"/>
                </a:solidFill>
              </a:rPr>
              <a:t> On</a:t>
            </a:r>
          </a:p>
          <a:p>
            <a:r>
              <a:rPr lang="en-US" altLang="zh-TW" sz="1300" dirty="0" err="1">
                <a:solidFill>
                  <a:srgbClr val="FF0000"/>
                </a:solidFill>
              </a:rPr>
              <a:t>ProxyRequests</a:t>
            </a:r>
            <a:r>
              <a:rPr lang="en-US" altLang="zh-TW" sz="1300" dirty="0">
                <a:solidFill>
                  <a:srgbClr val="FF0000"/>
                </a:solidFill>
              </a:rPr>
              <a:t> Off</a:t>
            </a:r>
          </a:p>
        </p:txBody>
      </p:sp>
      <p:sp>
        <p:nvSpPr>
          <p:cNvPr id="6" name="矩形 5">
            <a:extLst>
              <a:ext uri="{FF2B5EF4-FFF2-40B4-BE49-F238E27FC236}">
                <a16:creationId xmlns:a16="http://schemas.microsoft.com/office/drawing/2014/main" id="{0887BC93-3B10-4F5A-BB53-D69B40A23650}"/>
              </a:ext>
            </a:extLst>
          </p:cNvPr>
          <p:cNvSpPr/>
          <p:nvPr/>
        </p:nvSpPr>
        <p:spPr>
          <a:xfrm>
            <a:off x="9513225" y="6182801"/>
            <a:ext cx="360000" cy="360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
        <p:nvSpPr>
          <p:cNvPr id="7" name="文字方塊 6">
            <a:extLst>
              <a:ext uri="{FF2B5EF4-FFF2-40B4-BE49-F238E27FC236}">
                <a16:creationId xmlns:a16="http://schemas.microsoft.com/office/drawing/2014/main" id="{4CEB8572-2924-458B-95A7-72A052BDB9B5}"/>
              </a:ext>
            </a:extLst>
          </p:cNvPr>
          <p:cNvSpPr txBox="1"/>
          <p:nvPr/>
        </p:nvSpPr>
        <p:spPr>
          <a:xfrm>
            <a:off x="9873225" y="6182801"/>
            <a:ext cx="1800493"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主要新增的配置</a:t>
            </a:r>
          </a:p>
        </p:txBody>
      </p:sp>
    </p:spTree>
    <p:extLst>
      <p:ext uri="{BB962C8B-B14F-4D97-AF65-F5344CB8AC3E}">
        <p14:creationId xmlns:p14="http://schemas.microsoft.com/office/powerpoint/2010/main" val="305368827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1040" name="Picture 16">
            <a:extLst>
              <a:ext uri="{FF2B5EF4-FFF2-40B4-BE49-F238E27FC236}">
                <a16:creationId xmlns:a16="http://schemas.microsoft.com/office/drawing/2014/main" id="{FAE04F90-45A2-3244-9BED-A5C94F80F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2319" y="119536"/>
            <a:ext cx="1531652" cy="6610130"/>
          </a:xfrm>
          <a:prstGeom prst="rect">
            <a:avLst/>
          </a:prstGeom>
          <a:noFill/>
          <a:extLst>
            <a:ext uri="{909E8E84-426E-40DD-AFC4-6F175D3DCCD1}">
              <a14:hiddenFill xmlns:a14="http://schemas.microsoft.com/office/drawing/2010/main">
                <a:solidFill>
                  <a:srgbClr val="FFFFFF"/>
                </a:solidFill>
              </a14:hiddenFill>
            </a:ext>
          </a:extLst>
        </p:spPr>
      </p:pic>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26</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2801936" y="723214"/>
            <a:ext cx="9390063"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 </a:t>
            </a:r>
            <a:r>
              <a:rPr lang="en-US" altLang="zh-TW" sz="3500" b="1" dirty="0">
                <a:solidFill>
                  <a:schemeClr val="tx1">
                    <a:lumMod val="75000"/>
                    <a:lumOff val="25000"/>
                  </a:schemeClr>
                </a:solidFill>
                <a:latin typeface="Montserrat Light" panose="00000400000000000000" pitchFamily="50" charset="0"/>
              </a:rPr>
              <a:t>–</a:t>
            </a:r>
            <a:r>
              <a:rPr lang="zh-TW" altLang="en-US" sz="3500" b="1" dirty="0">
                <a:solidFill>
                  <a:schemeClr val="tx1">
                    <a:lumMod val="75000"/>
                    <a:lumOff val="25000"/>
                  </a:schemeClr>
                </a:solidFill>
                <a:latin typeface="Montserrat Light" panose="00000400000000000000" pitchFamily="50" charset="0"/>
              </a:rPr>
              <a:t> 資料夾結構與自動建置使用說明</a:t>
            </a:r>
          </a:p>
        </p:txBody>
      </p:sp>
      <p:grpSp>
        <p:nvGrpSpPr>
          <p:cNvPr id="3" name="群組 2">
            <a:extLst>
              <a:ext uri="{FF2B5EF4-FFF2-40B4-BE49-F238E27FC236}">
                <a16:creationId xmlns:a16="http://schemas.microsoft.com/office/drawing/2014/main" id="{A6FD4182-FB75-7744-FAD6-242C20031103}"/>
              </a:ext>
            </a:extLst>
          </p:cNvPr>
          <p:cNvGrpSpPr/>
          <p:nvPr/>
        </p:nvGrpSpPr>
        <p:grpSpPr>
          <a:xfrm>
            <a:off x="5258592" y="2197927"/>
            <a:ext cx="4476751" cy="3912366"/>
            <a:chOff x="5010149" y="2197927"/>
            <a:chExt cx="4476751" cy="3912366"/>
          </a:xfrm>
        </p:grpSpPr>
        <p:sp>
          <p:nvSpPr>
            <p:cNvPr id="8" name="矩形: 圓角 7">
              <a:extLst>
                <a:ext uri="{FF2B5EF4-FFF2-40B4-BE49-F238E27FC236}">
                  <a16:creationId xmlns:a16="http://schemas.microsoft.com/office/drawing/2014/main" id="{5358F4FD-538C-4509-B811-7AD0C9C66449}"/>
                </a:ext>
              </a:extLst>
            </p:cNvPr>
            <p:cNvSpPr/>
            <p:nvPr/>
          </p:nvSpPr>
          <p:spPr>
            <a:xfrm>
              <a:off x="5010150" y="3349649"/>
              <a:ext cx="4476750"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./create.sh &lt;subsite&gt; &lt;port&gt; &lt;image&gt;</a:t>
              </a:r>
              <a:endPar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66" name="矩形: 圓角 65">
              <a:extLst>
                <a:ext uri="{FF2B5EF4-FFF2-40B4-BE49-F238E27FC236}">
                  <a16:creationId xmlns:a16="http://schemas.microsoft.com/office/drawing/2014/main" id="{E6C002CC-5B8E-4625-9EA7-9212B58B287D}"/>
                </a:ext>
              </a:extLst>
            </p:cNvPr>
            <p:cNvSpPr/>
            <p:nvPr/>
          </p:nvSpPr>
          <p:spPr>
            <a:xfrm>
              <a:off x="5010150" y="2197927"/>
              <a:ext cx="4476749"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rPr>
                <a:t>Docker build .</a:t>
              </a:r>
              <a:endParaRPr lang="zh-TW" altLang="en-US" dirty="0">
                <a:solidFill>
                  <a:schemeClr val="tx1">
                    <a:lumMod val="75000"/>
                    <a:lumOff val="25000"/>
                  </a:schemeClr>
                </a:solidFill>
              </a:endParaRPr>
            </a:p>
          </p:txBody>
        </p:sp>
        <p:cxnSp>
          <p:nvCxnSpPr>
            <p:cNvPr id="100" name="直線接點 99">
              <a:extLst>
                <a:ext uri="{FF2B5EF4-FFF2-40B4-BE49-F238E27FC236}">
                  <a16:creationId xmlns:a16="http://schemas.microsoft.com/office/drawing/2014/main" id="{CDAE45CC-D1F4-4E65-9EF4-7E567F42CB83}"/>
                </a:ext>
              </a:extLst>
            </p:cNvPr>
            <p:cNvCxnSpPr>
              <a:cxnSpLocks/>
              <a:stCxn id="66" idx="2"/>
              <a:endCxn id="8" idx="0"/>
            </p:cNvCxnSpPr>
            <p:nvPr/>
          </p:nvCxnSpPr>
          <p:spPr>
            <a:xfrm>
              <a:off x="7248525" y="2655127"/>
              <a:ext cx="0" cy="694522"/>
            </a:xfrm>
            <a:prstGeom prst="line">
              <a:avLst/>
            </a:prstGeom>
            <a:ln w="25400">
              <a:solidFill>
                <a:srgbClr val="A0A09E"/>
              </a:solidFill>
              <a:prstDash val="sysDot"/>
              <a:tailEnd type="oval"/>
            </a:ln>
          </p:spPr>
          <p:style>
            <a:lnRef idx="1">
              <a:schemeClr val="dk1"/>
            </a:lnRef>
            <a:fillRef idx="0">
              <a:schemeClr val="dk1"/>
            </a:fillRef>
            <a:effectRef idx="0">
              <a:schemeClr val="dk1"/>
            </a:effectRef>
            <a:fontRef idx="minor">
              <a:schemeClr val="tx1"/>
            </a:fontRef>
          </p:style>
        </p:cxnSp>
        <p:sp>
          <p:nvSpPr>
            <p:cNvPr id="58" name="矩形: 圓角 57">
              <a:extLst>
                <a:ext uri="{FF2B5EF4-FFF2-40B4-BE49-F238E27FC236}">
                  <a16:creationId xmlns:a16="http://schemas.microsoft.com/office/drawing/2014/main" id="{204F9225-9611-4E04-89F2-CFD133EE8F5D}"/>
                </a:ext>
              </a:extLst>
            </p:cNvPr>
            <p:cNvSpPr/>
            <p:nvPr/>
          </p:nvSpPr>
          <p:spPr>
            <a:xfrm>
              <a:off x="5010150" y="4501371"/>
              <a:ext cx="4476750"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Container</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與</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Reverse Proxy</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配置完成</a:t>
              </a:r>
            </a:p>
          </p:txBody>
        </p:sp>
        <p:cxnSp>
          <p:nvCxnSpPr>
            <p:cNvPr id="10" name="直線接點 9">
              <a:extLst>
                <a:ext uri="{FF2B5EF4-FFF2-40B4-BE49-F238E27FC236}">
                  <a16:creationId xmlns:a16="http://schemas.microsoft.com/office/drawing/2014/main" id="{C4E97AD3-84B2-4137-93E4-A457C291ACAF}"/>
                </a:ext>
              </a:extLst>
            </p:cNvPr>
            <p:cNvCxnSpPr>
              <a:cxnSpLocks/>
              <a:stCxn id="8" idx="2"/>
              <a:endCxn id="58" idx="0"/>
            </p:cNvCxnSpPr>
            <p:nvPr/>
          </p:nvCxnSpPr>
          <p:spPr>
            <a:xfrm>
              <a:off x="7248525" y="3806849"/>
              <a:ext cx="0" cy="694522"/>
            </a:xfrm>
            <a:prstGeom prst="line">
              <a:avLst/>
            </a:prstGeom>
            <a:ln w="25400">
              <a:solidFill>
                <a:srgbClr val="A0A09E"/>
              </a:solidFill>
              <a:prstDash val="sysDot"/>
              <a:tailEnd type="oval"/>
            </a:ln>
          </p:spPr>
          <p:style>
            <a:lnRef idx="1">
              <a:schemeClr val="dk1"/>
            </a:lnRef>
            <a:fillRef idx="0">
              <a:schemeClr val="dk1"/>
            </a:fillRef>
            <a:effectRef idx="0">
              <a:schemeClr val="dk1"/>
            </a:effectRef>
            <a:fontRef idx="minor">
              <a:schemeClr val="tx1"/>
            </a:fontRef>
          </p:style>
        </p:cxnSp>
        <p:sp>
          <p:nvSpPr>
            <p:cNvPr id="99" name="矩形: 圓角 98">
              <a:extLst>
                <a:ext uri="{FF2B5EF4-FFF2-40B4-BE49-F238E27FC236}">
                  <a16:creationId xmlns:a16="http://schemas.microsoft.com/office/drawing/2014/main" id="{6572CCD0-C464-4BE6-AA8A-949A81B32F9C}"/>
                </a:ext>
              </a:extLst>
            </p:cNvPr>
            <p:cNvSpPr/>
            <p:nvPr/>
          </p:nvSpPr>
          <p:spPr>
            <a:xfrm>
              <a:off x="5010149" y="5653093"/>
              <a:ext cx="4476750"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./remove.sh &lt;subsite&gt; &lt;port&gt;</a:t>
              </a:r>
              <a:endPar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01" name="直線接點 100">
              <a:extLst>
                <a:ext uri="{FF2B5EF4-FFF2-40B4-BE49-F238E27FC236}">
                  <a16:creationId xmlns:a16="http://schemas.microsoft.com/office/drawing/2014/main" id="{8630FACA-12AE-436A-BBB5-24AF07F62AA6}"/>
                </a:ext>
              </a:extLst>
            </p:cNvPr>
            <p:cNvCxnSpPr>
              <a:cxnSpLocks/>
              <a:stCxn id="58" idx="2"/>
              <a:endCxn id="99" idx="0"/>
            </p:cNvCxnSpPr>
            <p:nvPr/>
          </p:nvCxnSpPr>
          <p:spPr>
            <a:xfrm flipH="1">
              <a:off x="7248524" y="4958571"/>
              <a:ext cx="1" cy="694522"/>
            </a:xfrm>
            <a:prstGeom prst="line">
              <a:avLst/>
            </a:prstGeom>
            <a:ln w="25400">
              <a:solidFill>
                <a:srgbClr val="A0A09E"/>
              </a:solidFill>
              <a:prstDash val="sysDot"/>
              <a:tailEnd type="oval"/>
            </a:ln>
          </p:spPr>
          <p:style>
            <a:lnRef idx="1">
              <a:schemeClr val="dk1"/>
            </a:lnRef>
            <a:fillRef idx="0">
              <a:schemeClr val="dk1"/>
            </a:fillRef>
            <a:effectRef idx="0">
              <a:schemeClr val="dk1"/>
            </a:effectRef>
            <a:fontRef idx="minor">
              <a:schemeClr val="tx1"/>
            </a:fontRef>
          </p:style>
        </p:cxnSp>
      </p:grpSp>
      <p:pic>
        <p:nvPicPr>
          <p:cNvPr id="1034" name="Picture 10">
            <a:extLst>
              <a:ext uri="{FF2B5EF4-FFF2-40B4-BE49-F238E27FC236}">
                <a16:creationId xmlns:a16="http://schemas.microsoft.com/office/drawing/2014/main" id="{29B506B6-1F28-A74D-F5A7-DA54C2217C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2318" y="149901"/>
            <a:ext cx="1519619" cy="6558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7241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矩形: 圓角 2">
            <a:extLst>
              <a:ext uri="{FF2B5EF4-FFF2-40B4-BE49-F238E27FC236}">
                <a16:creationId xmlns:a16="http://schemas.microsoft.com/office/drawing/2014/main" id="{1D0C1FD2-0056-0ACD-5899-60310A1E88C5}"/>
              </a:ext>
            </a:extLst>
          </p:cNvPr>
          <p:cNvSpPr/>
          <p:nvPr/>
        </p:nvSpPr>
        <p:spPr>
          <a:xfrm>
            <a:off x="6653893" y="2669487"/>
            <a:ext cx="5453743"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./create.sh &lt;subsite&gt; &lt;port&gt; &lt;image&gt; &lt;extra&gt;</a:t>
            </a:r>
          </a:p>
        </p:txBody>
      </p:sp>
      <p:sp>
        <p:nvSpPr>
          <p:cNvPr id="14" name="矩形 13">
            <a:extLst>
              <a:ext uri="{FF2B5EF4-FFF2-40B4-BE49-F238E27FC236}">
                <a16:creationId xmlns:a16="http://schemas.microsoft.com/office/drawing/2014/main" id="{C19F3B58-5BC1-4C74-868B-58907AD04A9A}"/>
              </a:ext>
            </a:extLst>
          </p:cNvPr>
          <p:cNvSpPr/>
          <p:nvPr/>
        </p:nvSpPr>
        <p:spPr>
          <a:xfrm>
            <a:off x="9513225" y="6394243"/>
            <a:ext cx="360000" cy="360000"/>
          </a:xfrm>
          <a:prstGeom prst="rect">
            <a:avLst/>
          </a:prstGeom>
          <a:solidFill>
            <a:srgbClr val="18B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27</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 </a:t>
            </a:r>
            <a:r>
              <a:rPr lang="en-US" altLang="zh-TW" sz="3500" b="1" dirty="0">
                <a:solidFill>
                  <a:schemeClr val="tx1">
                    <a:lumMod val="75000"/>
                    <a:lumOff val="25000"/>
                  </a:schemeClr>
                </a:solidFill>
                <a:latin typeface="Montserrat Light" panose="00000400000000000000" pitchFamily="50" charset="0"/>
              </a:rPr>
              <a:t>–</a:t>
            </a:r>
            <a:r>
              <a:rPr lang="zh-TW" altLang="en-US" sz="3500" b="1" dirty="0">
                <a:solidFill>
                  <a:schemeClr val="tx1">
                    <a:lumMod val="75000"/>
                    <a:lumOff val="25000"/>
                  </a:schemeClr>
                </a:solidFill>
                <a:latin typeface="Montserrat Light" panose="00000400000000000000" pitchFamily="50" charset="0"/>
              </a:rPr>
              <a:t> 自動建置腳本 </a:t>
            </a:r>
            <a:r>
              <a:rPr lang="en-US" altLang="zh-TW" sz="3500" b="1" dirty="0">
                <a:solidFill>
                  <a:schemeClr val="tx1">
                    <a:lumMod val="75000"/>
                    <a:lumOff val="25000"/>
                  </a:schemeClr>
                </a:solidFill>
                <a:latin typeface="Montserrat Light" panose="00000400000000000000" pitchFamily="50" charset="0"/>
              </a:rPr>
              <a:t>– </a:t>
            </a:r>
            <a:r>
              <a:rPr lang="zh-TW" altLang="en-US" sz="3500" b="1" dirty="0">
                <a:solidFill>
                  <a:schemeClr val="tx1">
                    <a:lumMod val="75000"/>
                    <a:lumOff val="25000"/>
                  </a:schemeClr>
                </a:solidFill>
                <a:latin typeface="Montserrat Light" panose="00000400000000000000" pitchFamily="50" charset="0"/>
              </a:rPr>
              <a:t>單一伺服器</a:t>
            </a:r>
          </a:p>
        </p:txBody>
      </p:sp>
      <p:sp>
        <p:nvSpPr>
          <p:cNvPr id="18" name="矩形: 圓角 17">
            <a:extLst>
              <a:ext uri="{FF2B5EF4-FFF2-40B4-BE49-F238E27FC236}">
                <a16:creationId xmlns:a16="http://schemas.microsoft.com/office/drawing/2014/main" id="{08F7644A-6B58-4433-807E-98359BCA2A81}"/>
              </a:ext>
            </a:extLst>
          </p:cNvPr>
          <p:cNvSpPr/>
          <p:nvPr/>
        </p:nvSpPr>
        <p:spPr>
          <a:xfrm>
            <a:off x="6653893" y="4916221"/>
            <a:ext cx="5453743"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./remove.sh &lt;subsite&gt; &lt;port&gt;</a:t>
            </a:r>
            <a:endPar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A7FEDECE-C0D1-4E66-872F-DAF38678D550}"/>
              </a:ext>
            </a:extLst>
          </p:cNvPr>
          <p:cNvSpPr txBox="1"/>
          <p:nvPr/>
        </p:nvSpPr>
        <p:spPr>
          <a:xfrm>
            <a:off x="281781" y="1741437"/>
            <a:ext cx="6898363" cy="2308324"/>
          </a:xfrm>
          <a:prstGeom prst="rect">
            <a:avLst/>
          </a:prstGeom>
          <a:noFill/>
        </p:spPr>
        <p:txBody>
          <a:bodyPr wrap="none" rtlCol="0">
            <a:spAutoFit/>
          </a:bodyPr>
          <a:lstStyle/>
          <a:p>
            <a:r>
              <a:rPr lang="en-US" altLang="zh-TW" sz="1200" dirty="0"/>
              <a:t>#!/bin/bash</a:t>
            </a:r>
          </a:p>
          <a:p>
            <a:r>
              <a:rPr lang="en-US" altLang="zh-TW" sz="1200" dirty="0">
                <a:solidFill>
                  <a:srgbClr val="FF0000"/>
                </a:solidFill>
              </a:rPr>
              <a:t>subsite="$1“</a:t>
            </a:r>
          </a:p>
          <a:p>
            <a:r>
              <a:rPr lang="en-US" altLang="zh-TW" sz="1200" dirty="0">
                <a:solidFill>
                  <a:srgbClr val="FF0000"/>
                </a:solidFill>
              </a:rPr>
              <a:t>port="$2“</a:t>
            </a:r>
          </a:p>
          <a:p>
            <a:r>
              <a:rPr lang="en-US" altLang="zh-TW" sz="1200" dirty="0">
                <a:solidFill>
                  <a:srgbClr val="FF0000"/>
                </a:solidFill>
              </a:rPr>
              <a:t>image="$3“</a:t>
            </a:r>
          </a:p>
          <a:p>
            <a:r>
              <a:rPr lang="en-US" altLang="zh-TW" sz="1200" dirty="0">
                <a:solidFill>
                  <a:srgbClr val="FF0000"/>
                </a:solidFill>
              </a:rPr>
              <a:t>extra=" $4 “</a:t>
            </a: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"/&lt;\/</a:t>
            </a:r>
            <a:r>
              <a:rPr lang="en-US" altLang="zh-TW" sz="1200" dirty="0" err="1">
                <a:solidFill>
                  <a:srgbClr val="002060"/>
                </a:solidFill>
              </a:rPr>
              <a:t>VirtualHost</a:t>
            </a:r>
            <a:r>
              <a:rPr lang="en-US" altLang="zh-TW" sz="1200" dirty="0">
                <a:solidFill>
                  <a:srgbClr val="002060"/>
                </a:solidFill>
              </a:rPr>
              <a:t>&gt;/</a:t>
            </a:r>
            <a:r>
              <a:rPr lang="en-US" altLang="zh-TW" sz="1200" dirty="0" err="1">
                <a:solidFill>
                  <a:srgbClr val="002060"/>
                </a:solidFill>
              </a:rPr>
              <a:t>i</a:t>
            </a:r>
            <a:r>
              <a:rPr lang="en-US" altLang="zh-TW" sz="1200" dirty="0">
                <a:solidFill>
                  <a:srgbClr val="002060"/>
                </a:solidFill>
              </a:rPr>
              <a:t> \        </a:t>
            </a:r>
          </a:p>
          <a:p>
            <a:r>
              <a:rPr lang="en-US" altLang="zh-TW" sz="1200" dirty="0" err="1">
                <a:solidFill>
                  <a:srgbClr val="002060"/>
                </a:solidFill>
              </a:rPr>
              <a:t>RewriteCond</a:t>
            </a:r>
            <a:r>
              <a:rPr lang="en-US" altLang="zh-TW" sz="1200" dirty="0">
                <a:solidFill>
                  <a:srgbClr val="002060"/>
                </a:solidFill>
              </a:rPr>
              <a:t> %{REQUEST_URI} ^/${subsite}$ \n\        </a:t>
            </a:r>
          </a:p>
          <a:p>
            <a:r>
              <a:rPr lang="en-US" altLang="zh-TW" sz="1200" dirty="0" err="1">
                <a:solidFill>
                  <a:srgbClr val="002060"/>
                </a:solidFill>
              </a:rPr>
              <a:t>RewriteRule</a:t>
            </a:r>
            <a:r>
              <a:rPr lang="en-US" altLang="zh-TW" sz="1200" dirty="0">
                <a:solidFill>
                  <a:srgbClr val="002060"/>
                </a:solidFill>
              </a:rPr>
              <a:t> ^(.*)$ /${subsite}/ [R=301,L]"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aProxyPass</a:t>
            </a:r>
            <a:r>
              <a:rPr lang="en-US" altLang="zh-TW" sz="1200" dirty="0">
                <a:solidFill>
                  <a:srgbClr val="002060"/>
                </a:solidFill>
              </a:rPr>
              <a:t> /${subsite}/ http://localhost:${port}/"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aProxyPassReverse</a:t>
            </a:r>
            <a:r>
              <a:rPr lang="en-US" altLang="zh-TW" sz="1200" dirty="0">
                <a:solidFill>
                  <a:srgbClr val="002060"/>
                </a:solidFill>
              </a:rPr>
              <a:t> /${subsite}/ http://localhost:${port}/"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B050"/>
                </a:solidFill>
              </a:rPr>
              <a:t>docker run --name "${subsite}_${port}" -</a:t>
            </a:r>
            <a:r>
              <a:rPr lang="en-US" altLang="zh-TW" sz="1200" dirty="0" err="1">
                <a:solidFill>
                  <a:srgbClr val="00B050"/>
                </a:solidFill>
              </a:rPr>
              <a:t>idt</a:t>
            </a:r>
            <a:r>
              <a:rPr lang="en-US" altLang="zh-TW" sz="1200" dirty="0">
                <a:solidFill>
                  <a:srgbClr val="00B050"/>
                </a:solidFill>
              </a:rPr>
              <a:t> -p ${port}:80 ${extra} ${image}</a:t>
            </a:r>
          </a:p>
          <a:p>
            <a:r>
              <a:rPr lang="en-US" altLang="zh-TW" sz="1200" dirty="0"/>
              <a:t>service apache2 reload</a:t>
            </a:r>
            <a:endParaRPr lang="zh-TW" altLang="en-US" sz="1200" dirty="0"/>
          </a:p>
        </p:txBody>
      </p:sp>
      <p:sp>
        <p:nvSpPr>
          <p:cNvPr id="7" name="文字方塊 6">
            <a:extLst>
              <a:ext uri="{FF2B5EF4-FFF2-40B4-BE49-F238E27FC236}">
                <a16:creationId xmlns:a16="http://schemas.microsoft.com/office/drawing/2014/main" id="{A71EDA16-5095-4C2A-8E4B-DBB7D2F6AA6E}"/>
              </a:ext>
            </a:extLst>
          </p:cNvPr>
          <p:cNvSpPr txBox="1"/>
          <p:nvPr/>
        </p:nvSpPr>
        <p:spPr>
          <a:xfrm>
            <a:off x="281780" y="4175325"/>
            <a:ext cx="6239785" cy="1938992"/>
          </a:xfrm>
          <a:prstGeom prst="rect">
            <a:avLst/>
          </a:prstGeom>
          <a:noFill/>
        </p:spPr>
        <p:txBody>
          <a:bodyPr wrap="none" rtlCol="0">
            <a:spAutoFit/>
          </a:bodyPr>
          <a:lstStyle/>
          <a:p>
            <a:r>
              <a:rPr lang="en-US" altLang="zh-TW" sz="1200" dirty="0"/>
              <a:t>#!/bin/bash</a:t>
            </a:r>
          </a:p>
          <a:p>
            <a:r>
              <a:rPr lang="en-US" altLang="zh-TW" sz="1200" dirty="0">
                <a:solidFill>
                  <a:srgbClr val="FF0000"/>
                </a:solidFill>
              </a:rPr>
              <a:t>subsite="$1“</a:t>
            </a:r>
          </a:p>
          <a:p>
            <a:r>
              <a:rPr lang="en-US" altLang="zh-TW" sz="1200" dirty="0">
                <a:solidFill>
                  <a:srgbClr val="FF0000"/>
                </a:solidFill>
              </a:rPr>
              <a:t>port="$2“</a:t>
            </a: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RewriteCond</a:t>
            </a:r>
            <a:r>
              <a:rPr lang="en-US" altLang="zh-TW" sz="1200" dirty="0">
                <a:solidFill>
                  <a:srgbClr val="002060"/>
                </a:solidFill>
              </a:rPr>
              <a:t> %{REQUEST_URI} ^\/${subsite}/d"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RewriteRule</a:t>
            </a:r>
            <a:r>
              <a:rPr lang="en-US" altLang="zh-TW" sz="1200" dirty="0">
                <a:solidFill>
                  <a:srgbClr val="002060"/>
                </a:solidFill>
              </a:rPr>
              <a:t> ^(.*)$ \/${subsite}\/ \[R=301,L\]/d"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ProxyPass</a:t>
            </a:r>
            <a:r>
              <a:rPr lang="en-US" altLang="zh-TW" sz="1200" dirty="0">
                <a:solidFill>
                  <a:srgbClr val="002060"/>
                </a:solidFill>
              </a:rPr>
              <a:t> \/${subsite}\//d"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ProxyPassReverse</a:t>
            </a:r>
            <a:r>
              <a:rPr lang="en-US" altLang="zh-TW" sz="1200" dirty="0">
                <a:solidFill>
                  <a:srgbClr val="002060"/>
                </a:solidFill>
              </a:rPr>
              <a:t> \/${subsite}\//d"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B050"/>
                </a:solidFill>
              </a:rPr>
              <a:t>docker stop "${subsite}_${port}“</a:t>
            </a:r>
          </a:p>
          <a:p>
            <a:r>
              <a:rPr lang="en-US" altLang="zh-TW" sz="1200" dirty="0">
                <a:solidFill>
                  <a:srgbClr val="00B050"/>
                </a:solidFill>
              </a:rPr>
              <a:t>docker remove "${subsite}_${port}“</a:t>
            </a:r>
          </a:p>
          <a:p>
            <a:r>
              <a:rPr lang="en-US" altLang="zh-TW" sz="1200" dirty="0"/>
              <a:t>service apache2 reload</a:t>
            </a:r>
            <a:endParaRPr lang="zh-TW" altLang="en-US" sz="1200" dirty="0"/>
          </a:p>
        </p:txBody>
      </p:sp>
      <p:sp>
        <p:nvSpPr>
          <p:cNvPr id="8" name="矩形 7">
            <a:extLst>
              <a:ext uri="{FF2B5EF4-FFF2-40B4-BE49-F238E27FC236}">
                <a16:creationId xmlns:a16="http://schemas.microsoft.com/office/drawing/2014/main" id="{0A057C31-74B6-4912-B04A-3785455EA13E}"/>
              </a:ext>
            </a:extLst>
          </p:cNvPr>
          <p:cNvSpPr/>
          <p:nvPr/>
        </p:nvSpPr>
        <p:spPr>
          <a:xfrm>
            <a:off x="9513225" y="5937869"/>
            <a:ext cx="360000" cy="36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8B7485A5-3D88-4907-B895-2C0082A5EBAD}"/>
              </a:ext>
            </a:extLst>
          </p:cNvPr>
          <p:cNvSpPr txBox="1"/>
          <p:nvPr/>
        </p:nvSpPr>
        <p:spPr>
          <a:xfrm>
            <a:off x="9873225" y="5937869"/>
            <a:ext cx="2048959"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會寫入</a:t>
            </a:r>
            <a:r>
              <a:rPr lang="en-US" altLang="zh-TW" dirty="0">
                <a:latin typeface="微軟正黑體" panose="020B0604030504040204" pitchFamily="34" charset="-120"/>
                <a:ea typeface="微軟正黑體" panose="020B0604030504040204" pitchFamily="34" charset="-120"/>
              </a:rPr>
              <a:t>conf</a:t>
            </a:r>
            <a:r>
              <a:rPr lang="zh-TW" altLang="en-US" dirty="0">
                <a:latin typeface="微軟正黑體" panose="020B0604030504040204" pitchFamily="34" charset="-120"/>
                <a:ea typeface="微軟正黑體" panose="020B0604030504040204" pitchFamily="34" charset="-120"/>
              </a:rPr>
              <a:t>的設定</a:t>
            </a:r>
            <a:endParaRPr lang="en-US" altLang="zh-TW" dirty="0">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E3EC16F5-46B4-46DB-9FE3-B372D67730D4}"/>
              </a:ext>
            </a:extLst>
          </p:cNvPr>
          <p:cNvSpPr txBox="1"/>
          <p:nvPr/>
        </p:nvSpPr>
        <p:spPr>
          <a:xfrm>
            <a:off x="9873225" y="6394243"/>
            <a:ext cx="1878912" cy="369332"/>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Docker</a:t>
            </a:r>
            <a:r>
              <a:rPr lang="zh-TW" altLang="en-US" dirty="0">
                <a:latin typeface="微軟正黑體" panose="020B0604030504040204" pitchFamily="34" charset="-120"/>
                <a:ea typeface="微軟正黑體" panose="020B0604030504040204" pitchFamily="34" charset="-120"/>
              </a:rPr>
              <a:t>相關設定</a:t>
            </a:r>
          </a:p>
        </p:txBody>
      </p:sp>
      <p:sp>
        <p:nvSpPr>
          <p:cNvPr id="12" name="矩形 11">
            <a:extLst>
              <a:ext uri="{FF2B5EF4-FFF2-40B4-BE49-F238E27FC236}">
                <a16:creationId xmlns:a16="http://schemas.microsoft.com/office/drawing/2014/main" id="{0A0433A7-7B0A-4F4B-9FB3-A6585A9B6255}"/>
              </a:ext>
            </a:extLst>
          </p:cNvPr>
          <p:cNvSpPr/>
          <p:nvPr/>
        </p:nvSpPr>
        <p:spPr>
          <a:xfrm>
            <a:off x="9513225" y="5481495"/>
            <a:ext cx="360000" cy="360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822620FB-D462-4879-B8EB-B877B6182DB9}"/>
              </a:ext>
            </a:extLst>
          </p:cNvPr>
          <p:cNvSpPr txBox="1"/>
          <p:nvPr/>
        </p:nvSpPr>
        <p:spPr>
          <a:xfrm>
            <a:off x="9873225" y="5481495"/>
            <a:ext cx="1338828"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輸入的變數</a:t>
            </a:r>
          </a:p>
        </p:txBody>
      </p:sp>
    </p:spTree>
    <p:extLst>
      <p:ext uri="{BB962C8B-B14F-4D97-AF65-F5344CB8AC3E}">
        <p14:creationId xmlns:p14="http://schemas.microsoft.com/office/powerpoint/2010/main" val="101220255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C19F3B58-5BC1-4C74-868B-58907AD04A9A}"/>
              </a:ext>
            </a:extLst>
          </p:cNvPr>
          <p:cNvSpPr/>
          <p:nvPr/>
        </p:nvSpPr>
        <p:spPr>
          <a:xfrm>
            <a:off x="9513225" y="6394243"/>
            <a:ext cx="360000" cy="360000"/>
          </a:xfrm>
          <a:prstGeom prst="rect">
            <a:avLst/>
          </a:prstGeom>
          <a:solidFill>
            <a:srgbClr val="18B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28</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 </a:t>
            </a:r>
            <a:r>
              <a:rPr lang="en-US" altLang="zh-TW" sz="3500" b="1" dirty="0">
                <a:solidFill>
                  <a:schemeClr val="tx1">
                    <a:lumMod val="75000"/>
                    <a:lumOff val="25000"/>
                  </a:schemeClr>
                </a:solidFill>
                <a:latin typeface="Montserrat Light" panose="00000400000000000000" pitchFamily="50" charset="0"/>
              </a:rPr>
              <a:t>– </a:t>
            </a:r>
            <a:r>
              <a:rPr lang="zh-TW" altLang="en-US" sz="3500" b="1" dirty="0">
                <a:solidFill>
                  <a:schemeClr val="tx1">
                    <a:lumMod val="75000"/>
                    <a:lumOff val="25000"/>
                  </a:schemeClr>
                </a:solidFill>
                <a:latin typeface="Montserrat Light" panose="00000400000000000000" pitchFamily="50" charset="0"/>
              </a:rPr>
              <a:t>自動建置腳本 </a:t>
            </a:r>
            <a:r>
              <a:rPr lang="en-US" altLang="zh-TW" sz="3500" b="1" dirty="0">
                <a:solidFill>
                  <a:schemeClr val="tx1">
                    <a:lumMod val="75000"/>
                    <a:lumOff val="25000"/>
                  </a:schemeClr>
                </a:solidFill>
                <a:latin typeface="Montserrat Light" panose="00000400000000000000" pitchFamily="50" charset="0"/>
              </a:rPr>
              <a:t>– </a:t>
            </a:r>
            <a:r>
              <a:rPr lang="zh-TW" altLang="en-US" sz="3500" b="1" dirty="0">
                <a:solidFill>
                  <a:schemeClr val="tx1">
                    <a:lumMod val="75000"/>
                    <a:lumOff val="25000"/>
                  </a:schemeClr>
                </a:solidFill>
                <a:latin typeface="Montserrat Light" panose="00000400000000000000" pitchFamily="50" charset="0"/>
              </a:rPr>
              <a:t>分離伺服器</a:t>
            </a:r>
          </a:p>
        </p:txBody>
      </p:sp>
      <p:sp>
        <p:nvSpPr>
          <p:cNvPr id="15" name="矩形: 圓角 14">
            <a:extLst>
              <a:ext uri="{FF2B5EF4-FFF2-40B4-BE49-F238E27FC236}">
                <a16:creationId xmlns:a16="http://schemas.microsoft.com/office/drawing/2014/main" id="{88E27230-76A0-4598-9C4F-51CCADEB6E52}"/>
              </a:ext>
            </a:extLst>
          </p:cNvPr>
          <p:cNvSpPr/>
          <p:nvPr/>
        </p:nvSpPr>
        <p:spPr>
          <a:xfrm>
            <a:off x="6653893" y="2669487"/>
            <a:ext cx="5453743"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./create_WEBSERVER.sh &lt;</a:t>
            </a:r>
            <a:r>
              <a:rPr lang="en-US" altLang="zh-TW" dirty="0" err="1">
                <a:solidFill>
                  <a:schemeClr val="tx1">
                    <a:lumMod val="75000"/>
                    <a:lumOff val="25000"/>
                  </a:schemeClr>
                </a:solidFill>
                <a:latin typeface="微軟正黑體" panose="020B0604030504040204" pitchFamily="34" charset="-120"/>
                <a:ea typeface="微軟正黑體" panose="020B0604030504040204" pitchFamily="34" charset="-120"/>
              </a:rPr>
              <a:t>ip</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&gt; &lt;subsite&gt; &lt;port&gt;</a:t>
            </a:r>
          </a:p>
        </p:txBody>
      </p:sp>
      <p:sp>
        <p:nvSpPr>
          <p:cNvPr id="7" name="文字方塊 6">
            <a:extLst>
              <a:ext uri="{FF2B5EF4-FFF2-40B4-BE49-F238E27FC236}">
                <a16:creationId xmlns:a16="http://schemas.microsoft.com/office/drawing/2014/main" id="{A71EDA16-5095-4C2A-8E4B-DBB7D2F6AA6E}"/>
              </a:ext>
            </a:extLst>
          </p:cNvPr>
          <p:cNvSpPr txBox="1"/>
          <p:nvPr/>
        </p:nvSpPr>
        <p:spPr>
          <a:xfrm>
            <a:off x="281781" y="4215234"/>
            <a:ext cx="6239785" cy="1384995"/>
          </a:xfrm>
          <a:prstGeom prst="rect">
            <a:avLst/>
          </a:prstGeom>
          <a:noFill/>
        </p:spPr>
        <p:txBody>
          <a:bodyPr wrap="square" rtlCol="0">
            <a:spAutoFit/>
          </a:bodyPr>
          <a:lstStyle/>
          <a:p>
            <a:r>
              <a:rPr lang="en-US" altLang="zh-TW" sz="1200" dirty="0"/>
              <a:t>#!/bin/bash</a:t>
            </a:r>
          </a:p>
          <a:p>
            <a:r>
              <a:rPr lang="en-US" altLang="zh-TW" sz="1200" dirty="0">
                <a:solidFill>
                  <a:srgbClr val="FF0000"/>
                </a:solidFill>
              </a:rPr>
              <a:t>subsite="$1“</a:t>
            </a: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RewriteCond</a:t>
            </a:r>
            <a:r>
              <a:rPr lang="en-US" altLang="zh-TW" sz="1200" dirty="0">
                <a:solidFill>
                  <a:srgbClr val="002060"/>
                </a:solidFill>
              </a:rPr>
              <a:t> %{REQUEST_URI} ^\/${subsite}/d"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RewriteRule</a:t>
            </a:r>
            <a:r>
              <a:rPr lang="en-US" altLang="zh-TW" sz="1200" dirty="0">
                <a:solidFill>
                  <a:srgbClr val="002060"/>
                </a:solidFill>
              </a:rPr>
              <a:t> ^(.*)$ \/${subsite}\/ \[R=301,L\]/d"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ProxyPass</a:t>
            </a:r>
            <a:r>
              <a:rPr lang="en-US" altLang="zh-TW" sz="1200" dirty="0">
                <a:solidFill>
                  <a:srgbClr val="002060"/>
                </a:solidFill>
              </a:rPr>
              <a:t> \/${subsite}\//d"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ProxyPassReverse</a:t>
            </a:r>
            <a:r>
              <a:rPr lang="en-US" altLang="zh-TW" sz="1200" dirty="0">
                <a:solidFill>
                  <a:srgbClr val="002060"/>
                </a:solidFill>
              </a:rPr>
              <a:t> \/${subsite}\//d"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t>service apache2 reload</a:t>
            </a:r>
            <a:endParaRPr lang="zh-TW" altLang="en-US" sz="1200" dirty="0"/>
          </a:p>
        </p:txBody>
      </p:sp>
      <p:sp>
        <p:nvSpPr>
          <p:cNvPr id="8" name="矩形 7">
            <a:extLst>
              <a:ext uri="{FF2B5EF4-FFF2-40B4-BE49-F238E27FC236}">
                <a16:creationId xmlns:a16="http://schemas.microsoft.com/office/drawing/2014/main" id="{0A057C31-74B6-4912-B04A-3785455EA13E}"/>
              </a:ext>
            </a:extLst>
          </p:cNvPr>
          <p:cNvSpPr/>
          <p:nvPr/>
        </p:nvSpPr>
        <p:spPr>
          <a:xfrm>
            <a:off x="9513225" y="5937869"/>
            <a:ext cx="360000" cy="36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8B7485A5-3D88-4907-B895-2C0082A5EBAD}"/>
              </a:ext>
            </a:extLst>
          </p:cNvPr>
          <p:cNvSpPr txBox="1"/>
          <p:nvPr/>
        </p:nvSpPr>
        <p:spPr>
          <a:xfrm>
            <a:off x="9873225" y="5937869"/>
            <a:ext cx="2048959"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會寫入</a:t>
            </a:r>
            <a:r>
              <a:rPr lang="en-US" altLang="zh-TW" dirty="0">
                <a:latin typeface="微軟正黑體" panose="020B0604030504040204" pitchFamily="34" charset="-120"/>
                <a:ea typeface="微軟正黑體" panose="020B0604030504040204" pitchFamily="34" charset="-120"/>
              </a:rPr>
              <a:t>conf</a:t>
            </a:r>
            <a:r>
              <a:rPr lang="zh-TW" altLang="en-US" dirty="0">
                <a:latin typeface="微軟正黑體" panose="020B0604030504040204" pitchFamily="34" charset="-120"/>
                <a:ea typeface="微軟正黑體" panose="020B0604030504040204" pitchFamily="34" charset="-120"/>
              </a:rPr>
              <a:t>的設定</a:t>
            </a:r>
            <a:endParaRPr lang="en-US" altLang="zh-TW" dirty="0">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E3EC16F5-46B4-46DB-9FE3-B372D67730D4}"/>
              </a:ext>
            </a:extLst>
          </p:cNvPr>
          <p:cNvSpPr txBox="1"/>
          <p:nvPr/>
        </p:nvSpPr>
        <p:spPr>
          <a:xfrm>
            <a:off x="9873225" y="6394243"/>
            <a:ext cx="1878912" cy="369332"/>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Docker</a:t>
            </a:r>
            <a:r>
              <a:rPr lang="zh-TW" altLang="en-US" dirty="0">
                <a:latin typeface="微軟正黑體" panose="020B0604030504040204" pitchFamily="34" charset="-120"/>
                <a:ea typeface="微軟正黑體" panose="020B0604030504040204" pitchFamily="34" charset="-120"/>
              </a:rPr>
              <a:t>相關設定</a:t>
            </a:r>
          </a:p>
        </p:txBody>
      </p:sp>
      <p:sp>
        <p:nvSpPr>
          <p:cNvPr id="12" name="矩形 11">
            <a:extLst>
              <a:ext uri="{FF2B5EF4-FFF2-40B4-BE49-F238E27FC236}">
                <a16:creationId xmlns:a16="http://schemas.microsoft.com/office/drawing/2014/main" id="{0A0433A7-7B0A-4F4B-9FB3-A6585A9B6255}"/>
              </a:ext>
            </a:extLst>
          </p:cNvPr>
          <p:cNvSpPr/>
          <p:nvPr/>
        </p:nvSpPr>
        <p:spPr>
          <a:xfrm>
            <a:off x="9513225" y="5481495"/>
            <a:ext cx="360000" cy="360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822620FB-D462-4879-B8EB-B877B6182DB9}"/>
              </a:ext>
            </a:extLst>
          </p:cNvPr>
          <p:cNvSpPr txBox="1"/>
          <p:nvPr/>
        </p:nvSpPr>
        <p:spPr>
          <a:xfrm>
            <a:off x="9873225" y="5481495"/>
            <a:ext cx="1338828"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輸入的變數</a:t>
            </a:r>
          </a:p>
        </p:txBody>
      </p:sp>
      <p:sp>
        <p:nvSpPr>
          <p:cNvPr id="4" name="矩形: 圓角 3">
            <a:extLst>
              <a:ext uri="{FF2B5EF4-FFF2-40B4-BE49-F238E27FC236}">
                <a16:creationId xmlns:a16="http://schemas.microsoft.com/office/drawing/2014/main" id="{73B83C84-52EC-1193-8CC1-1332421C9B09}"/>
              </a:ext>
            </a:extLst>
          </p:cNvPr>
          <p:cNvSpPr/>
          <p:nvPr/>
        </p:nvSpPr>
        <p:spPr>
          <a:xfrm>
            <a:off x="6653892" y="4679131"/>
            <a:ext cx="5453743"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./remove_WEBSERVER.sh &lt;subsite&gt;</a:t>
            </a:r>
            <a:endPar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37D57818-6A79-3203-37FF-26CCCA1B074F}"/>
              </a:ext>
            </a:extLst>
          </p:cNvPr>
          <p:cNvSpPr txBox="1"/>
          <p:nvPr/>
        </p:nvSpPr>
        <p:spPr>
          <a:xfrm>
            <a:off x="281781" y="1933268"/>
            <a:ext cx="6625660" cy="1938992"/>
          </a:xfrm>
          <a:prstGeom prst="rect">
            <a:avLst/>
          </a:prstGeom>
          <a:noFill/>
        </p:spPr>
        <p:txBody>
          <a:bodyPr wrap="none" rtlCol="0">
            <a:spAutoFit/>
          </a:bodyPr>
          <a:lstStyle/>
          <a:p>
            <a:r>
              <a:rPr lang="en-US" altLang="zh-TW" sz="1200" dirty="0"/>
              <a:t>#!/bin/bash</a:t>
            </a:r>
          </a:p>
          <a:p>
            <a:r>
              <a:rPr lang="en-US" altLang="zh-TW" sz="1200" dirty="0" err="1">
                <a:solidFill>
                  <a:srgbClr val="FF0000"/>
                </a:solidFill>
              </a:rPr>
              <a:t>ip</a:t>
            </a:r>
            <a:r>
              <a:rPr lang="en-US" altLang="zh-TW" sz="1200" dirty="0">
                <a:solidFill>
                  <a:srgbClr val="FF0000"/>
                </a:solidFill>
              </a:rPr>
              <a:t>="$1“</a:t>
            </a:r>
          </a:p>
          <a:p>
            <a:r>
              <a:rPr lang="en-US" altLang="zh-TW" sz="1200" dirty="0">
                <a:solidFill>
                  <a:srgbClr val="FF0000"/>
                </a:solidFill>
              </a:rPr>
              <a:t>subsite="$2“</a:t>
            </a:r>
          </a:p>
          <a:p>
            <a:r>
              <a:rPr lang="en-US" altLang="zh-TW" sz="1200" dirty="0">
                <a:solidFill>
                  <a:srgbClr val="FF0000"/>
                </a:solidFill>
              </a:rPr>
              <a:t>port="$3“</a:t>
            </a: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"/&lt;\/</a:t>
            </a:r>
            <a:r>
              <a:rPr lang="en-US" altLang="zh-TW" sz="1200" dirty="0" err="1">
                <a:solidFill>
                  <a:srgbClr val="002060"/>
                </a:solidFill>
              </a:rPr>
              <a:t>VirtualHost</a:t>
            </a:r>
            <a:r>
              <a:rPr lang="en-US" altLang="zh-TW" sz="1200" dirty="0">
                <a:solidFill>
                  <a:srgbClr val="002060"/>
                </a:solidFill>
              </a:rPr>
              <a:t>&gt;/</a:t>
            </a:r>
            <a:r>
              <a:rPr lang="en-US" altLang="zh-TW" sz="1200" dirty="0" err="1">
                <a:solidFill>
                  <a:srgbClr val="002060"/>
                </a:solidFill>
              </a:rPr>
              <a:t>i</a:t>
            </a:r>
            <a:r>
              <a:rPr lang="en-US" altLang="zh-TW" sz="1200" dirty="0">
                <a:solidFill>
                  <a:srgbClr val="002060"/>
                </a:solidFill>
              </a:rPr>
              <a:t> \        </a:t>
            </a:r>
          </a:p>
          <a:p>
            <a:r>
              <a:rPr lang="en-US" altLang="zh-TW" sz="1200" dirty="0" err="1">
                <a:solidFill>
                  <a:srgbClr val="002060"/>
                </a:solidFill>
              </a:rPr>
              <a:t>RewriteCond</a:t>
            </a:r>
            <a:r>
              <a:rPr lang="en-US" altLang="zh-TW" sz="1200" dirty="0">
                <a:solidFill>
                  <a:srgbClr val="002060"/>
                </a:solidFill>
              </a:rPr>
              <a:t> %{REQUEST_URI} ^/${subsite}$ \n\        </a:t>
            </a:r>
          </a:p>
          <a:p>
            <a:r>
              <a:rPr lang="en-US" altLang="zh-TW" sz="1200" dirty="0" err="1">
                <a:solidFill>
                  <a:srgbClr val="002060"/>
                </a:solidFill>
              </a:rPr>
              <a:t>RewriteRule</a:t>
            </a:r>
            <a:r>
              <a:rPr lang="en-US" altLang="zh-TW" sz="1200" dirty="0">
                <a:solidFill>
                  <a:srgbClr val="002060"/>
                </a:solidFill>
              </a:rPr>
              <a:t> ^(.*)$ /${subsite}/ [R=301,L]"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aProxyPass</a:t>
            </a:r>
            <a:r>
              <a:rPr lang="en-US" altLang="zh-TW" sz="1200" dirty="0">
                <a:solidFill>
                  <a:srgbClr val="002060"/>
                </a:solidFill>
              </a:rPr>
              <a:t> /${subsite}/ http://${ip}:${port}/"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solidFill>
                  <a:srgbClr val="002060"/>
                </a:solidFill>
              </a:rPr>
              <a:t>sed -</a:t>
            </a:r>
            <a:r>
              <a:rPr lang="en-US" altLang="zh-TW" sz="1200" dirty="0" err="1">
                <a:solidFill>
                  <a:srgbClr val="002060"/>
                </a:solidFill>
              </a:rPr>
              <a:t>i</a:t>
            </a:r>
            <a:r>
              <a:rPr lang="en-US" altLang="zh-TW" sz="1200" dirty="0">
                <a:solidFill>
                  <a:srgbClr val="002060"/>
                </a:solidFill>
              </a:rPr>
              <a:t> "\$</a:t>
            </a:r>
            <a:r>
              <a:rPr lang="en-US" altLang="zh-TW" sz="1200" dirty="0" err="1">
                <a:solidFill>
                  <a:srgbClr val="002060"/>
                </a:solidFill>
              </a:rPr>
              <a:t>aProxyPassReverse</a:t>
            </a:r>
            <a:r>
              <a:rPr lang="en-US" altLang="zh-TW" sz="1200" dirty="0">
                <a:solidFill>
                  <a:srgbClr val="002060"/>
                </a:solidFill>
              </a:rPr>
              <a:t> /${subsite}/ http://${ip}:${port}/" /</a:t>
            </a:r>
            <a:r>
              <a:rPr lang="en-US" altLang="zh-TW" sz="1200" dirty="0" err="1">
                <a:solidFill>
                  <a:srgbClr val="002060"/>
                </a:solidFill>
              </a:rPr>
              <a:t>etc</a:t>
            </a:r>
            <a:r>
              <a:rPr lang="en-US" altLang="zh-TW" sz="1200" dirty="0">
                <a:solidFill>
                  <a:srgbClr val="002060"/>
                </a:solidFill>
              </a:rPr>
              <a:t>/apache2/sites-enabled/</a:t>
            </a:r>
            <a:r>
              <a:rPr lang="en-US" altLang="zh-TW" sz="1200" dirty="0" err="1">
                <a:solidFill>
                  <a:srgbClr val="002060"/>
                </a:solidFill>
              </a:rPr>
              <a:t>project.conf</a:t>
            </a:r>
            <a:endParaRPr lang="en-US" altLang="zh-TW" sz="1200" dirty="0">
              <a:solidFill>
                <a:srgbClr val="002060"/>
              </a:solidFill>
            </a:endParaRPr>
          </a:p>
          <a:p>
            <a:r>
              <a:rPr lang="en-US" altLang="zh-TW" sz="1200" dirty="0"/>
              <a:t>service apache2 reload</a:t>
            </a:r>
            <a:endParaRPr lang="en-US" altLang="zh-TW" sz="1200" dirty="0">
              <a:solidFill>
                <a:srgbClr val="FF0000"/>
              </a:solidFill>
            </a:endParaRPr>
          </a:p>
        </p:txBody>
      </p:sp>
    </p:spTree>
    <p:extLst>
      <p:ext uri="{BB962C8B-B14F-4D97-AF65-F5344CB8AC3E}">
        <p14:creationId xmlns:p14="http://schemas.microsoft.com/office/powerpoint/2010/main" val="22002100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C19F3B58-5BC1-4C74-868B-58907AD04A9A}"/>
              </a:ext>
            </a:extLst>
          </p:cNvPr>
          <p:cNvSpPr/>
          <p:nvPr/>
        </p:nvSpPr>
        <p:spPr>
          <a:xfrm>
            <a:off x="9513225" y="6394243"/>
            <a:ext cx="360000" cy="360000"/>
          </a:xfrm>
          <a:prstGeom prst="rect">
            <a:avLst/>
          </a:prstGeom>
          <a:solidFill>
            <a:srgbClr val="18B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29</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 </a:t>
            </a:r>
            <a:r>
              <a:rPr lang="en-US" altLang="zh-TW" sz="3500" b="1" dirty="0">
                <a:solidFill>
                  <a:schemeClr val="tx1">
                    <a:lumMod val="75000"/>
                    <a:lumOff val="25000"/>
                  </a:schemeClr>
                </a:solidFill>
                <a:latin typeface="Montserrat Light" panose="00000400000000000000" pitchFamily="50" charset="0"/>
              </a:rPr>
              <a:t>– </a:t>
            </a:r>
            <a:r>
              <a:rPr lang="zh-TW" altLang="en-US" sz="3500" b="1" dirty="0">
                <a:solidFill>
                  <a:schemeClr val="tx1">
                    <a:lumMod val="75000"/>
                    <a:lumOff val="25000"/>
                  </a:schemeClr>
                </a:solidFill>
                <a:latin typeface="Montserrat Light" panose="00000400000000000000" pitchFamily="50" charset="0"/>
              </a:rPr>
              <a:t>自動建置腳本 </a:t>
            </a:r>
            <a:r>
              <a:rPr lang="en-US" altLang="zh-TW" sz="3500" b="1" dirty="0">
                <a:solidFill>
                  <a:schemeClr val="tx1">
                    <a:lumMod val="75000"/>
                    <a:lumOff val="25000"/>
                  </a:schemeClr>
                </a:solidFill>
                <a:latin typeface="Montserrat Light" panose="00000400000000000000" pitchFamily="50" charset="0"/>
              </a:rPr>
              <a:t>– </a:t>
            </a:r>
            <a:r>
              <a:rPr lang="zh-TW" altLang="en-US" sz="3500" b="1" dirty="0">
                <a:solidFill>
                  <a:schemeClr val="tx1">
                    <a:lumMod val="75000"/>
                    <a:lumOff val="25000"/>
                  </a:schemeClr>
                </a:solidFill>
                <a:latin typeface="Montserrat Light" panose="00000400000000000000" pitchFamily="50" charset="0"/>
              </a:rPr>
              <a:t>分離伺服器</a:t>
            </a:r>
          </a:p>
        </p:txBody>
      </p:sp>
      <p:sp>
        <p:nvSpPr>
          <p:cNvPr id="15" name="矩形: 圓角 14">
            <a:extLst>
              <a:ext uri="{FF2B5EF4-FFF2-40B4-BE49-F238E27FC236}">
                <a16:creationId xmlns:a16="http://schemas.microsoft.com/office/drawing/2014/main" id="{88E27230-76A0-4598-9C4F-51CCADEB6E52}"/>
              </a:ext>
            </a:extLst>
          </p:cNvPr>
          <p:cNvSpPr/>
          <p:nvPr/>
        </p:nvSpPr>
        <p:spPr>
          <a:xfrm>
            <a:off x="5494565" y="2669487"/>
            <a:ext cx="6613072"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./create_APSERVER.sh &lt;subsite&gt; &lt;port&gt; &lt;image&gt; &lt;extra&gt;</a:t>
            </a:r>
          </a:p>
        </p:txBody>
      </p:sp>
      <p:sp>
        <p:nvSpPr>
          <p:cNvPr id="7" name="文字方塊 6">
            <a:extLst>
              <a:ext uri="{FF2B5EF4-FFF2-40B4-BE49-F238E27FC236}">
                <a16:creationId xmlns:a16="http://schemas.microsoft.com/office/drawing/2014/main" id="{A71EDA16-5095-4C2A-8E4B-DBB7D2F6AA6E}"/>
              </a:ext>
            </a:extLst>
          </p:cNvPr>
          <p:cNvSpPr txBox="1"/>
          <p:nvPr/>
        </p:nvSpPr>
        <p:spPr>
          <a:xfrm>
            <a:off x="281781" y="4395073"/>
            <a:ext cx="6239785" cy="1015663"/>
          </a:xfrm>
          <a:prstGeom prst="rect">
            <a:avLst/>
          </a:prstGeom>
          <a:noFill/>
        </p:spPr>
        <p:txBody>
          <a:bodyPr wrap="square" rtlCol="0">
            <a:spAutoFit/>
          </a:bodyPr>
          <a:lstStyle/>
          <a:p>
            <a:r>
              <a:rPr lang="en-US" altLang="zh-TW" sz="1200" dirty="0"/>
              <a:t>#!/bin/bash</a:t>
            </a:r>
          </a:p>
          <a:p>
            <a:r>
              <a:rPr lang="en-US" altLang="zh-TW" sz="1200" dirty="0">
                <a:solidFill>
                  <a:srgbClr val="FF0000"/>
                </a:solidFill>
              </a:rPr>
              <a:t>subsite="$1“</a:t>
            </a:r>
          </a:p>
          <a:p>
            <a:r>
              <a:rPr lang="en-US" altLang="zh-TW" sz="1200" dirty="0">
                <a:solidFill>
                  <a:srgbClr val="FF0000"/>
                </a:solidFill>
              </a:rPr>
              <a:t>port="$2“</a:t>
            </a:r>
          </a:p>
          <a:p>
            <a:r>
              <a:rPr lang="en-US" altLang="zh-TW" sz="1200" dirty="0">
                <a:solidFill>
                  <a:srgbClr val="18B760"/>
                </a:solidFill>
              </a:rPr>
              <a:t>docker stop "${subsite}_${port}“</a:t>
            </a:r>
          </a:p>
          <a:p>
            <a:r>
              <a:rPr lang="en-US" altLang="zh-TW" sz="1200" dirty="0">
                <a:solidFill>
                  <a:srgbClr val="18B760"/>
                </a:solidFill>
              </a:rPr>
              <a:t>docker remove "${subsite}_${port}"</a:t>
            </a:r>
            <a:endParaRPr lang="zh-TW" altLang="en-US" sz="1200" dirty="0">
              <a:solidFill>
                <a:srgbClr val="18B760"/>
              </a:solidFill>
            </a:endParaRPr>
          </a:p>
        </p:txBody>
      </p:sp>
      <p:sp>
        <p:nvSpPr>
          <p:cNvPr id="8" name="矩形 7">
            <a:extLst>
              <a:ext uri="{FF2B5EF4-FFF2-40B4-BE49-F238E27FC236}">
                <a16:creationId xmlns:a16="http://schemas.microsoft.com/office/drawing/2014/main" id="{0A057C31-74B6-4912-B04A-3785455EA13E}"/>
              </a:ext>
            </a:extLst>
          </p:cNvPr>
          <p:cNvSpPr/>
          <p:nvPr/>
        </p:nvSpPr>
        <p:spPr>
          <a:xfrm>
            <a:off x="9513225" y="5937869"/>
            <a:ext cx="360000" cy="36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8B7485A5-3D88-4907-B895-2C0082A5EBAD}"/>
              </a:ext>
            </a:extLst>
          </p:cNvPr>
          <p:cNvSpPr txBox="1"/>
          <p:nvPr/>
        </p:nvSpPr>
        <p:spPr>
          <a:xfrm>
            <a:off x="9873225" y="5937869"/>
            <a:ext cx="2048959"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會寫入</a:t>
            </a:r>
            <a:r>
              <a:rPr lang="en-US" altLang="zh-TW" dirty="0">
                <a:latin typeface="微軟正黑體" panose="020B0604030504040204" pitchFamily="34" charset="-120"/>
                <a:ea typeface="微軟正黑體" panose="020B0604030504040204" pitchFamily="34" charset="-120"/>
              </a:rPr>
              <a:t>conf</a:t>
            </a:r>
            <a:r>
              <a:rPr lang="zh-TW" altLang="en-US" dirty="0">
                <a:latin typeface="微軟正黑體" panose="020B0604030504040204" pitchFamily="34" charset="-120"/>
                <a:ea typeface="微軟正黑體" panose="020B0604030504040204" pitchFamily="34" charset="-120"/>
              </a:rPr>
              <a:t>的設定</a:t>
            </a:r>
            <a:endParaRPr lang="en-US" altLang="zh-TW" dirty="0">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E3EC16F5-46B4-46DB-9FE3-B372D67730D4}"/>
              </a:ext>
            </a:extLst>
          </p:cNvPr>
          <p:cNvSpPr txBox="1"/>
          <p:nvPr/>
        </p:nvSpPr>
        <p:spPr>
          <a:xfrm>
            <a:off x="9873225" y="6394243"/>
            <a:ext cx="1878912" cy="369332"/>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Docker</a:t>
            </a:r>
            <a:r>
              <a:rPr lang="zh-TW" altLang="en-US" dirty="0">
                <a:latin typeface="微軟正黑體" panose="020B0604030504040204" pitchFamily="34" charset="-120"/>
                <a:ea typeface="微軟正黑體" panose="020B0604030504040204" pitchFamily="34" charset="-120"/>
              </a:rPr>
              <a:t>相關設定</a:t>
            </a:r>
          </a:p>
        </p:txBody>
      </p:sp>
      <p:sp>
        <p:nvSpPr>
          <p:cNvPr id="12" name="矩形 11">
            <a:extLst>
              <a:ext uri="{FF2B5EF4-FFF2-40B4-BE49-F238E27FC236}">
                <a16:creationId xmlns:a16="http://schemas.microsoft.com/office/drawing/2014/main" id="{0A0433A7-7B0A-4F4B-9FB3-A6585A9B6255}"/>
              </a:ext>
            </a:extLst>
          </p:cNvPr>
          <p:cNvSpPr/>
          <p:nvPr/>
        </p:nvSpPr>
        <p:spPr>
          <a:xfrm>
            <a:off x="9513225" y="5481495"/>
            <a:ext cx="360000" cy="360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822620FB-D462-4879-B8EB-B877B6182DB9}"/>
              </a:ext>
            </a:extLst>
          </p:cNvPr>
          <p:cNvSpPr txBox="1"/>
          <p:nvPr/>
        </p:nvSpPr>
        <p:spPr>
          <a:xfrm>
            <a:off x="9873225" y="5481495"/>
            <a:ext cx="1338828"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輸入的變數</a:t>
            </a:r>
          </a:p>
        </p:txBody>
      </p:sp>
      <p:sp>
        <p:nvSpPr>
          <p:cNvPr id="4" name="矩形: 圓角 3">
            <a:extLst>
              <a:ext uri="{FF2B5EF4-FFF2-40B4-BE49-F238E27FC236}">
                <a16:creationId xmlns:a16="http://schemas.microsoft.com/office/drawing/2014/main" id="{73B83C84-52EC-1193-8CC1-1332421C9B09}"/>
              </a:ext>
            </a:extLst>
          </p:cNvPr>
          <p:cNvSpPr/>
          <p:nvPr/>
        </p:nvSpPr>
        <p:spPr>
          <a:xfrm>
            <a:off x="5494564" y="4679131"/>
            <a:ext cx="6613071"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./remove_APSERVER.sh &lt;subsite&gt; &lt;port&gt;</a:t>
            </a:r>
            <a:endPar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37D57818-6A79-3203-37FF-26CCCA1B074F}"/>
              </a:ext>
            </a:extLst>
          </p:cNvPr>
          <p:cNvSpPr txBox="1"/>
          <p:nvPr/>
        </p:nvSpPr>
        <p:spPr>
          <a:xfrm>
            <a:off x="281781" y="2296756"/>
            <a:ext cx="4834144" cy="1200329"/>
          </a:xfrm>
          <a:prstGeom prst="rect">
            <a:avLst/>
          </a:prstGeom>
          <a:noFill/>
        </p:spPr>
        <p:txBody>
          <a:bodyPr wrap="none" rtlCol="0">
            <a:spAutoFit/>
          </a:bodyPr>
          <a:lstStyle/>
          <a:p>
            <a:r>
              <a:rPr lang="en-US" altLang="zh-TW" sz="1200" dirty="0"/>
              <a:t>#!/bin/bash</a:t>
            </a:r>
          </a:p>
          <a:p>
            <a:r>
              <a:rPr lang="en-US" altLang="zh-TW" sz="1200" dirty="0">
                <a:solidFill>
                  <a:srgbClr val="FF0000"/>
                </a:solidFill>
              </a:rPr>
              <a:t>subsite="$1“</a:t>
            </a:r>
          </a:p>
          <a:p>
            <a:r>
              <a:rPr lang="en-US" altLang="zh-TW" sz="1200" dirty="0">
                <a:solidFill>
                  <a:srgbClr val="FF0000"/>
                </a:solidFill>
              </a:rPr>
              <a:t>port="$2“</a:t>
            </a:r>
          </a:p>
          <a:p>
            <a:r>
              <a:rPr lang="en-US" altLang="zh-TW" sz="1200" dirty="0">
                <a:solidFill>
                  <a:srgbClr val="FF0000"/>
                </a:solidFill>
              </a:rPr>
              <a:t>image="$3“</a:t>
            </a:r>
          </a:p>
          <a:p>
            <a:r>
              <a:rPr lang="en-US" altLang="zh-TW" sz="1200" dirty="0">
                <a:solidFill>
                  <a:srgbClr val="FF0000"/>
                </a:solidFill>
              </a:rPr>
              <a:t>extra=" $4 “</a:t>
            </a:r>
          </a:p>
          <a:p>
            <a:r>
              <a:rPr lang="en-US" altLang="zh-TW" sz="1200" dirty="0">
                <a:solidFill>
                  <a:srgbClr val="18B760"/>
                </a:solidFill>
              </a:rPr>
              <a:t>docker run --name "${subsite}_${port}" -</a:t>
            </a:r>
            <a:r>
              <a:rPr lang="en-US" altLang="zh-TW" sz="1200" dirty="0" err="1">
                <a:solidFill>
                  <a:srgbClr val="18B760"/>
                </a:solidFill>
              </a:rPr>
              <a:t>idt</a:t>
            </a:r>
            <a:r>
              <a:rPr lang="en-US" altLang="zh-TW" sz="1200" dirty="0">
                <a:solidFill>
                  <a:srgbClr val="18B760"/>
                </a:solidFill>
              </a:rPr>
              <a:t> -p ${port}:80 ${extra} ${image}</a:t>
            </a:r>
          </a:p>
        </p:txBody>
      </p:sp>
    </p:spTree>
    <p:extLst>
      <p:ext uri="{BB962C8B-B14F-4D97-AF65-F5344CB8AC3E}">
        <p14:creationId xmlns:p14="http://schemas.microsoft.com/office/powerpoint/2010/main" val="46994095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30</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 </a:t>
            </a:r>
            <a:r>
              <a:rPr lang="en-US" altLang="zh-TW" sz="3500" b="1" dirty="0">
                <a:solidFill>
                  <a:schemeClr val="tx1">
                    <a:lumMod val="75000"/>
                    <a:lumOff val="25000"/>
                  </a:schemeClr>
                </a:solidFill>
                <a:latin typeface="Montserrat Light" panose="00000400000000000000" pitchFamily="50" charset="0"/>
              </a:rPr>
              <a:t>–</a:t>
            </a:r>
            <a:r>
              <a:rPr lang="zh-TW" altLang="en-US" sz="3500" b="1" dirty="0">
                <a:solidFill>
                  <a:schemeClr val="tx1">
                    <a:lumMod val="75000"/>
                    <a:lumOff val="25000"/>
                  </a:schemeClr>
                </a:solidFill>
                <a:latin typeface="Montserrat Light" panose="00000400000000000000" pitchFamily="50" charset="0"/>
              </a:rPr>
              <a:t> </a:t>
            </a:r>
            <a:r>
              <a:rPr lang="en-US" altLang="zh-TW" sz="3500" b="1" dirty="0">
                <a:solidFill>
                  <a:schemeClr val="tx1">
                    <a:lumMod val="75000"/>
                    <a:lumOff val="25000"/>
                  </a:schemeClr>
                </a:solidFill>
                <a:latin typeface="Montserrat Light" panose="00000400000000000000" pitchFamily="50" charset="0"/>
              </a:rPr>
              <a:t>Web Server</a:t>
            </a:r>
            <a:r>
              <a:rPr lang="zh-TW" altLang="en-US" sz="3500" b="1" dirty="0">
                <a:solidFill>
                  <a:schemeClr val="tx1">
                    <a:lumMod val="75000"/>
                    <a:lumOff val="25000"/>
                  </a:schemeClr>
                </a:solidFill>
                <a:latin typeface="Montserrat Light" panose="00000400000000000000" pitchFamily="50" charset="0"/>
              </a:rPr>
              <a:t>配置</a:t>
            </a:r>
          </a:p>
        </p:txBody>
      </p:sp>
      <p:sp>
        <p:nvSpPr>
          <p:cNvPr id="14" name="矩形: 圓角 13">
            <a:extLst>
              <a:ext uri="{FF2B5EF4-FFF2-40B4-BE49-F238E27FC236}">
                <a16:creationId xmlns:a16="http://schemas.microsoft.com/office/drawing/2014/main" id="{2B5FD68E-8035-45FE-88D2-AB0A2D4914E9}"/>
              </a:ext>
            </a:extLst>
          </p:cNvPr>
          <p:cNvSpPr/>
          <p:nvPr/>
        </p:nvSpPr>
        <p:spPr>
          <a:xfrm>
            <a:off x="6829425" y="2247264"/>
            <a:ext cx="4476750" cy="3486149"/>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腳本在</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Web</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Server</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對</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Reverse Proxy</a:t>
            </a:r>
          </a:p>
          <a:p>
            <a:pPr algn="ct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設定</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HTTPS</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轉址</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子網域轉</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port</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的設定</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728D08D5-CA78-41D8-95C3-7FC51A5C83BB}"/>
              </a:ext>
            </a:extLst>
          </p:cNvPr>
          <p:cNvSpPr txBox="1"/>
          <p:nvPr/>
        </p:nvSpPr>
        <p:spPr>
          <a:xfrm>
            <a:off x="885825" y="1928235"/>
            <a:ext cx="4339650" cy="4124206"/>
          </a:xfrm>
          <a:prstGeom prst="rect">
            <a:avLst/>
          </a:prstGeom>
          <a:noFill/>
        </p:spPr>
        <p:txBody>
          <a:bodyPr wrap="none" rtlCol="0">
            <a:spAutoFit/>
          </a:bodyPr>
          <a:lstStyle/>
          <a:p>
            <a:r>
              <a:rPr lang="en-US" altLang="zh-TW" sz="1000" dirty="0">
                <a:solidFill>
                  <a:schemeClr val="bg1">
                    <a:lumMod val="50000"/>
                  </a:schemeClr>
                </a:solidFill>
              </a:rPr>
              <a:t>&lt;</a:t>
            </a:r>
            <a:r>
              <a:rPr lang="en-US" altLang="zh-TW" sz="1000" dirty="0" err="1">
                <a:solidFill>
                  <a:schemeClr val="bg1">
                    <a:lumMod val="50000"/>
                  </a:schemeClr>
                </a:solidFill>
              </a:rPr>
              <a:t>VirtualHost</a:t>
            </a:r>
            <a:r>
              <a:rPr lang="en-US" altLang="zh-TW" sz="1000" dirty="0">
                <a:solidFill>
                  <a:schemeClr val="bg1">
                    <a:lumMod val="50000"/>
                  </a:schemeClr>
                </a:solidFill>
              </a:rPr>
              <a:t> *:80&gt;</a:t>
            </a:r>
          </a:p>
          <a:p>
            <a:r>
              <a:rPr lang="en-US" altLang="zh-TW" sz="1000" dirty="0">
                <a:solidFill>
                  <a:schemeClr val="bg1">
                    <a:lumMod val="50000"/>
                  </a:schemeClr>
                </a:solidFill>
              </a:rPr>
              <a:t>        </a:t>
            </a:r>
            <a:r>
              <a:rPr lang="en-US" altLang="zh-TW" sz="1000" dirty="0" err="1">
                <a:solidFill>
                  <a:schemeClr val="bg1">
                    <a:lumMod val="50000"/>
                  </a:schemeClr>
                </a:solidFill>
              </a:rPr>
              <a:t>ServerName</a:t>
            </a:r>
            <a:r>
              <a:rPr lang="en-US" altLang="zh-TW" sz="1000" dirty="0">
                <a:solidFill>
                  <a:schemeClr val="bg1">
                    <a:lumMod val="50000"/>
                  </a:schemeClr>
                </a:solidFill>
              </a:rPr>
              <a:t> spl.sytes.net</a:t>
            </a:r>
          </a:p>
          <a:p>
            <a:r>
              <a:rPr lang="en-US" altLang="zh-TW" sz="1000" dirty="0">
                <a:solidFill>
                  <a:schemeClr val="bg1">
                    <a:lumMod val="50000"/>
                  </a:schemeClr>
                </a:solidFill>
              </a:rPr>
              <a:t>        </a:t>
            </a:r>
            <a:r>
              <a:rPr lang="en-US" altLang="zh-TW" sz="1000" dirty="0" err="1">
                <a:solidFill>
                  <a:schemeClr val="bg1">
                    <a:lumMod val="50000"/>
                  </a:schemeClr>
                </a:solidFill>
              </a:rPr>
              <a:t>ServerAlias</a:t>
            </a:r>
            <a:r>
              <a:rPr lang="en-US" altLang="zh-TW" sz="1000" dirty="0">
                <a:solidFill>
                  <a:schemeClr val="bg1">
                    <a:lumMod val="50000"/>
                  </a:schemeClr>
                </a:solidFill>
              </a:rPr>
              <a:t> spl.sytes.net</a:t>
            </a:r>
          </a:p>
          <a:p>
            <a:r>
              <a:rPr lang="en-US" altLang="zh-TW" sz="1000" dirty="0">
                <a:solidFill>
                  <a:schemeClr val="bg1">
                    <a:lumMod val="50000"/>
                  </a:schemeClr>
                </a:solidFill>
              </a:rPr>
              <a:t>&lt;/</a:t>
            </a:r>
            <a:r>
              <a:rPr lang="en-US" altLang="zh-TW" sz="1000" dirty="0" err="1">
                <a:solidFill>
                  <a:schemeClr val="bg1">
                    <a:lumMod val="50000"/>
                  </a:schemeClr>
                </a:solidFill>
              </a:rPr>
              <a:t>VirtualHost</a:t>
            </a:r>
            <a:r>
              <a:rPr lang="en-US" altLang="zh-TW" sz="1000" dirty="0">
                <a:solidFill>
                  <a:schemeClr val="bg1">
                    <a:lumMod val="50000"/>
                  </a:schemeClr>
                </a:solidFill>
              </a:rPr>
              <a:t>&gt;</a:t>
            </a:r>
          </a:p>
          <a:p>
            <a:endParaRPr lang="en-US" altLang="zh-TW" sz="1000" dirty="0">
              <a:solidFill>
                <a:schemeClr val="bg1">
                  <a:lumMod val="50000"/>
                </a:schemeClr>
              </a:solidFill>
            </a:endParaRPr>
          </a:p>
          <a:p>
            <a:r>
              <a:rPr lang="en-US" altLang="zh-TW" sz="1000" dirty="0">
                <a:solidFill>
                  <a:schemeClr val="bg1">
                    <a:lumMod val="50000"/>
                  </a:schemeClr>
                </a:solidFill>
              </a:rPr>
              <a:t>&lt;</a:t>
            </a:r>
            <a:r>
              <a:rPr lang="en-US" altLang="zh-TW" sz="1000" dirty="0" err="1">
                <a:solidFill>
                  <a:schemeClr val="bg1">
                    <a:lumMod val="50000"/>
                  </a:schemeClr>
                </a:solidFill>
              </a:rPr>
              <a:t>VirtualHost</a:t>
            </a:r>
            <a:r>
              <a:rPr lang="en-US" altLang="zh-TW" sz="1000" dirty="0">
                <a:solidFill>
                  <a:schemeClr val="bg1">
                    <a:lumMod val="50000"/>
                  </a:schemeClr>
                </a:solidFill>
              </a:rPr>
              <a:t> *:443&gt;</a:t>
            </a:r>
          </a:p>
          <a:p>
            <a:r>
              <a:rPr lang="en-US" altLang="zh-TW" sz="1000" dirty="0">
                <a:solidFill>
                  <a:schemeClr val="bg1">
                    <a:lumMod val="50000"/>
                  </a:schemeClr>
                </a:solidFill>
              </a:rPr>
              <a:t>        </a:t>
            </a:r>
            <a:r>
              <a:rPr lang="en-US" altLang="zh-TW" sz="1000" dirty="0" err="1">
                <a:solidFill>
                  <a:schemeClr val="bg1">
                    <a:lumMod val="50000"/>
                  </a:schemeClr>
                </a:solidFill>
              </a:rPr>
              <a:t>ServerName</a:t>
            </a:r>
            <a:r>
              <a:rPr lang="en-US" altLang="zh-TW" sz="1000" dirty="0">
                <a:solidFill>
                  <a:schemeClr val="bg1">
                    <a:lumMod val="50000"/>
                  </a:schemeClr>
                </a:solidFill>
              </a:rPr>
              <a:t> spl.sytes.net</a:t>
            </a:r>
          </a:p>
          <a:p>
            <a:r>
              <a:rPr lang="en-US" altLang="zh-TW" sz="1000" dirty="0">
                <a:solidFill>
                  <a:schemeClr val="bg1">
                    <a:lumMod val="50000"/>
                  </a:schemeClr>
                </a:solidFill>
              </a:rPr>
              <a:t>        </a:t>
            </a:r>
            <a:r>
              <a:rPr lang="en-US" altLang="zh-TW" sz="1000" dirty="0" err="1">
                <a:solidFill>
                  <a:schemeClr val="bg1">
                    <a:lumMod val="50000"/>
                  </a:schemeClr>
                </a:solidFill>
              </a:rPr>
              <a:t>ServerAlias</a:t>
            </a:r>
            <a:r>
              <a:rPr lang="en-US" altLang="zh-TW" sz="1000" dirty="0">
                <a:solidFill>
                  <a:schemeClr val="bg1">
                    <a:lumMod val="50000"/>
                  </a:schemeClr>
                </a:solidFill>
              </a:rPr>
              <a:t> spl.sytes.net</a:t>
            </a:r>
          </a:p>
          <a:p>
            <a:r>
              <a:rPr lang="en-US" altLang="zh-TW" sz="1000" dirty="0">
                <a:solidFill>
                  <a:schemeClr val="bg1">
                    <a:lumMod val="50000"/>
                  </a:schemeClr>
                </a:solidFill>
              </a:rPr>
              <a:t>        </a:t>
            </a:r>
            <a:r>
              <a:rPr lang="en-US" altLang="zh-TW" sz="1000" dirty="0" err="1">
                <a:solidFill>
                  <a:schemeClr val="bg1">
                    <a:lumMod val="50000"/>
                  </a:schemeClr>
                </a:solidFill>
              </a:rPr>
              <a:t>SSLEngine</a:t>
            </a:r>
            <a:r>
              <a:rPr lang="en-US" altLang="zh-TW" sz="1000" dirty="0">
                <a:solidFill>
                  <a:schemeClr val="bg1">
                    <a:lumMod val="50000"/>
                  </a:schemeClr>
                </a:solidFill>
              </a:rPr>
              <a:t> on</a:t>
            </a:r>
          </a:p>
          <a:p>
            <a:r>
              <a:rPr lang="en-US" altLang="zh-TW" sz="1000" dirty="0">
                <a:solidFill>
                  <a:schemeClr val="bg1">
                    <a:lumMod val="50000"/>
                  </a:schemeClr>
                </a:solidFill>
              </a:rPr>
              <a:t>        </a:t>
            </a:r>
            <a:r>
              <a:rPr lang="en-US" altLang="zh-TW" sz="1000" dirty="0" err="1">
                <a:solidFill>
                  <a:schemeClr val="bg1">
                    <a:lumMod val="50000"/>
                  </a:schemeClr>
                </a:solidFill>
              </a:rPr>
              <a:t>SSLCertificateFile</a:t>
            </a:r>
            <a:r>
              <a:rPr lang="en-US" altLang="zh-TW" sz="1000" dirty="0">
                <a:solidFill>
                  <a:schemeClr val="bg1">
                    <a:lumMod val="50000"/>
                  </a:schemeClr>
                </a:solidFill>
              </a:rPr>
              <a:t> /</a:t>
            </a:r>
            <a:r>
              <a:rPr lang="en-US" altLang="zh-TW" sz="1000" dirty="0" err="1">
                <a:solidFill>
                  <a:schemeClr val="bg1">
                    <a:lumMod val="50000"/>
                  </a:schemeClr>
                </a:solidFill>
              </a:rPr>
              <a:t>etc</a:t>
            </a:r>
            <a:r>
              <a:rPr lang="en-US" altLang="zh-TW" sz="1000" dirty="0">
                <a:solidFill>
                  <a:schemeClr val="bg1">
                    <a:lumMod val="50000"/>
                  </a:schemeClr>
                </a:solidFill>
              </a:rPr>
              <a:t>/</a:t>
            </a:r>
            <a:r>
              <a:rPr lang="en-US" altLang="zh-TW" sz="1000" dirty="0" err="1">
                <a:solidFill>
                  <a:schemeClr val="bg1">
                    <a:lumMod val="50000"/>
                  </a:schemeClr>
                </a:solidFill>
              </a:rPr>
              <a:t>letsencrypt</a:t>
            </a:r>
            <a:r>
              <a:rPr lang="en-US" altLang="zh-TW" sz="1000" dirty="0">
                <a:solidFill>
                  <a:schemeClr val="bg1">
                    <a:lumMod val="50000"/>
                  </a:schemeClr>
                </a:solidFill>
              </a:rPr>
              <a:t>/live/spl.sytes.net/</a:t>
            </a:r>
            <a:r>
              <a:rPr lang="en-US" altLang="zh-TW" sz="1000" dirty="0" err="1">
                <a:solidFill>
                  <a:schemeClr val="bg1">
                    <a:lumMod val="50000"/>
                  </a:schemeClr>
                </a:solidFill>
              </a:rPr>
              <a:t>fullchain.pem</a:t>
            </a:r>
            <a:endParaRPr lang="en-US" altLang="zh-TW" sz="1000" dirty="0">
              <a:solidFill>
                <a:schemeClr val="bg1">
                  <a:lumMod val="50000"/>
                </a:schemeClr>
              </a:solidFill>
            </a:endParaRPr>
          </a:p>
          <a:p>
            <a:r>
              <a:rPr lang="en-US" altLang="zh-TW" sz="1000" dirty="0">
                <a:solidFill>
                  <a:schemeClr val="bg1">
                    <a:lumMod val="50000"/>
                  </a:schemeClr>
                </a:solidFill>
              </a:rPr>
              <a:t>        </a:t>
            </a:r>
            <a:r>
              <a:rPr lang="en-US" altLang="zh-TW" sz="1000" dirty="0" err="1">
                <a:solidFill>
                  <a:schemeClr val="bg1">
                    <a:lumMod val="50000"/>
                  </a:schemeClr>
                </a:solidFill>
              </a:rPr>
              <a:t>SSLCertificateKeyFile</a:t>
            </a:r>
            <a:r>
              <a:rPr lang="en-US" altLang="zh-TW" sz="1000" dirty="0">
                <a:solidFill>
                  <a:schemeClr val="bg1">
                    <a:lumMod val="50000"/>
                  </a:schemeClr>
                </a:solidFill>
              </a:rPr>
              <a:t> /</a:t>
            </a:r>
            <a:r>
              <a:rPr lang="en-US" altLang="zh-TW" sz="1000" dirty="0" err="1">
                <a:solidFill>
                  <a:schemeClr val="bg1">
                    <a:lumMod val="50000"/>
                  </a:schemeClr>
                </a:solidFill>
              </a:rPr>
              <a:t>etc</a:t>
            </a:r>
            <a:r>
              <a:rPr lang="en-US" altLang="zh-TW" sz="1000" dirty="0">
                <a:solidFill>
                  <a:schemeClr val="bg1">
                    <a:lumMod val="50000"/>
                  </a:schemeClr>
                </a:solidFill>
              </a:rPr>
              <a:t>/</a:t>
            </a:r>
            <a:r>
              <a:rPr lang="en-US" altLang="zh-TW" sz="1000" dirty="0" err="1">
                <a:solidFill>
                  <a:schemeClr val="bg1">
                    <a:lumMod val="50000"/>
                  </a:schemeClr>
                </a:solidFill>
              </a:rPr>
              <a:t>letsencrypt</a:t>
            </a:r>
            <a:r>
              <a:rPr lang="en-US" altLang="zh-TW" sz="1000" dirty="0">
                <a:solidFill>
                  <a:schemeClr val="bg1">
                    <a:lumMod val="50000"/>
                  </a:schemeClr>
                </a:solidFill>
              </a:rPr>
              <a:t>/live/spl.sytes.net/</a:t>
            </a:r>
            <a:r>
              <a:rPr lang="en-US" altLang="zh-TW" sz="1000" dirty="0" err="1">
                <a:solidFill>
                  <a:schemeClr val="bg1">
                    <a:lumMod val="50000"/>
                  </a:schemeClr>
                </a:solidFill>
              </a:rPr>
              <a:t>privkey.pem</a:t>
            </a:r>
            <a:r>
              <a:rPr lang="en-US" altLang="zh-TW" sz="1000" dirty="0">
                <a:solidFill>
                  <a:schemeClr val="bg1">
                    <a:lumMod val="50000"/>
                  </a:schemeClr>
                </a:solidFill>
              </a:rPr>
              <a:t>	</a:t>
            </a:r>
          </a:p>
          <a:p>
            <a:r>
              <a:rPr lang="en-US" altLang="zh-TW" sz="1000" dirty="0">
                <a:solidFill>
                  <a:schemeClr val="bg1">
                    <a:lumMod val="50000"/>
                  </a:schemeClr>
                </a:solidFill>
              </a:rPr>
              <a:t>        </a:t>
            </a:r>
            <a:r>
              <a:rPr lang="en-US" altLang="zh-TW" sz="1000" dirty="0" err="1">
                <a:solidFill>
                  <a:schemeClr val="bg1">
                    <a:lumMod val="50000"/>
                  </a:schemeClr>
                </a:solidFill>
              </a:rPr>
              <a:t>RewriteEngine</a:t>
            </a:r>
            <a:r>
              <a:rPr lang="en-US" altLang="zh-TW" sz="1000" dirty="0">
                <a:solidFill>
                  <a:schemeClr val="bg1">
                    <a:lumMod val="50000"/>
                  </a:schemeClr>
                </a:solidFill>
              </a:rPr>
              <a:t> on</a:t>
            </a:r>
          </a:p>
          <a:p>
            <a:r>
              <a:rPr lang="en-US" altLang="zh-TW" sz="1300" dirty="0">
                <a:solidFill>
                  <a:srgbClr val="FF0000"/>
                </a:solidFill>
              </a:rPr>
              <a:t>      </a:t>
            </a:r>
            <a:r>
              <a:rPr lang="en-US" altLang="zh-TW" sz="1300" dirty="0" err="1">
                <a:solidFill>
                  <a:srgbClr val="FF0000"/>
                </a:solidFill>
              </a:rPr>
              <a:t>RewriteCond</a:t>
            </a:r>
            <a:r>
              <a:rPr lang="en-US" altLang="zh-TW" sz="1300" dirty="0">
                <a:solidFill>
                  <a:srgbClr val="FF0000"/>
                </a:solidFill>
              </a:rPr>
              <a:t> %{REQUEST_URI} ^/</a:t>
            </a:r>
            <a:r>
              <a:rPr lang="en-US" altLang="zh-TW" sz="1300" dirty="0" err="1">
                <a:solidFill>
                  <a:srgbClr val="FF0000"/>
                </a:solidFill>
              </a:rPr>
              <a:t>transch</a:t>
            </a:r>
            <a:r>
              <a:rPr lang="en-US" altLang="zh-TW" sz="1300" dirty="0">
                <a:solidFill>
                  <a:srgbClr val="FF0000"/>
                </a:solidFill>
              </a:rPr>
              <a:t>$</a:t>
            </a:r>
          </a:p>
          <a:p>
            <a:r>
              <a:rPr lang="en-US" altLang="zh-TW" sz="1300" dirty="0">
                <a:solidFill>
                  <a:srgbClr val="FF0000"/>
                </a:solidFill>
              </a:rPr>
              <a:t>      </a:t>
            </a:r>
            <a:r>
              <a:rPr lang="en-US" altLang="zh-TW" sz="1300" dirty="0" err="1">
                <a:solidFill>
                  <a:srgbClr val="FF0000"/>
                </a:solidFill>
              </a:rPr>
              <a:t>RewriteRule</a:t>
            </a:r>
            <a:r>
              <a:rPr lang="en-US" altLang="zh-TW" sz="1300" dirty="0">
                <a:solidFill>
                  <a:srgbClr val="FF0000"/>
                </a:solidFill>
              </a:rPr>
              <a:t> ^(.*)$ /</a:t>
            </a:r>
            <a:r>
              <a:rPr lang="en-US" altLang="zh-TW" sz="1300" dirty="0" err="1">
                <a:solidFill>
                  <a:srgbClr val="FF0000"/>
                </a:solidFill>
              </a:rPr>
              <a:t>transch</a:t>
            </a:r>
            <a:r>
              <a:rPr lang="en-US" altLang="zh-TW" sz="1300" dirty="0">
                <a:solidFill>
                  <a:srgbClr val="FF0000"/>
                </a:solidFill>
              </a:rPr>
              <a:t>/ [R=301,L]</a:t>
            </a:r>
          </a:p>
          <a:p>
            <a:r>
              <a:rPr lang="en-US" altLang="zh-TW" sz="1000" dirty="0">
                <a:solidFill>
                  <a:schemeClr val="bg1">
                    <a:lumMod val="50000"/>
                  </a:schemeClr>
                </a:solidFill>
              </a:rPr>
              <a:t>&lt;/</a:t>
            </a:r>
            <a:r>
              <a:rPr lang="en-US" altLang="zh-TW" sz="1000" dirty="0" err="1">
                <a:solidFill>
                  <a:schemeClr val="bg1">
                    <a:lumMod val="50000"/>
                  </a:schemeClr>
                </a:solidFill>
              </a:rPr>
              <a:t>VirtualHost</a:t>
            </a:r>
            <a:r>
              <a:rPr lang="en-US" altLang="zh-TW" sz="1000" dirty="0">
                <a:solidFill>
                  <a:schemeClr val="bg1">
                    <a:lumMod val="50000"/>
                  </a:schemeClr>
                </a:solidFill>
              </a:rPr>
              <a:t>&gt;</a:t>
            </a:r>
          </a:p>
          <a:p>
            <a:endParaRPr lang="en-US" altLang="zh-TW" sz="1000" dirty="0">
              <a:solidFill>
                <a:schemeClr val="bg1">
                  <a:lumMod val="50000"/>
                </a:schemeClr>
              </a:solidFill>
            </a:endParaRPr>
          </a:p>
          <a:p>
            <a:r>
              <a:rPr lang="en-US" altLang="zh-TW" sz="1000" dirty="0">
                <a:solidFill>
                  <a:schemeClr val="bg1">
                    <a:lumMod val="50000"/>
                  </a:schemeClr>
                </a:solidFill>
              </a:rPr>
              <a:t>&lt;Proxy *&gt;</a:t>
            </a:r>
          </a:p>
          <a:p>
            <a:r>
              <a:rPr lang="en-US" altLang="zh-TW" sz="1000" dirty="0">
                <a:solidFill>
                  <a:schemeClr val="bg1">
                    <a:lumMod val="50000"/>
                  </a:schemeClr>
                </a:solidFill>
              </a:rPr>
              <a:t>        Order </a:t>
            </a:r>
            <a:r>
              <a:rPr lang="en-US" altLang="zh-TW" sz="1000" dirty="0" err="1">
                <a:solidFill>
                  <a:schemeClr val="bg1">
                    <a:lumMod val="50000"/>
                  </a:schemeClr>
                </a:solidFill>
              </a:rPr>
              <a:t>allow,deny</a:t>
            </a:r>
            <a:endParaRPr lang="en-US" altLang="zh-TW" sz="1000" dirty="0">
              <a:solidFill>
                <a:schemeClr val="bg1">
                  <a:lumMod val="50000"/>
                </a:schemeClr>
              </a:solidFill>
            </a:endParaRPr>
          </a:p>
          <a:p>
            <a:r>
              <a:rPr lang="en-US" altLang="zh-TW" sz="1000" dirty="0">
                <a:solidFill>
                  <a:schemeClr val="bg1">
                    <a:lumMod val="50000"/>
                  </a:schemeClr>
                </a:solidFill>
              </a:rPr>
              <a:t>        Allow from all</a:t>
            </a:r>
          </a:p>
          <a:p>
            <a:r>
              <a:rPr lang="en-US" altLang="zh-TW" sz="1000" dirty="0">
                <a:solidFill>
                  <a:schemeClr val="bg1">
                    <a:lumMod val="50000"/>
                  </a:schemeClr>
                </a:solidFill>
              </a:rPr>
              <a:t>&lt;/Proxy&gt;</a:t>
            </a:r>
          </a:p>
          <a:p>
            <a:endParaRPr lang="en-US" altLang="zh-TW" sz="1000" dirty="0">
              <a:solidFill>
                <a:schemeClr val="bg1">
                  <a:lumMod val="50000"/>
                </a:schemeClr>
              </a:solidFill>
            </a:endParaRPr>
          </a:p>
          <a:p>
            <a:r>
              <a:rPr lang="en-US" altLang="zh-TW" sz="1000" dirty="0" err="1">
                <a:solidFill>
                  <a:schemeClr val="bg1">
                    <a:lumMod val="50000"/>
                  </a:schemeClr>
                </a:solidFill>
              </a:rPr>
              <a:t>ProxyPreserveHost</a:t>
            </a:r>
            <a:r>
              <a:rPr lang="en-US" altLang="zh-TW" sz="1000" dirty="0">
                <a:solidFill>
                  <a:schemeClr val="bg1">
                    <a:lumMod val="50000"/>
                  </a:schemeClr>
                </a:solidFill>
              </a:rPr>
              <a:t> On</a:t>
            </a:r>
          </a:p>
          <a:p>
            <a:r>
              <a:rPr lang="en-US" altLang="zh-TW" sz="1000" dirty="0" err="1">
                <a:solidFill>
                  <a:schemeClr val="bg1">
                    <a:lumMod val="50000"/>
                  </a:schemeClr>
                </a:solidFill>
              </a:rPr>
              <a:t>ProxyRequests</a:t>
            </a:r>
            <a:r>
              <a:rPr lang="en-US" altLang="zh-TW" sz="1000" dirty="0">
                <a:solidFill>
                  <a:schemeClr val="bg1">
                    <a:lumMod val="50000"/>
                  </a:schemeClr>
                </a:solidFill>
              </a:rPr>
              <a:t> Off</a:t>
            </a:r>
          </a:p>
          <a:p>
            <a:r>
              <a:rPr lang="en-US" altLang="zh-TW" sz="1300" dirty="0" err="1">
                <a:solidFill>
                  <a:srgbClr val="FF0000"/>
                </a:solidFill>
              </a:rPr>
              <a:t>ProxyPass</a:t>
            </a:r>
            <a:r>
              <a:rPr lang="en-US" altLang="zh-TW" sz="1300" dirty="0">
                <a:solidFill>
                  <a:srgbClr val="FF0000"/>
                </a:solidFill>
              </a:rPr>
              <a:t> /</a:t>
            </a:r>
            <a:r>
              <a:rPr lang="en-US" altLang="zh-TW" sz="1300" dirty="0" err="1">
                <a:solidFill>
                  <a:srgbClr val="FF0000"/>
                </a:solidFill>
              </a:rPr>
              <a:t>transch</a:t>
            </a:r>
            <a:r>
              <a:rPr lang="en-US" altLang="zh-TW" sz="1300" dirty="0">
                <a:solidFill>
                  <a:srgbClr val="FF0000"/>
                </a:solidFill>
              </a:rPr>
              <a:t>/ http://localhost:9527/</a:t>
            </a:r>
          </a:p>
          <a:p>
            <a:r>
              <a:rPr lang="en-US" altLang="zh-TW" sz="1300" dirty="0" err="1">
                <a:solidFill>
                  <a:srgbClr val="FF0000"/>
                </a:solidFill>
              </a:rPr>
              <a:t>ProxyPassReverse</a:t>
            </a:r>
            <a:r>
              <a:rPr lang="en-US" altLang="zh-TW" sz="1300" dirty="0">
                <a:solidFill>
                  <a:srgbClr val="FF0000"/>
                </a:solidFill>
              </a:rPr>
              <a:t> /</a:t>
            </a:r>
            <a:r>
              <a:rPr lang="en-US" altLang="zh-TW" sz="1300" dirty="0" err="1">
                <a:solidFill>
                  <a:srgbClr val="FF0000"/>
                </a:solidFill>
              </a:rPr>
              <a:t>transch</a:t>
            </a:r>
            <a:r>
              <a:rPr lang="en-US" altLang="zh-TW" sz="1300" dirty="0">
                <a:solidFill>
                  <a:srgbClr val="FF0000"/>
                </a:solidFill>
              </a:rPr>
              <a:t>/ http://localhost:9527/</a:t>
            </a:r>
          </a:p>
        </p:txBody>
      </p:sp>
      <p:sp>
        <p:nvSpPr>
          <p:cNvPr id="6" name="矩形 5">
            <a:extLst>
              <a:ext uri="{FF2B5EF4-FFF2-40B4-BE49-F238E27FC236}">
                <a16:creationId xmlns:a16="http://schemas.microsoft.com/office/drawing/2014/main" id="{9DDED119-8E9C-4478-BC87-371A3C770F33}"/>
              </a:ext>
            </a:extLst>
          </p:cNvPr>
          <p:cNvSpPr/>
          <p:nvPr/>
        </p:nvSpPr>
        <p:spPr>
          <a:xfrm>
            <a:off x="9513225" y="6182801"/>
            <a:ext cx="360000" cy="360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
        <p:nvSpPr>
          <p:cNvPr id="7" name="文字方塊 6">
            <a:extLst>
              <a:ext uri="{FF2B5EF4-FFF2-40B4-BE49-F238E27FC236}">
                <a16:creationId xmlns:a16="http://schemas.microsoft.com/office/drawing/2014/main" id="{31BF4ECA-90E6-4C35-857C-EB1E58545799}"/>
              </a:ext>
            </a:extLst>
          </p:cNvPr>
          <p:cNvSpPr txBox="1"/>
          <p:nvPr/>
        </p:nvSpPr>
        <p:spPr>
          <a:xfrm>
            <a:off x="9873225" y="6182801"/>
            <a:ext cx="1800493"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腳本新增的配置</a:t>
            </a:r>
          </a:p>
        </p:txBody>
      </p:sp>
    </p:spTree>
    <p:extLst>
      <p:ext uri="{BB962C8B-B14F-4D97-AF65-F5344CB8AC3E}">
        <p14:creationId xmlns:p14="http://schemas.microsoft.com/office/powerpoint/2010/main" val="3768442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AD1C455-6292-4230-A95C-1C1F119B0116}"/>
              </a:ext>
            </a:extLst>
          </p:cNvPr>
          <p:cNvPicPr>
            <a:picLocks noChangeAspect="1"/>
          </p:cNvPicPr>
          <p:nvPr/>
        </p:nvPicPr>
        <p:blipFill>
          <a:blip r:embed="rId3"/>
          <a:stretch>
            <a:fillRect/>
          </a:stretch>
        </p:blipFill>
        <p:spPr>
          <a:xfrm>
            <a:off x="563563" y="2532809"/>
            <a:ext cx="5334744" cy="2915057"/>
          </a:xfrm>
          <a:prstGeom prst="rect">
            <a:avLst/>
          </a:prstGeom>
        </p:spPr>
      </p:pic>
      <p:sp>
        <p:nvSpPr>
          <p:cNvPr id="15" name="矩形: 圓角 14">
            <a:extLst>
              <a:ext uri="{FF2B5EF4-FFF2-40B4-BE49-F238E27FC236}">
                <a16:creationId xmlns:a16="http://schemas.microsoft.com/office/drawing/2014/main" id="{FBB88829-0DB1-4B49-BBCB-3030C002AD33}"/>
              </a:ext>
            </a:extLst>
          </p:cNvPr>
          <p:cNvSpPr/>
          <p:nvPr/>
        </p:nvSpPr>
        <p:spPr>
          <a:xfrm>
            <a:off x="6829425" y="2247264"/>
            <a:ext cx="4476750" cy="3486149"/>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Docker</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容器運作情形</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經由</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Reverse Proxy</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將需求轉入容器中</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31</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 </a:t>
            </a:r>
            <a:r>
              <a:rPr lang="en-US" altLang="zh-TW" sz="3500" b="1" dirty="0">
                <a:solidFill>
                  <a:schemeClr val="tx1">
                    <a:lumMod val="75000"/>
                    <a:lumOff val="25000"/>
                  </a:schemeClr>
                </a:solidFill>
                <a:latin typeface="Montserrat Light" panose="00000400000000000000" pitchFamily="50" charset="0"/>
              </a:rPr>
              <a:t>–</a:t>
            </a:r>
            <a:r>
              <a:rPr lang="zh-TW" altLang="en-US" sz="3500" b="1" dirty="0">
                <a:solidFill>
                  <a:schemeClr val="tx1">
                    <a:lumMod val="75000"/>
                    <a:lumOff val="25000"/>
                  </a:schemeClr>
                </a:solidFill>
                <a:latin typeface="Montserrat Light" panose="00000400000000000000" pitchFamily="50" charset="0"/>
              </a:rPr>
              <a:t> 系統運作情形</a:t>
            </a:r>
          </a:p>
        </p:txBody>
      </p:sp>
      <p:sp>
        <p:nvSpPr>
          <p:cNvPr id="10" name="矩形 9">
            <a:extLst>
              <a:ext uri="{FF2B5EF4-FFF2-40B4-BE49-F238E27FC236}">
                <a16:creationId xmlns:a16="http://schemas.microsoft.com/office/drawing/2014/main" id="{8BF5A402-5B91-4C26-895B-A91CFCB53FB2}"/>
              </a:ext>
            </a:extLst>
          </p:cNvPr>
          <p:cNvSpPr/>
          <p:nvPr/>
        </p:nvSpPr>
        <p:spPr>
          <a:xfrm>
            <a:off x="733651" y="3614943"/>
            <a:ext cx="1110343" cy="1877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A91EA231-AF1A-4122-A1F7-F4D90EB8C965}"/>
              </a:ext>
            </a:extLst>
          </p:cNvPr>
          <p:cNvSpPr/>
          <p:nvPr/>
        </p:nvSpPr>
        <p:spPr>
          <a:xfrm>
            <a:off x="733650" y="4165515"/>
            <a:ext cx="1110343" cy="1877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Google Shape;2319;p37">
            <a:extLst>
              <a:ext uri="{FF2B5EF4-FFF2-40B4-BE49-F238E27FC236}">
                <a16:creationId xmlns:a16="http://schemas.microsoft.com/office/drawing/2014/main" id="{88B3E459-571E-40E0-A37B-33FC13C71105}"/>
              </a:ext>
            </a:extLst>
          </p:cNvPr>
          <p:cNvSpPr/>
          <p:nvPr/>
        </p:nvSpPr>
        <p:spPr>
          <a:xfrm>
            <a:off x="9513225" y="6181979"/>
            <a:ext cx="360000" cy="360000"/>
          </a:xfrm>
          <a:prstGeom prst="roundRect">
            <a:avLst>
              <a:gd name="adj" fmla="val 16667"/>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FF0000"/>
              </a:solidFill>
              <a:latin typeface="Montserrat Medium"/>
              <a:ea typeface="Montserrat Medium"/>
              <a:cs typeface="Montserrat Medium"/>
              <a:sym typeface="Montserrat Medium"/>
            </a:endParaRPr>
          </a:p>
        </p:txBody>
      </p:sp>
      <p:sp>
        <p:nvSpPr>
          <p:cNvPr id="21" name="文字方塊 20">
            <a:extLst>
              <a:ext uri="{FF2B5EF4-FFF2-40B4-BE49-F238E27FC236}">
                <a16:creationId xmlns:a16="http://schemas.microsoft.com/office/drawing/2014/main" id="{2C808D3C-478C-4A64-96EC-487F48BA143B}"/>
              </a:ext>
            </a:extLst>
          </p:cNvPr>
          <p:cNvSpPr txBox="1"/>
          <p:nvPr/>
        </p:nvSpPr>
        <p:spPr>
          <a:xfrm>
            <a:off x="9873225" y="6182801"/>
            <a:ext cx="2262158"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透過腳本建立的容器</a:t>
            </a:r>
          </a:p>
        </p:txBody>
      </p:sp>
    </p:spTree>
    <p:extLst>
      <p:ext uri="{BB962C8B-B14F-4D97-AF65-F5344CB8AC3E}">
        <p14:creationId xmlns:p14="http://schemas.microsoft.com/office/powerpoint/2010/main" val="55514860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32</a:t>
            </a:fld>
            <a:endParaRPr lang="en-US" dirty="0"/>
          </a:p>
        </p:txBody>
      </p:sp>
      <p:sp>
        <p:nvSpPr>
          <p:cNvPr id="38" name="TextBox 34">
            <a:extLst>
              <a:ext uri="{FF2B5EF4-FFF2-40B4-BE49-F238E27FC236}">
                <a16:creationId xmlns:a16="http://schemas.microsoft.com/office/drawing/2014/main" id="{60D57A3F-23B0-4C95-9860-2865216C9045}"/>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已有成果</a:t>
            </a:r>
          </a:p>
        </p:txBody>
      </p:sp>
      <p:sp>
        <p:nvSpPr>
          <p:cNvPr id="6" name="矩形: 圓角 5">
            <a:extLst>
              <a:ext uri="{FF2B5EF4-FFF2-40B4-BE49-F238E27FC236}">
                <a16:creationId xmlns:a16="http://schemas.microsoft.com/office/drawing/2014/main" id="{4A5037B7-08FC-48A3-B263-2B3F38D12FFA}"/>
              </a:ext>
            </a:extLst>
          </p:cNvPr>
          <p:cNvSpPr/>
          <p:nvPr/>
        </p:nvSpPr>
        <p:spPr>
          <a:xfrm>
            <a:off x="3714750" y="2390775"/>
            <a:ext cx="4762500"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hlinkClick r:id="rId3"/>
              </a:rPr>
              <a:t>https://github.com/Spl6026/DevOps-Docker-ssl</a:t>
            </a:r>
            <a:endParaRPr lang="zh-TW" altLang="en-US" dirty="0">
              <a:solidFill>
                <a:srgbClr val="A0A09E"/>
              </a:solidFill>
            </a:endParaRPr>
          </a:p>
        </p:txBody>
      </p:sp>
      <p:sp>
        <p:nvSpPr>
          <p:cNvPr id="7" name="矩形: 圓角 6">
            <a:extLst>
              <a:ext uri="{FF2B5EF4-FFF2-40B4-BE49-F238E27FC236}">
                <a16:creationId xmlns:a16="http://schemas.microsoft.com/office/drawing/2014/main" id="{81102B96-6D33-498A-82FD-8C786FF64181}"/>
              </a:ext>
            </a:extLst>
          </p:cNvPr>
          <p:cNvSpPr/>
          <p:nvPr/>
        </p:nvSpPr>
        <p:spPr>
          <a:xfrm>
            <a:off x="3714750" y="3429000"/>
            <a:ext cx="4762500"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hlinkClick r:id="rId4"/>
              </a:rPr>
              <a:t>https://spl.sytes.net/transch/</a:t>
            </a:r>
            <a:endParaRPr lang="zh-TW" altLang="en-US" dirty="0">
              <a:solidFill>
                <a:srgbClr val="A0A09E"/>
              </a:solidFill>
            </a:endParaRPr>
          </a:p>
        </p:txBody>
      </p:sp>
      <p:sp>
        <p:nvSpPr>
          <p:cNvPr id="8" name="矩形: 圓角 7">
            <a:extLst>
              <a:ext uri="{FF2B5EF4-FFF2-40B4-BE49-F238E27FC236}">
                <a16:creationId xmlns:a16="http://schemas.microsoft.com/office/drawing/2014/main" id="{5D6CF4A5-6218-4381-ACEB-9707D7969C57}"/>
              </a:ext>
            </a:extLst>
          </p:cNvPr>
          <p:cNvSpPr/>
          <p:nvPr/>
        </p:nvSpPr>
        <p:spPr>
          <a:xfrm>
            <a:off x="3714750" y="4465619"/>
            <a:ext cx="4762500"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hlinkClick r:id="rId5"/>
              </a:rPr>
              <a:t>https://spl.sytes.net/php/</a:t>
            </a:r>
            <a:endParaRPr lang="zh-TW" altLang="en-US" dirty="0">
              <a:solidFill>
                <a:srgbClr val="A0A09E"/>
              </a:solidFill>
            </a:endParaRPr>
          </a:p>
        </p:txBody>
      </p:sp>
      <p:sp>
        <p:nvSpPr>
          <p:cNvPr id="11" name="矩形: 圓角 10">
            <a:extLst>
              <a:ext uri="{FF2B5EF4-FFF2-40B4-BE49-F238E27FC236}">
                <a16:creationId xmlns:a16="http://schemas.microsoft.com/office/drawing/2014/main" id="{661BBF55-21CC-49A5-8953-7210EF88E795}"/>
              </a:ext>
            </a:extLst>
          </p:cNvPr>
          <p:cNvSpPr/>
          <p:nvPr/>
        </p:nvSpPr>
        <p:spPr>
          <a:xfrm>
            <a:off x="3714750" y="5502924"/>
            <a:ext cx="4762500" cy="457200"/>
          </a:xfrm>
          <a:prstGeom prst="roundRect">
            <a:avLst/>
          </a:prstGeom>
          <a:solidFill>
            <a:srgbClr val="F7F7F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A0A09E"/>
                </a:solidFill>
                <a:hlinkClick r:id="rId6"/>
              </a:rPr>
              <a:t>http://spl.sytes.net:8080/</a:t>
            </a:r>
            <a:endParaRPr lang="en-US" altLang="zh-TW" dirty="0">
              <a:solidFill>
                <a:srgbClr val="A0A09E"/>
              </a:solidFill>
            </a:endParaRPr>
          </a:p>
        </p:txBody>
      </p:sp>
    </p:spTree>
    <p:extLst>
      <p:ext uri="{BB962C8B-B14F-4D97-AF65-F5344CB8AC3E}">
        <p14:creationId xmlns:p14="http://schemas.microsoft.com/office/powerpoint/2010/main" val="316350551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1E1BE739-D888-4754-8F0E-6AB2BB084B7B}"/>
              </a:ext>
            </a:extLst>
          </p:cNvPr>
          <p:cNvSpPr/>
          <p:nvPr/>
        </p:nvSpPr>
        <p:spPr>
          <a:xfrm>
            <a:off x="0" y="0"/>
            <a:ext cx="12192000" cy="6858000"/>
          </a:xfrm>
          <a:prstGeom prst="rect">
            <a:avLst/>
          </a:prstGeom>
          <a:solidFill>
            <a:srgbClr val="B6AF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33</a:t>
            </a:fld>
            <a:endParaRPr lang="en-US" dirty="0"/>
          </a:p>
        </p:txBody>
      </p:sp>
      <p:sp>
        <p:nvSpPr>
          <p:cNvPr id="17" name="Oval 16">
            <a:extLst>
              <a:ext uri="{FF2B5EF4-FFF2-40B4-BE49-F238E27FC236}">
                <a16:creationId xmlns:a16="http://schemas.microsoft.com/office/drawing/2014/main" id="{5A1A481B-CE42-4717-8548-B752C57D5720}"/>
              </a:ext>
            </a:extLst>
          </p:cNvPr>
          <p:cNvSpPr/>
          <p:nvPr/>
        </p:nvSpPr>
        <p:spPr>
          <a:xfrm>
            <a:off x="1236133" y="3374818"/>
            <a:ext cx="2489200" cy="248920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1739584-F126-46E5-B03A-77F1F1754AF3}"/>
              </a:ext>
            </a:extLst>
          </p:cNvPr>
          <p:cNvSpPr/>
          <p:nvPr/>
        </p:nvSpPr>
        <p:spPr>
          <a:xfrm>
            <a:off x="1578007" y="3230032"/>
            <a:ext cx="2489200" cy="2489200"/>
          </a:xfrm>
          <a:prstGeom prst="ellipse">
            <a:avLst/>
          </a:prstGeom>
          <a:solidFill>
            <a:srgbClr val="B9AF9D">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56F1420-3585-43A1-9B3F-475BF0E2498D}"/>
              </a:ext>
            </a:extLst>
          </p:cNvPr>
          <p:cNvSpPr/>
          <p:nvPr/>
        </p:nvSpPr>
        <p:spPr>
          <a:xfrm>
            <a:off x="1236133" y="1504950"/>
            <a:ext cx="2489200" cy="2489200"/>
          </a:xfrm>
          <a:prstGeom prst="ellipse">
            <a:avLst/>
          </a:prstGeom>
          <a:solidFill>
            <a:srgbClr val="92929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0D5475C-ED4E-43D1-939D-AD4D971A1725}"/>
              </a:ext>
            </a:extLst>
          </p:cNvPr>
          <p:cNvSpPr/>
          <p:nvPr/>
        </p:nvSpPr>
        <p:spPr>
          <a:xfrm>
            <a:off x="2429207" y="2259578"/>
            <a:ext cx="2489200" cy="2489200"/>
          </a:xfrm>
          <a:prstGeom prst="ellipse">
            <a:avLst/>
          </a:prstGeom>
          <a:solidFill>
            <a:srgbClr val="D8CFB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8A86E4F-C248-4407-ACC2-D7629B6E6345}"/>
              </a:ext>
            </a:extLst>
          </p:cNvPr>
          <p:cNvSpPr/>
          <p:nvPr/>
        </p:nvSpPr>
        <p:spPr>
          <a:xfrm>
            <a:off x="3280406" y="3273501"/>
            <a:ext cx="2489200" cy="2489200"/>
          </a:xfrm>
          <a:prstGeom prst="ellipse">
            <a:avLst/>
          </a:prstGeom>
          <a:solidFill>
            <a:srgbClr val="B9AF9D">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B869AE7-C2C3-4F36-A449-324A496B53D1}"/>
              </a:ext>
            </a:extLst>
          </p:cNvPr>
          <p:cNvSpPr txBox="1"/>
          <p:nvPr/>
        </p:nvSpPr>
        <p:spPr>
          <a:xfrm>
            <a:off x="5711576" y="3230032"/>
            <a:ext cx="5334000" cy="630942"/>
          </a:xfrm>
          <a:prstGeom prst="rect">
            <a:avLst/>
          </a:prstGeom>
          <a:noFill/>
        </p:spPr>
        <p:txBody>
          <a:bodyPr wrap="square" rtlCol="0">
            <a:spAutoFit/>
          </a:bodyPr>
          <a:lstStyle/>
          <a:p>
            <a:pPr algn="ctr"/>
            <a:r>
              <a:rPr lang="zh-TW" altLang="en-US" sz="3500" b="1" dirty="0">
                <a:solidFill>
                  <a:schemeClr val="bg1"/>
                </a:solidFill>
                <a:latin typeface="Montserrat ExtraBold" panose="00000900000000000000" pitchFamily="50" charset="0"/>
              </a:rPr>
              <a:t>未來工作</a:t>
            </a:r>
          </a:p>
        </p:txBody>
      </p:sp>
      <p:pic>
        <p:nvPicPr>
          <p:cNvPr id="5" name="圖形 4">
            <a:extLst>
              <a:ext uri="{FF2B5EF4-FFF2-40B4-BE49-F238E27FC236}">
                <a16:creationId xmlns:a16="http://schemas.microsoft.com/office/drawing/2014/main" id="{005B9D35-0845-412E-961F-FABEA4E3B1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44903" y="2805570"/>
            <a:ext cx="1440000" cy="1440000"/>
          </a:xfrm>
          <a:prstGeom prst="rect">
            <a:avLst/>
          </a:prstGeom>
        </p:spPr>
      </p:pic>
    </p:spTree>
    <p:extLst>
      <p:ext uri="{BB962C8B-B14F-4D97-AF65-F5344CB8AC3E}">
        <p14:creationId xmlns:p14="http://schemas.microsoft.com/office/powerpoint/2010/main" val="167493375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2" name="Shape 12">
            <a:extLst>
              <a:ext uri="{FF2B5EF4-FFF2-40B4-BE49-F238E27FC236}">
                <a16:creationId xmlns:a16="http://schemas.microsoft.com/office/drawing/2014/main" id="{2583015B-1859-430F-9A2A-5C65A02CEEE9}"/>
              </a:ext>
            </a:extLst>
          </p:cNvPr>
          <p:cNvSpPr/>
          <p:nvPr/>
        </p:nvSpPr>
        <p:spPr>
          <a:xfrm>
            <a:off x="4194478" y="1698796"/>
            <a:ext cx="1914185" cy="37137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cubicBezTo>
                  <a:pt x="19248" y="4661"/>
                  <a:pt x="12198" y="18069"/>
                  <a:pt x="0" y="21600"/>
                </a:cubicBezTo>
                <a:close/>
              </a:path>
            </a:pathLst>
          </a:custGeom>
          <a:solidFill>
            <a:srgbClr val="ACD1C9"/>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2800"/>
          </a:p>
        </p:txBody>
      </p:sp>
      <p:sp>
        <p:nvSpPr>
          <p:cNvPr id="53" name="Shape 13">
            <a:extLst>
              <a:ext uri="{FF2B5EF4-FFF2-40B4-BE49-F238E27FC236}">
                <a16:creationId xmlns:a16="http://schemas.microsoft.com/office/drawing/2014/main" id="{344AAB5F-4178-412A-AE50-F8F5C2C5408B}"/>
              </a:ext>
            </a:extLst>
          </p:cNvPr>
          <p:cNvSpPr/>
          <p:nvPr/>
        </p:nvSpPr>
        <p:spPr>
          <a:xfrm>
            <a:off x="6096000" y="1698796"/>
            <a:ext cx="1914185" cy="371371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ubicBezTo>
                  <a:pt x="9402" y="18069"/>
                  <a:pt x="2352" y="4661"/>
                  <a:pt x="0" y="0"/>
                </a:cubicBezTo>
                <a:close/>
              </a:path>
            </a:pathLst>
          </a:custGeom>
          <a:solidFill>
            <a:srgbClr val="ACD1C9">
              <a:alpha val="80000"/>
            </a:srgb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2800"/>
          </a:p>
        </p:txBody>
      </p:sp>
      <p:sp>
        <p:nvSpPr>
          <p:cNvPr id="29" name="TextBox 34">
            <a:extLst>
              <a:ext uri="{FF2B5EF4-FFF2-40B4-BE49-F238E27FC236}">
                <a16:creationId xmlns:a16="http://schemas.microsoft.com/office/drawing/2014/main" id="{51705102-E783-4122-9BD8-DE9ABBFD96A9}"/>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未來工作</a:t>
            </a:r>
          </a:p>
        </p:txBody>
      </p:sp>
      <p:sp>
        <p:nvSpPr>
          <p:cNvPr id="30" name="TextBox 93">
            <a:extLst>
              <a:ext uri="{FF2B5EF4-FFF2-40B4-BE49-F238E27FC236}">
                <a16:creationId xmlns:a16="http://schemas.microsoft.com/office/drawing/2014/main" id="{7F9843E9-EB6F-4947-BEA1-927E368518D6}"/>
              </a:ext>
            </a:extLst>
          </p:cNvPr>
          <p:cNvSpPr txBox="1"/>
          <p:nvPr/>
        </p:nvSpPr>
        <p:spPr>
          <a:xfrm>
            <a:off x="5061043" y="5532760"/>
            <a:ext cx="2069914" cy="707886"/>
          </a:xfrm>
          <a:prstGeom prst="rect">
            <a:avLst/>
          </a:prstGeom>
          <a:noFill/>
        </p:spPr>
        <p:txBody>
          <a:bodyPr wrap="square" rtlCol="0">
            <a:spAutoFit/>
          </a:bodyPr>
          <a:lstStyle/>
          <a:p>
            <a:pPr algn="ctr"/>
            <a:r>
              <a:rPr lang="zh-TW" altLang="en-US" sz="2000" dirty="0">
                <a:solidFill>
                  <a:schemeClr val="tx1">
                    <a:lumMod val="50000"/>
                    <a:lumOff val="50000"/>
                  </a:schemeClr>
                </a:solidFill>
                <a:latin typeface="微軟正黑體" panose="020B0604030504040204" pitchFamily="34" charset="-120"/>
                <a:ea typeface="微軟正黑體" panose="020B0604030504040204" pitchFamily="34" charset="-120"/>
              </a:rPr>
              <a:t>專題報告書</a:t>
            </a:r>
            <a:endParaRPr lang="en-US" altLang="zh-TW" sz="2000" dirty="0">
              <a:solidFill>
                <a:schemeClr val="tx1">
                  <a:lumMod val="50000"/>
                  <a:lumOff val="50000"/>
                </a:schemeClr>
              </a:solidFill>
              <a:latin typeface="微軟正黑體" panose="020B0604030504040204" pitchFamily="34" charset="-120"/>
              <a:ea typeface="微軟正黑體" panose="020B0604030504040204" pitchFamily="34" charset="-120"/>
            </a:endParaRPr>
          </a:p>
          <a:p>
            <a:pPr algn="ctr"/>
            <a:r>
              <a:rPr lang="zh-TW" altLang="en-US" sz="2000" dirty="0">
                <a:solidFill>
                  <a:schemeClr val="tx1">
                    <a:lumMod val="50000"/>
                    <a:lumOff val="50000"/>
                  </a:schemeClr>
                </a:solidFill>
                <a:latin typeface="微軟正黑體" panose="020B0604030504040204" pitchFamily="34" charset="-120"/>
                <a:ea typeface="微軟正黑體" panose="020B0604030504040204" pitchFamily="34" charset="-120"/>
              </a:rPr>
              <a:t>專題光碟</a:t>
            </a:r>
          </a:p>
        </p:txBody>
      </p:sp>
      <p:pic>
        <p:nvPicPr>
          <p:cNvPr id="4" name="圖形 3">
            <a:extLst>
              <a:ext uri="{FF2B5EF4-FFF2-40B4-BE49-F238E27FC236}">
                <a16:creationId xmlns:a16="http://schemas.microsoft.com/office/drawing/2014/main" id="{B4A94406-589D-4B20-9DF8-BAFD1CAF2A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36000" y="4387786"/>
            <a:ext cx="720000" cy="720000"/>
          </a:xfrm>
          <a:prstGeom prst="rect">
            <a:avLst/>
          </a:prstGeom>
        </p:spPr>
      </p:pic>
      <p:sp>
        <p:nvSpPr>
          <p:cNvPr id="2" name="Slide Number Placeholder 129">
            <a:extLst>
              <a:ext uri="{FF2B5EF4-FFF2-40B4-BE49-F238E27FC236}">
                <a16:creationId xmlns:a16="http://schemas.microsoft.com/office/drawing/2014/main" id="{BC256737-A0BC-776F-BEC1-F09ED03DC284}"/>
              </a:ext>
            </a:extLst>
          </p:cNvPr>
          <p:cNvSpPr txBox="1">
            <a:spLocks/>
          </p:cNvSpPr>
          <p:nvPr/>
        </p:nvSpPr>
        <p:spPr>
          <a:xfrm>
            <a:off x="0" y="6308725"/>
            <a:ext cx="563563"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7ECB15-F748-C140-A5C3-CF0090C943BA}" type="slidenum">
              <a:rPr lang="en-US" smtClean="0"/>
              <a:pPr/>
              <a:t>34</a:t>
            </a:fld>
            <a:endParaRPr lang="en-US" dirty="0"/>
          </a:p>
        </p:txBody>
      </p:sp>
    </p:spTree>
    <p:extLst>
      <p:ext uri="{BB962C8B-B14F-4D97-AF65-F5344CB8AC3E}">
        <p14:creationId xmlns:p14="http://schemas.microsoft.com/office/powerpoint/2010/main" val="416364387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35</a:t>
            </a:fld>
            <a:endParaRPr lang="en-US" dirty="0"/>
          </a:p>
        </p:txBody>
      </p:sp>
      <p:graphicFrame>
        <p:nvGraphicFramePr>
          <p:cNvPr id="5" name="Chart 4">
            <a:extLst>
              <a:ext uri="{FF2B5EF4-FFF2-40B4-BE49-F238E27FC236}">
                <a16:creationId xmlns:a16="http://schemas.microsoft.com/office/drawing/2014/main" id="{A4F32C32-9168-4C05-965B-073FFA377F4F}"/>
              </a:ext>
            </a:extLst>
          </p:cNvPr>
          <p:cNvGraphicFramePr/>
          <p:nvPr>
            <p:extLst>
              <p:ext uri="{D42A27DB-BD31-4B8C-83A1-F6EECF244321}">
                <p14:modId xmlns:p14="http://schemas.microsoft.com/office/powerpoint/2010/main" val="3203734846"/>
              </p:ext>
            </p:extLst>
          </p:nvPr>
        </p:nvGraphicFramePr>
        <p:xfrm>
          <a:off x="3481445" y="1453138"/>
          <a:ext cx="5229110" cy="495462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6B1D8251-2B26-42B1-A31A-25AB66F511AD}"/>
              </a:ext>
            </a:extLst>
          </p:cNvPr>
          <p:cNvSpPr txBox="1"/>
          <p:nvPr/>
        </p:nvSpPr>
        <p:spPr>
          <a:xfrm>
            <a:off x="8710555" y="2582592"/>
            <a:ext cx="2409202" cy="646331"/>
          </a:xfrm>
          <a:prstGeom prst="rect">
            <a:avLst/>
          </a:prstGeom>
          <a:noFill/>
        </p:spPr>
        <p:txBody>
          <a:bodyPr wrap="square" rtlCol="0">
            <a:spAutoFit/>
          </a:bodyPr>
          <a:lstStyle/>
          <a:p>
            <a:r>
              <a:rPr lang="zh-TW" altLang="en-US" sz="3600" b="1" dirty="0">
                <a:solidFill>
                  <a:schemeClr val="bg1">
                    <a:lumMod val="50000"/>
                  </a:schemeClr>
                </a:solidFill>
                <a:latin typeface="Montserrat Light" panose="00000400000000000000" pitchFamily="50" charset="0"/>
              </a:rPr>
              <a:t>余貫瑒</a:t>
            </a:r>
            <a:endParaRPr lang="en-US" sz="3600" b="1" dirty="0">
              <a:solidFill>
                <a:schemeClr val="bg1">
                  <a:lumMod val="50000"/>
                </a:schemeClr>
              </a:solidFill>
              <a:latin typeface="Montserrat Light" panose="00000400000000000000" pitchFamily="50" charset="0"/>
            </a:endParaRPr>
          </a:p>
        </p:txBody>
      </p:sp>
      <p:sp>
        <p:nvSpPr>
          <p:cNvPr id="10" name="TextBox 9">
            <a:extLst>
              <a:ext uri="{FF2B5EF4-FFF2-40B4-BE49-F238E27FC236}">
                <a16:creationId xmlns:a16="http://schemas.microsoft.com/office/drawing/2014/main" id="{6F614BAB-8C4B-4641-987E-0E81C24DCF9C}"/>
              </a:ext>
            </a:extLst>
          </p:cNvPr>
          <p:cNvSpPr txBox="1"/>
          <p:nvPr/>
        </p:nvSpPr>
        <p:spPr>
          <a:xfrm>
            <a:off x="1295399" y="2578503"/>
            <a:ext cx="2186045" cy="646331"/>
          </a:xfrm>
          <a:prstGeom prst="rect">
            <a:avLst/>
          </a:prstGeom>
          <a:noFill/>
        </p:spPr>
        <p:txBody>
          <a:bodyPr wrap="square" rtlCol="0">
            <a:spAutoFit/>
          </a:bodyPr>
          <a:lstStyle/>
          <a:p>
            <a:r>
              <a:rPr lang="zh-TW" altLang="en-US" sz="3600" b="1" dirty="0">
                <a:solidFill>
                  <a:schemeClr val="bg1">
                    <a:lumMod val="50000"/>
                  </a:schemeClr>
                </a:solidFill>
                <a:latin typeface="Montserrat Light" panose="00000400000000000000" pitchFamily="50" charset="0"/>
              </a:rPr>
              <a:t>林聖博</a:t>
            </a:r>
            <a:endParaRPr lang="en-US" sz="3600" b="1" dirty="0">
              <a:solidFill>
                <a:schemeClr val="bg1">
                  <a:lumMod val="50000"/>
                </a:schemeClr>
              </a:solidFill>
              <a:latin typeface="Montserrat Light" panose="00000400000000000000" pitchFamily="50" charset="0"/>
            </a:endParaRPr>
          </a:p>
        </p:txBody>
      </p:sp>
      <p:sp>
        <p:nvSpPr>
          <p:cNvPr id="13" name="TextBox 12">
            <a:extLst>
              <a:ext uri="{FF2B5EF4-FFF2-40B4-BE49-F238E27FC236}">
                <a16:creationId xmlns:a16="http://schemas.microsoft.com/office/drawing/2014/main" id="{58EC4C27-C346-4E40-8CDA-8C1FD87F1848}"/>
              </a:ext>
            </a:extLst>
          </p:cNvPr>
          <p:cNvSpPr txBox="1"/>
          <p:nvPr/>
        </p:nvSpPr>
        <p:spPr>
          <a:xfrm>
            <a:off x="1295400" y="3280226"/>
            <a:ext cx="2186045" cy="3271473"/>
          </a:xfrm>
          <a:prstGeom prst="rect">
            <a:avLst/>
          </a:prstGeom>
          <a:noFill/>
        </p:spPr>
        <p:txBody>
          <a:bodyPr wrap="square" rtlCol="0">
            <a:spAutoFit/>
          </a:bodyPr>
          <a:lstStyle/>
          <a:p>
            <a:pPr marL="171450" indent="-171450">
              <a:lnSpc>
                <a:spcPct val="150000"/>
              </a:lnSpc>
              <a:buFont typeface="Wingdings" panose="05000000000000000000" pitchFamily="2" charset="2"/>
              <a:buChar char="l"/>
            </a:pPr>
            <a:r>
              <a:rPr lang="zh-TW" altLang="en-US" sz="2000" dirty="0">
                <a:solidFill>
                  <a:schemeClr val="bg1">
                    <a:lumMod val="50000"/>
                  </a:schemeClr>
                </a:solidFill>
                <a:latin typeface="Montserrat Light" panose="00000400000000000000" pitchFamily="50" charset="0"/>
              </a:rPr>
              <a:t>整理資料</a:t>
            </a:r>
            <a:endParaRPr lang="en-US" altLang="zh-TW" sz="2000" dirty="0">
              <a:solidFill>
                <a:schemeClr val="bg1">
                  <a:lumMod val="50000"/>
                </a:schemeClr>
              </a:solidFill>
              <a:latin typeface="Montserrat Light" panose="00000400000000000000" pitchFamily="50" charset="0"/>
            </a:endParaRPr>
          </a:p>
          <a:p>
            <a:pPr marL="171450" indent="-171450">
              <a:lnSpc>
                <a:spcPct val="150000"/>
              </a:lnSpc>
              <a:buFont typeface="Wingdings" panose="05000000000000000000" pitchFamily="2" charset="2"/>
              <a:buChar char="l"/>
            </a:pPr>
            <a:r>
              <a:rPr lang="zh-TW" altLang="en-US" sz="2000" dirty="0">
                <a:solidFill>
                  <a:schemeClr val="bg1">
                    <a:lumMod val="50000"/>
                  </a:schemeClr>
                </a:solidFill>
                <a:latin typeface="Montserrat Light" panose="00000400000000000000" pitchFamily="50" charset="0"/>
              </a:rPr>
              <a:t>前後端建置</a:t>
            </a:r>
            <a:endParaRPr lang="en-US" altLang="zh-TW" sz="2000" dirty="0">
              <a:solidFill>
                <a:schemeClr val="bg1">
                  <a:lumMod val="50000"/>
                </a:schemeClr>
              </a:solidFill>
              <a:latin typeface="Montserrat Light" panose="00000400000000000000" pitchFamily="50" charset="0"/>
            </a:endParaRPr>
          </a:p>
          <a:p>
            <a:pPr marL="171450" indent="-171450">
              <a:lnSpc>
                <a:spcPct val="150000"/>
              </a:lnSpc>
              <a:buFont typeface="Wingdings" panose="05000000000000000000" pitchFamily="2" charset="2"/>
              <a:buChar char="l"/>
            </a:pPr>
            <a:r>
              <a:rPr lang="zh-TW" altLang="en-US" sz="2000" dirty="0">
                <a:solidFill>
                  <a:schemeClr val="bg1">
                    <a:lumMod val="50000"/>
                  </a:schemeClr>
                </a:solidFill>
                <a:latin typeface="Montserrat Light" panose="00000400000000000000" pitchFamily="50" charset="0"/>
              </a:rPr>
              <a:t>資料庫連接</a:t>
            </a:r>
            <a:endParaRPr lang="en-US" altLang="zh-TW" sz="2000" dirty="0">
              <a:solidFill>
                <a:schemeClr val="bg1">
                  <a:lumMod val="50000"/>
                </a:schemeClr>
              </a:solidFill>
              <a:latin typeface="Montserrat Light" panose="00000400000000000000" pitchFamily="50" charset="0"/>
            </a:endParaRPr>
          </a:p>
          <a:p>
            <a:pPr marL="171450" indent="-171450">
              <a:lnSpc>
                <a:spcPct val="150000"/>
              </a:lnSpc>
              <a:buFont typeface="Wingdings" panose="05000000000000000000" pitchFamily="2" charset="2"/>
              <a:buChar char="l"/>
            </a:pPr>
            <a:r>
              <a:rPr lang="en-US" altLang="zh-TW" sz="2000" dirty="0">
                <a:solidFill>
                  <a:schemeClr val="bg1">
                    <a:lumMod val="50000"/>
                  </a:schemeClr>
                </a:solidFill>
                <a:latin typeface="Montserrat Light" panose="00000400000000000000" pitchFamily="50" charset="0"/>
              </a:rPr>
              <a:t>Docker</a:t>
            </a:r>
            <a:r>
              <a:rPr lang="zh-TW" altLang="en-US" sz="2000" dirty="0">
                <a:solidFill>
                  <a:schemeClr val="bg1">
                    <a:lumMod val="50000"/>
                  </a:schemeClr>
                </a:solidFill>
                <a:latin typeface="Montserrat Light" panose="00000400000000000000" pitchFamily="50" charset="0"/>
              </a:rPr>
              <a:t>實作</a:t>
            </a:r>
            <a:endParaRPr lang="en-US" altLang="zh-TW" sz="2000" dirty="0">
              <a:solidFill>
                <a:schemeClr val="bg1">
                  <a:lumMod val="50000"/>
                </a:schemeClr>
              </a:solidFill>
              <a:latin typeface="Montserrat Light" panose="00000400000000000000" pitchFamily="50" charset="0"/>
            </a:endParaRPr>
          </a:p>
          <a:p>
            <a:pPr marL="171450" indent="-171450">
              <a:lnSpc>
                <a:spcPct val="150000"/>
              </a:lnSpc>
              <a:buFont typeface="Wingdings" panose="05000000000000000000" pitchFamily="2" charset="2"/>
              <a:buChar char="l"/>
            </a:pPr>
            <a:r>
              <a:rPr lang="zh-TW" altLang="en-US" sz="2000" dirty="0">
                <a:solidFill>
                  <a:schemeClr val="bg1">
                    <a:lumMod val="50000"/>
                  </a:schemeClr>
                </a:solidFill>
                <a:latin typeface="Montserrat Light" panose="00000400000000000000" pitchFamily="50" charset="0"/>
              </a:rPr>
              <a:t>反向代理設置</a:t>
            </a:r>
            <a:endParaRPr lang="en-US" altLang="zh-TW" sz="2000" dirty="0">
              <a:solidFill>
                <a:schemeClr val="bg1">
                  <a:lumMod val="50000"/>
                </a:schemeClr>
              </a:solidFill>
              <a:latin typeface="Montserrat Light" panose="00000400000000000000" pitchFamily="50" charset="0"/>
            </a:endParaRPr>
          </a:p>
          <a:p>
            <a:pPr marL="171450" indent="-171450">
              <a:lnSpc>
                <a:spcPct val="150000"/>
              </a:lnSpc>
              <a:buFont typeface="Wingdings" panose="05000000000000000000" pitchFamily="2" charset="2"/>
              <a:buChar char="l"/>
            </a:pPr>
            <a:r>
              <a:rPr lang="zh-TW" altLang="en-US" sz="2000" dirty="0">
                <a:solidFill>
                  <a:schemeClr val="bg1">
                    <a:lumMod val="50000"/>
                  </a:schemeClr>
                </a:solidFill>
                <a:latin typeface="Montserrat Light" panose="00000400000000000000" pitchFamily="50" charset="0"/>
              </a:rPr>
              <a:t>自動建置設定</a:t>
            </a:r>
            <a:endParaRPr lang="en-US" altLang="zh-TW" sz="2000" dirty="0">
              <a:solidFill>
                <a:schemeClr val="bg1">
                  <a:lumMod val="50000"/>
                </a:schemeClr>
              </a:solidFill>
              <a:latin typeface="Montserrat Light" panose="00000400000000000000" pitchFamily="50" charset="0"/>
            </a:endParaRPr>
          </a:p>
          <a:p>
            <a:pPr marL="171450" indent="-171450">
              <a:lnSpc>
                <a:spcPct val="150000"/>
              </a:lnSpc>
              <a:buFont typeface="Wingdings" panose="05000000000000000000" pitchFamily="2" charset="2"/>
              <a:buChar char="l"/>
            </a:pPr>
            <a:r>
              <a:rPr lang="zh-TW" altLang="en-US" sz="2000" dirty="0">
                <a:solidFill>
                  <a:schemeClr val="bg1">
                    <a:lumMod val="50000"/>
                  </a:schemeClr>
                </a:solidFill>
                <a:latin typeface="Montserrat Light" panose="00000400000000000000" pitchFamily="50" charset="0"/>
              </a:rPr>
              <a:t>憑證安裝</a:t>
            </a:r>
            <a:endParaRPr lang="en-US" altLang="zh-TW" sz="2000" dirty="0">
              <a:solidFill>
                <a:schemeClr val="bg1">
                  <a:lumMod val="50000"/>
                </a:schemeClr>
              </a:solidFill>
              <a:latin typeface="Montserrat Light" panose="00000400000000000000" pitchFamily="50" charset="0"/>
            </a:endParaRPr>
          </a:p>
        </p:txBody>
      </p:sp>
      <p:sp>
        <p:nvSpPr>
          <p:cNvPr id="17" name="TextBox 12">
            <a:extLst>
              <a:ext uri="{FF2B5EF4-FFF2-40B4-BE49-F238E27FC236}">
                <a16:creationId xmlns:a16="http://schemas.microsoft.com/office/drawing/2014/main" id="{58EC4C27-C346-4E40-8CDA-8C1FD87F1848}"/>
              </a:ext>
            </a:extLst>
          </p:cNvPr>
          <p:cNvSpPr txBox="1"/>
          <p:nvPr/>
        </p:nvSpPr>
        <p:spPr>
          <a:xfrm>
            <a:off x="8710555" y="3433135"/>
            <a:ext cx="2801088" cy="1425262"/>
          </a:xfrm>
          <a:prstGeom prst="rect">
            <a:avLst/>
          </a:prstGeom>
          <a:noFill/>
        </p:spPr>
        <p:txBody>
          <a:bodyPr wrap="square" rtlCol="0">
            <a:spAutoFit/>
          </a:bodyPr>
          <a:lstStyle/>
          <a:p>
            <a:pPr marL="171450" indent="-171450">
              <a:lnSpc>
                <a:spcPct val="150000"/>
              </a:lnSpc>
              <a:buFont typeface="Wingdings" panose="05000000000000000000" pitchFamily="2" charset="2"/>
              <a:buChar char="l"/>
            </a:pPr>
            <a:r>
              <a:rPr lang="zh-TW" altLang="en-US" sz="2000" dirty="0">
                <a:solidFill>
                  <a:schemeClr val="bg1">
                    <a:lumMod val="50000"/>
                  </a:schemeClr>
                </a:solidFill>
                <a:latin typeface="Montserrat Light" panose="00000400000000000000" pitchFamily="50" charset="0"/>
              </a:rPr>
              <a:t>協助簡報、文檔製作</a:t>
            </a:r>
            <a:endParaRPr lang="en-US" altLang="zh-TW" sz="2000" dirty="0">
              <a:solidFill>
                <a:schemeClr val="bg1">
                  <a:lumMod val="50000"/>
                </a:schemeClr>
              </a:solidFill>
              <a:latin typeface="Montserrat Light" panose="00000400000000000000" pitchFamily="50" charset="0"/>
            </a:endParaRPr>
          </a:p>
          <a:p>
            <a:pPr marL="171450" indent="-171450">
              <a:lnSpc>
                <a:spcPct val="150000"/>
              </a:lnSpc>
              <a:buFont typeface="Wingdings" panose="05000000000000000000" pitchFamily="2" charset="2"/>
              <a:buChar char="l"/>
            </a:pPr>
            <a:r>
              <a:rPr lang="zh-TW" altLang="en-US" sz="2000" dirty="0">
                <a:solidFill>
                  <a:schemeClr val="bg1">
                    <a:lumMod val="50000"/>
                  </a:schemeClr>
                </a:solidFill>
                <a:latin typeface="Montserrat Light" panose="00000400000000000000" pitchFamily="50" charset="0"/>
              </a:rPr>
              <a:t>整理資料</a:t>
            </a:r>
            <a:endParaRPr lang="en-US" altLang="zh-TW" sz="2000" dirty="0">
              <a:solidFill>
                <a:schemeClr val="bg1">
                  <a:lumMod val="50000"/>
                </a:schemeClr>
              </a:solidFill>
              <a:latin typeface="Montserrat Light" panose="00000400000000000000" pitchFamily="50" charset="0"/>
            </a:endParaRPr>
          </a:p>
          <a:p>
            <a:pPr marL="171450" indent="-171450">
              <a:lnSpc>
                <a:spcPct val="150000"/>
              </a:lnSpc>
              <a:buFont typeface="Wingdings" panose="05000000000000000000" pitchFamily="2" charset="2"/>
              <a:buChar char="l"/>
            </a:pPr>
            <a:endParaRPr lang="en-US" altLang="zh-TW" sz="2000" dirty="0">
              <a:solidFill>
                <a:schemeClr val="bg1">
                  <a:lumMod val="50000"/>
                </a:schemeClr>
              </a:solidFill>
              <a:latin typeface="Montserrat Light" panose="00000400000000000000" pitchFamily="50" charset="0"/>
            </a:endParaRPr>
          </a:p>
        </p:txBody>
      </p:sp>
      <p:sp>
        <p:nvSpPr>
          <p:cNvPr id="9" name="TextBox 34">
            <a:extLst>
              <a:ext uri="{FF2B5EF4-FFF2-40B4-BE49-F238E27FC236}">
                <a16:creationId xmlns:a16="http://schemas.microsoft.com/office/drawing/2014/main" id="{4F6EDC0B-06B1-4B2C-88ED-ACEA9DD88B59}"/>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參與人員分工與時數分配</a:t>
            </a:r>
            <a:endParaRPr lang="en-US" sz="3500" b="1" dirty="0">
              <a:solidFill>
                <a:schemeClr val="tx1">
                  <a:lumMod val="75000"/>
                  <a:lumOff val="25000"/>
                </a:schemeClr>
              </a:solidFill>
              <a:latin typeface="Montserrat Light" panose="00000400000000000000" pitchFamily="50" charset="0"/>
            </a:endParaRPr>
          </a:p>
        </p:txBody>
      </p:sp>
    </p:spTree>
    <p:extLst>
      <p:ext uri="{BB962C8B-B14F-4D97-AF65-F5344CB8AC3E}">
        <p14:creationId xmlns:p14="http://schemas.microsoft.com/office/powerpoint/2010/main" val="270211004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1E1BE739-D888-4754-8F0E-6AB2BB084B7B}"/>
              </a:ext>
            </a:extLst>
          </p:cNvPr>
          <p:cNvSpPr/>
          <p:nvPr/>
        </p:nvSpPr>
        <p:spPr>
          <a:xfrm>
            <a:off x="0" y="0"/>
            <a:ext cx="12192000" cy="6858000"/>
          </a:xfrm>
          <a:prstGeom prst="rect">
            <a:avLst/>
          </a:prstGeom>
          <a:solidFill>
            <a:srgbClr val="B6AF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36</a:t>
            </a:fld>
            <a:endParaRPr lang="en-US" dirty="0"/>
          </a:p>
        </p:txBody>
      </p:sp>
      <p:sp>
        <p:nvSpPr>
          <p:cNvPr id="17" name="Oval 16">
            <a:extLst>
              <a:ext uri="{FF2B5EF4-FFF2-40B4-BE49-F238E27FC236}">
                <a16:creationId xmlns:a16="http://schemas.microsoft.com/office/drawing/2014/main" id="{5A1A481B-CE42-4717-8548-B752C57D5720}"/>
              </a:ext>
            </a:extLst>
          </p:cNvPr>
          <p:cNvSpPr/>
          <p:nvPr/>
        </p:nvSpPr>
        <p:spPr>
          <a:xfrm>
            <a:off x="1236133" y="3374818"/>
            <a:ext cx="2489200" cy="2489200"/>
          </a:xfrm>
          <a:prstGeom prst="ellipse">
            <a:avLst/>
          </a:prstGeom>
          <a:solidFill>
            <a:srgbClr val="D8CFB6">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1739584-F126-46E5-B03A-77F1F1754AF3}"/>
              </a:ext>
            </a:extLst>
          </p:cNvPr>
          <p:cNvSpPr/>
          <p:nvPr/>
        </p:nvSpPr>
        <p:spPr>
          <a:xfrm>
            <a:off x="1578007" y="3230032"/>
            <a:ext cx="2489200" cy="2489200"/>
          </a:xfrm>
          <a:prstGeom prst="ellipse">
            <a:avLst/>
          </a:prstGeom>
          <a:solidFill>
            <a:srgbClr val="B9AF9D">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56F1420-3585-43A1-9B3F-475BF0E2498D}"/>
              </a:ext>
            </a:extLst>
          </p:cNvPr>
          <p:cNvSpPr/>
          <p:nvPr/>
        </p:nvSpPr>
        <p:spPr>
          <a:xfrm>
            <a:off x="1236133" y="1504950"/>
            <a:ext cx="2489200" cy="2489200"/>
          </a:xfrm>
          <a:prstGeom prst="ellipse">
            <a:avLst/>
          </a:prstGeom>
          <a:solidFill>
            <a:srgbClr val="92929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0D5475C-ED4E-43D1-939D-AD4D971A1725}"/>
              </a:ext>
            </a:extLst>
          </p:cNvPr>
          <p:cNvSpPr/>
          <p:nvPr/>
        </p:nvSpPr>
        <p:spPr>
          <a:xfrm>
            <a:off x="2429207" y="2259578"/>
            <a:ext cx="2489200" cy="2489200"/>
          </a:xfrm>
          <a:prstGeom prst="ellipse">
            <a:avLst/>
          </a:prstGeom>
          <a:solidFill>
            <a:srgbClr val="D8CFB6">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8A86E4F-C248-4407-ACC2-D7629B6E6345}"/>
              </a:ext>
            </a:extLst>
          </p:cNvPr>
          <p:cNvSpPr/>
          <p:nvPr/>
        </p:nvSpPr>
        <p:spPr>
          <a:xfrm>
            <a:off x="3280406" y="3273501"/>
            <a:ext cx="2489200" cy="2489200"/>
          </a:xfrm>
          <a:prstGeom prst="ellipse">
            <a:avLst/>
          </a:prstGeom>
          <a:solidFill>
            <a:srgbClr val="B9AF9D">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B869AE7-C2C3-4F36-A449-324A496B53D1}"/>
              </a:ext>
            </a:extLst>
          </p:cNvPr>
          <p:cNvSpPr txBox="1"/>
          <p:nvPr/>
        </p:nvSpPr>
        <p:spPr>
          <a:xfrm>
            <a:off x="5711576" y="3230032"/>
            <a:ext cx="5334000" cy="630942"/>
          </a:xfrm>
          <a:prstGeom prst="rect">
            <a:avLst/>
          </a:prstGeom>
          <a:noFill/>
        </p:spPr>
        <p:txBody>
          <a:bodyPr wrap="square" rtlCol="0">
            <a:spAutoFit/>
          </a:bodyPr>
          <a:lstStyle/>
          <a:p>
            <a:pPr algn="ctr"/>
            <a:r>
              <a:rPr lang="zh-TW" altLang="en-US" sz="3500" b="1" dirty="0">
                <a:solidFill>
                  <a:schemeClr val="bg1"/>
                </a:solidFill>
                <a:latin typeface="Montserrat ExtraBold" panose="00000900000000000000" pitchFamily="50" charset="0"/>
              </a:rPr>
              <a:t>結論</a:t>
            </a:r>
          </a:p>
        </p:txBody>
      </p:sp>
      <p:pic>
        <p:nvPicPr>
          <p:cNvPr id="4" name="圖形 3">
            <a:extLst>
              <a:ext uri="{FF2B5EF4-FFF2-40B4-BE49-F238E27FC236}">
                <a16:creationId xmlns:a16="http://schemas.microsoft.com/office/drawing/2014/main" id="{F6C2D364-DF3A-477C-83B4-F13D9B7868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3807" y="2825503"/>
            <a:ext cx="1440000" cy="1440000"/>
          </a:xfrm>
          <a:prstGeom prst="rect">
            <a:avLst/>
          </a:prstGeom>
        </p:spPr>
      </p:pic>
    </p:spTree>
    <p:extLst>
      <p:ext uri="{BB962C8B-B14F-4D97-AF65-F5344CB8AC3E}">
        <p14:creationId xmlns:p14="http://schemas.microsoft.com/office/powerpoint/2010/main" val="39564971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37</a:t>
            </a:fld>
            <a:endParaRPr lang="en-US" dirty="0"/>
          </a:p>
        </p:txBody>
      </p:sp>
      <p:sp>
        <p:nvSpPr>
          <p:cNvPr id="59" name="TextBox 58">
            <a:extLst>
              <a:ext uri="{FF2B5EF4-FFF2-40B4-BE49-F238E27FC236}">
                <a16:creationId xmlns:a16="http://schemas.microsoft.com/office/drawing/2014/main" id="{71C9816C-7DE3-401F-BCF9-0BB493184812}"/>
              </a:ext>
            </a:extLst>
          </p:cNvPr>
          <p:cNvSpPr txBox="1"/>
          <p:nvPr/>
        </p:nvSpPr>
        <p:spPr>
          <a:xfrm>
            <a:off x="490272" y="1890156"/>
            <a:ext cx="7489427" cy="3902479"/>
          </a:xfrm>
          <a:prstGeom prst="rect">
            <a:avLst/>
          </a:prstGeom>
          <a:noFill/>
        </p:spPr>
        <p:txBody>
          <a:bodyPr wrap="square" rtlCol="0">
            <a:spAutoFit/>
          </a:bodyPr>
          <a:lstStyle/>
          <a:p>
            <a:pPr>
              <a:lnSpc>
                <a:spcPct val="150000"/>
              </a:lnSpc>
            </a:pPr>
            <a:r>
              <a:rPr lang="zh-TW" altLang="en-US" sz="2400" dirty="0">
                <a:solidFill>
                  <a:schemeClr val="bg1">
                    <a:lumMod val="50000"/>
                  </a:schemeClr>
                </a:solidFill>
                <a:latin typeface="微軟正黑體" panose="020B0604030504040204" pitchFamily="34" charset="-120"/>
                <a:ea typeface="微軟正黑體" panose="020B0604030504040204" pitchFamily="34" charset="-120"/>
              </a:rPr>
              <a:t>我們希望對傳統的架構透過</a:t>
            </a:r>
            <a:r>
              <a:rPr lang="en-US" altLang="zh-TW" sz="2400" dirty="0">
                <a:solidFill>
                  <a:schemeClr val="bg1">
                    <a:lumMod val="50000"/>
                  </a:schemeClr>
                </a:solidFill>
                <a:latin typeface="微軟正黑體" panose="020B0604030504040204" pitchFamily="34" charset="-120"/>
                <a:ea typeface="微軟正黑體" panose="020B0604030504040204" pitchFamily="34" charset="-120"/>
              </a:rPr>
              <a:t>DevOps</a:t>
            </a:r>
            <a:r>
              <a:rPr lang="zh-TW" altLang="en-US" sz="2400" dirty="0">
                <a:solidFill>
                  <a:schemeClr val="bg1">
                    <a:lumMod val="50000"/>
                  </a:schemeClr>
                </a:solidFill>
                <a:latin typeface="微軟正黑體" panose="020B0604030504040204" pitchFamily="34" charset="-120"/>
                <a:ea typeface="微軟正黑體" panose="020B0604030504040204" pitchFamily="34" charset="-120"/>
              </a:rPr>
              <a:t>的概念來進行改善，使用</a:t>
            </a:r>
            <a:r>
              <a:rPr lang="en-US" altLang="zh-TW" sz="2400" dirty="0">
                <a:solidFill>
                  <a:schemeClr val="bg1">
                    <a:lumMod val="50000"/>
                  </a:schemeClr>
                </a:solidFill>
                <a:latin typeface="微軟正黑體" panose="020B0604030504040204" pitchFamily="34" charset="-120"/>
                <a:ea typeface="微軟正黑體" panose="020B0604030504040204" pitchFamily="34" charset="-120"/>
              </a:rPr>
              <a:t>Docker</a:t>
            </a:r>
            <a:r>
              <a:rPr lang="zh-TW" altLang="en-US" sz="2400" dirty="0">
                <a:solidFill>
                  <a:schemeClr val="bg1">
                    <a:lumMod val="50000"/>
                  </a:schemeClr>
                </a:solidFill>
                <a:latin typeface="微軟正黑體" panose="020B0604030504040204" pitchFamily="34" charset="-120"/>
                <a:ea typeface="微軟正黑體" panose="020B0604030504040204" pitchFamily="34" charset="-120"/>
              </a:rPr>
              <a:t>讓開發與維運流程能夠更加方便且容易上手，並支援各種環境的建立，也透過反向代理轉發需求解決</a:t>
            </a:r>
            <a:r>
              <a:rPr lang="en-US" altLang="zh-TW" sz="2400" dirty="0">
                <a:solidFill>
                  <a:schemeClr val="bg1">
                    <a:lumMod val="50000"/>
                  </a:schemeClr>
                </a:solidFill>
                <a:latin typeface="微軟正黑體" panose="020B0604030504040204" pitchFamily="34" charset="-120"/>
                <a:ea typeface="微軟正黑體" panose="020B0604030504040204" pitchFamily="34" charset="-120"/>
              </a:rPr>
              <a:t>Docker</a:t>
            </a:r>
            <a:r>
              <a:rPr lang="zh-TW" altLang="en-US" sz="2400" dirty="0">
                <a:solidFill>
                  <a:schemeClr val="bg1">
                    <a:lumMod val="50000"/>
                  </a:schemeClr>
                </a:solidFill>
                <a:latin typeface="微軟正黑體" panose="020B0604030504040204" pitchFamily="34" charset="-120"/>
                <a:ea typeface="微軟正黑體" panose="020B0604030504040204" pitchFamily="34" charset="-120"/>
              </a:rPr>
              <a:t>打包環境時會將憑證打包進去的問題，使憑證能正常讀取，同時也能使一個伺服器能夠同時運行好幾種不同架構開發的網路應用程式，改進並簡單化網路應用程式開發與運行的流程。</a:t>
            </a:r>
            <a:endParaRPr lang="en-US" sz="2400" dirty="0">
              <a:solidFill>
                <a:schemeClr val="bg1">
                  <a:lumMod val="50000"/>
                </a:schemeClr>
              </a:solidFill>
              <a:latin typeface="微軟正黑體" panose="020B0604030504040204" pitchFamily="34" charset="-120"/>
              <a:ea typeface="微軟正黑體" panose="020B0604030504040204" pitchFamily="34" charset="-120"/>
            </a:endParaRPr>
          </a:p>
        </p:txBody>
      </p:sp>
      <p:sp>
        <p:nvSpPr>
          <p:cNvPr id="15" name="TextBox 34">
            <a:extLst>
              <a:ext uri="{FF2B5EF4-FFF2-40B4-BE49-F238E27FC236}">
                <a16:creationId xmlns:a16="http://schemas.microsoft.com/office/drawing/2014/main" id="{CA1DCD3B-3FFA-4199-8C14-B8A76559D863}"/>
              </a:ext>
            </a:extLst>
          </p:cNvPr>
          <p:cNvSpPr txBox="1"/>
          <p:nvPr/>
        </p:nvSpPr>
        <p:spPr>
          <a:xfrm>
            <a:off x="0" y="723214"/>
            <a:ext cx="12192000" cy="630942"/>
          </a:xfrm>
          <a:prstGeom prst="rect">
            <a:avLst/>
          </a:prstGeom>
          <a:noFill/>
        </p:spPr>
        <p:txBody>
          <a:bodyPr wrap="square" rtlCol="0">
            <a:spAutoFit/>
          </a:bodyPr>
          <a:lstStyle/>
          <a:p>
            <a:pPr algn="ctr"/>
            <a:r>
              <a:rPr lang="zh-TW" altLang="en-US" sz="3500" b="1" dirty="0">
                <a:solidFill>
                  <a:schemeClr val="tx1">
                    <a:lumMod val="75000"/>
                    <a:lumOff val="25000"/>
                  </a:schemeClr>
                </a:solidFill>
                <a:latin typeface="Montserrat Light" panose="00000400000000000000" pitchFamily="50" charset="0"/>
              </a:rPr>
              <a:t>結論</a:t>
            </a:r>
          </a:p>
        </p:txBody>
      </p:sp>
      <p:grpSp>
        <p:nvGrpSpPr>
          <p:cNvPr id="2" name="群組 1">
            <a:extLst>
              <a:ext uri="{FF2B5EF4-FFF2-40B4-BE49-F238E27FC236}">
                <a16:creationId xmlns:a16="http://schemas.microsoft.com/office/drawing/2014/main" id="{890D6AAD-60D3-440C-BEB9-4D6F76D7D276}"/>
              </a:ext>
            </a:extLst>
          </p:cNvPr>
          <p:cNvGrpSpPr>
            <a:grpSpLocks noChangeAspect="1"/>
          </p:cNvGrpSpPr>
          <p:nvPr/>
        </p:nvGrpSpPr>
        <p:grpSpPr>
          <a:xfrm>
            <a:off x="8224835" y="2536903"/>
            <a:ext cx="3240000" cy="2387292"/>
            <a:chOff x="3777301" y="2101542"/>
            <a:chExt cx="3955723" cy="2914650"/>
          </a:xfrm>
        </p:grpSpPr>
        <p:sp>
          <p:nvSpPr>
            <p:cNvPr id="46" name="Rectangle 45">
              <a:extLst>
                <a:ext uri="{FF2B5EF4-FFF2-40B4-BE49-F238E27FC236}">
                  <a16:creationId xmlns:a16="http://schemas.microsoft.com/office/drawing/2014/main" id="{0417BFD1-A095-4D28-BFBB-278A86542F15}"/>
                </a:ext>
              </a:extLst>
            </p:cNvPr>
            <p:cNvSpPr/>
            <p:nvPr/>
          </p:nvSpPr>
          <p:spPr>
            <a:xfrm>
              <a:off x="3777301" y="2101542"/>
              <a:ext cx="1318574" cy="97155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385C39EA-BE73-4852-97FD-DB059C180B9E}"/>
                </a:ext>
              </a:extLst>
            </p:cNvPr>
            <p:cNvSpPr/>
            <p:nvPr/>
          </p:nvSpPr>
          <p:spPr>
            <a:xfrm>
              <a:off x="5095875" y="3073092"/>
              <a:ext cx="1318574" cy="971550"/>
            </a:xfrm>
            <a:prstGeom prst="rect">
              <a:avLst/>
            </a:prstGeom>
            <a:solidFill>
              <a:srgbClr val="758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91B49DBE-FA49-403F-9548-F6A3EAA878C1}"/>
                </a:ext>
              </a:extLst>
            </p:cNvPr>
            <p:cNvSpPr/>
            <p:nvPr/>
          </p:nvSpPr>
          <p:spPr>
            <a:xfrm>
              <a:off x="3777301" y="4044642"/>
              <a:ext cx="1318574" cy="971550"/>
            </a:xfrm>
            <a:prstGeom prst="rect">
              <a:avLst/>
            </a:prstGeom>
            <a:solidFill>
              <a:srgbClr val="B6AF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E1BE739-D888-4754-8F0E-6AB2BB084B7B}"/>
                </a:ext>
              </a:extLst>
            </p:cNvPr>
            <p:cNvSpPr/>
            <p:nvPr/>
          </p:nvSpPr>
          <p:spPr>
            <a:xfrm>
              <a:off x="6414450" y="4044642"/>
              <a:ext cx="1318574" cy="971550"/>
            </a:xfrm>
            <a:prstGeom prst="rect">
              <a:avLst/>
            </a:prstGeom>
            <a:solidFill>
              <a:srgbClr val="D8CF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AD3F2277-019C-4BBF-AE39-4AD5CDBEF64F}"/>
                </a:ext>
              </a:extLst>
            </p:cNvPr>
            <p:cNvSpPr/>
            <p:nvPr/>
          </p:nvSpPr>
          <p:spPr>
            <a:xfrm>
              <a:off x="6414450" y="2112130"/>
              <a:ext cx="1318574" cy="97155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圖形 2">
              <a:extLst>
                <a:ext uri="{FF2B5EF4-FFF2-40B4-BE49-F238E27FC236}">
                  <a16:creationId xmlns:a16="http://schemas.microsoft.com/office/drawing/2014/main" id="{93B5C627-880F-4292-9AF4-11D34BFC61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76588" y="2227317"/>
              <a:ext cx="720000" cy="720000"/>
            </a:xfrm>
            <a:prstGeom prst="rect">
              <a:avLst/>
            </a:prstGeom>
          </p:spPr>
        </p:pic>
        <p:pic>
          <p:nvPicPr>
            <p:cNvPr id="5" name="圖形 4">
              <a:extLst>
                <a:ext uri="{FF2B5EF4-FFF2-40B4-BE49-F238E27FC236}">
                  <a16:creationId xmlns:a16="http://schemas.microsoft.com/office/drawing/2014/main" id="{69FD47E2-E15C-4401-8150-FBB088570D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13737" y="2237905"/>
              <a:ext cx="720000" cy="720000"/>
            </a:xfrm>
            <a:prstGeom prst="rect">
              <a:avLst/>
            </a:prstGeom>
          </p:spPr>
        </p:pic>
        <p:pic>
          <p:nvPicPr>
            <p:cNvPr id="7" name="圖形 6">
              <a:extLst>
                <a:ext uri="{FF2B5EF4-FFF2-40B4-BE49-F238E27FC236}">
                  <a16:creationId xmlns:a16="http://schemas.microsoft.com/office/drawing/2014/main" id="{144D7F15-CDAE-42A0-8CF3-DC8CEFC5E68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13737" y="4184111"/>
              <a:ext cx="720000" cy="720000"/>
            </a:xfrm>
            <a:prstGeom prst="rect">
              <a:avLst/>
            </a:prstGeom>
          </p:spPr>
        </p:pic>
        <p:pic>
          <p:nvPicPr>
            <p:cNvPr id="9" name="圖形 8">
              <a:extLst>
                <a:ext uri="{FF2B5EF4-FFF2-40B4-BE49-F238E27FC236}">
                  <a16:creationId xmlns:a16="http://schemas.microsoft.com/office/drawing/2014/main" id="{4CA300D1-009F-47B6-B3B1-EFA2A4B9804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95163" y="3198867"/>
              <a:ext cx="720000" cy="720000"/>
            </a:xfrm>
            <a:prstGeom prst="rect">
              <a:avLst/>
            </a:prstGeom>
          </p:spPr>
        </p:pic>
        <p:pic>
          <p:nvPicPr>
            <p:cNvPr id="11" name="圖形 10">
              <a:extLst>
                <a:ext uri="{FF2B5EF4-FFF2-40B4-BE49-F238E27FC236}">
                  <a16:creationId xmlns:a16="http://schemas.microsoft.com/office/drawing/2014/main" id="{D239C34D-244B-43F4-88E0-93AAAFAE039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076588" y="4184111"/>
              <a:ext cx="720000" cy="720000"/>
            </a:xfrm>
            <a:prstGeom prst="rect">
              <a:avLst/>
            </a:prstGeom>
          </p:spPr>
        </p:pic>
      </p:grpSp>
    </p:spTree>
    <p:extLst>
      <p:ext uri="{BB962C8B-B14F-4D97-AF65-F5344CB8AC3E}">
        <p14:creationId xmlns:p14="http://schemas.microsoft.com/office/powerpoint/2010/main" val="360983526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lide Number Placeholder 129">
            <a:extLst>
              <a:ext uri="{FF2B5EF4-FFF2-40B4-BE49-F238E27FC236}">
                <a16:creationId xmlns:a16="http://schemas.microsoft.com/office/drawing/2014/main" id="{CCBB0F54-9770-4586-9E2E-C9CA13858FE6}"/>
              </a:ext>
            </a:extLst>
          </p:cNvPr>
          <p:cNvSpPr>
            <a:spLocks noGrp="1"/>
          </p:cNvSpPr>
          <p:nvPr>
            <p:ph type="sldNum" sz="quarter" idx="4294967295"/>
          </p:nvPr>
        </p:nvSpPr>
        <p:spPr>
          <a:xfrm>
            <a:off x="0" y="6308725"/>
            <a:ext cx="563563" cy="365125"/>
          </a:xfrm>
        </p:spPr>
        <p:txBody>
          <a:bodyPr/>
          <a:lstStyle/>
          <a:p>
            <a:fld id="{E97ECB15-F748-C140-A5C3-CF0090C943BA}" type="slidenum">
              <a:rPr lang="en-US" smtClean="0"/>
              <a:pPr/>
              <a:t>38</a:t>
            </a:fld>
            <a:endParaRPr lang="en-US" dirty="0"/>
          </a:p>
        </p:txBody>
      </p:sp>
      <p:sp>
        <p:nvSpPr>
          <p:cNvPr id="15" name="TextBox 14">
            <a:extLst>
              <a:ext uri="{FF2B5EF4-FFF2-40B4-BE49-F238E27FC236}">
                <a16:creationId xmlns:a16="http://schemas.microsoft.com/office/drawing/2014/main" id="{5B869AE7-C2C3-4F36-A449-324A496B53D1}"/>
              </a:ext>
            </a:extLst>
          </p:cNvPr>
          <p:cNvSpPr txBox="1"/>
          <p:nvPr/>
        </p:nvSpPr>
        <p:spPr>
          <a:xfrm>
            <a:off x="3696823" y="2998113"/>
            <a:ext cx="4798353" cy="861774"/>
          </a:xfrm>
          <a:prstGeom prst="rect">
            <a:avLst/>
          </a:prstGeom>
          <a:noFill/>
        </p:spPr>
        <p:txBody>
          <a:bodyPr wrap="square" rtlCol="0">
            <a:spAutoFit/>
          </a:bodyPr>
          <a:lstStyle/>
          <a:p>
            <a:pPr algn="ctr"/>
            <a:r>
              <a:rPr lang="en-US" sz="5000" b="1" dirty="0">
                <a:solidFill>
                  <a:srgbClr val="758187"/>
                </a:solidFill>
                <a:latin typeface="Montserrat ExtraBold" panose="00000900000000000000" pitchFamily="50" charset="0"/>
              </a:rPr>
              <a:t>THANK YOU</a:t>
            </a:r>
          </a:p>
        </p:txBody>
      </p:sp>
    </p:spTree>
    <p:extLst>
      <p:ext uri="{BB962C8B-B14F-4D97-AF65-F5344CB8AC3E}">
        <p14:creationId xmlns:p14="http://schemas.microsoft.com/office/powerpoint/2010/main" val="35514731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Office Theme">
  <a:themeElements>
    <a:clrScheme name="自訂 5">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D8D8D8"/>
      </a:accent5>
      <a:accent6>
        <a:srgbClr val="855D5D"/>
      </a:accent6>
      <a:hlink>
        <a:srgbClr val="CC9900"/>
      </a:hlink>
      <a:folHlink>
        <a:srgbClr val="96A9A9"/>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35904</TotalTime>
  <Words>1939</Words>
  <Application>Microsoft Office PowerPoint</Application>
  <PresentationFormat>寬螢幕</PresentationFormat>
  <Paragraphs>345</Paragraphs>
  <Slides>38</Slides>
  <Notes>0</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38</vt:i4>
      </vt:variant>
    </vt:vector>
  </HeadingPairs>
  <TitlesOfParts>
    <vt:vector size="49" baseType="lpstr">
      <vt:lpstr>微軟正黑體</vt:lpstr>
      <vt:lpstr>Arial</vt:lpstr>
      <vt:lpstr>Calibri</vt:lpstr>
      <vt:lpstr>Calibri Light</vt:lpstr>
      <vt:lpstr>Montserrat Black</vt:lpstr>
      <vt:lpstr>Montserrat ExtraBold</vt:lpstr>
      <vt:lpstr>Montserrat Light</vt:lpstr>
      <vt:lpstr>Montserrat Medium</vt:lpstr>
      <vt:lpstr>Poppins Light</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專題報告</dc:title>
  <dc:creator>Spl</dc:creator>
  <cp:lastModifiedBy>聖博 林</cp:lastModifiedBy>
  <cp:revision>5004</cp:revision>
  <dcterms:created xsi:type="dcterms:W3CDTF">2015-09-24T05:44:04Z</dcterms:created>
  <dcterms:modified xsi:type="dcterms:W3CDTF">2024-11-27T13:42:36Z</dcterms:modified>
</cp:coreProperties>
</file>