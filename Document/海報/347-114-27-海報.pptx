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21383625" cy="30275213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35" userDrawn="1">
          <p15:clr>
            <a:srgbClr val="A4A3A4"/>
          </p15:clr>
        </p15:guide>
        <p15:guide id="2" pos="67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27" d="100"/>
          <a:sy n="27" d="100"/>
        </p:scale>
        <p:origin x="3018" y="132"/>
      </p:cViewPr>
      <p:guideLst>
        <p:guide orient="horz" pos="9535"/>
        <p:guide pos="67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CEA3-5404-476A-A27C-56356766367B}" type="datetimeFigureOut">
              <a:rPr lang="zh-TW" altLang="en-US" smtClean="0"/>
              <a:t>2024/11/27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FD1B6-76CA-4DB4-B54B-45E5037CC8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0627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CEA3-5404-476A-A27C-56356766367B}" type="datetimeFigureOut">
              <a:rPr lang="zh-TW" altLang="en-US" smtClean="0"/>
              <a:t>2024/11/27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FD1B6-76CA-4DB4-B54B-45E5037CC8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6385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/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75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75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CEA3-5404-476A-A27C-56356766367B}" type="datetimeFigureOut">
              <a:rPr lang="zh-TW" altLang="en-US" smtClean="0"/>
              <a:t>2024/11/27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FD1B6-76CA-4DB4-B54B-45E5037CC8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7947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CEA3-5404-476A-A27C-56356766367B}" type="datetimeFigureOut">
              <a:rPr lang="zh-TW" altLang="en-US" smtClean="0"/>
              <a:t>2024/11/27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FD1B6-76CA-4DB4-B54B-45E5037CC8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5299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CEA3-5404-476A-A27C-56356766367B}" type="datetimeFigureOut">
              <a:rPr lang="zh-TW" altLang="en-US" smtClean="0"/>
              <a:t>2024/11/27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FD1B6-76CA-4DB4-B54B-45E5037CC8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3864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CEA3-5404-476A-A27C-56356766367B}" type="datetimeFigureOut">
              <a:rPr lang="zh-TW" altLang="en-US" smtClean="0"/>
              <a:t>2024/11/27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FD1B6-76CA-4DB4-B54B-45E5037CC8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5131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CEA3-5404-476A-A27C-56356766367B}" type="datetimeFigureOut">
              <a:rPr lang="zh-TW" altLang="en-US" smtClean="0"/>
              <a:t>2024/11/27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FD1B6-76CA-4DB4-B54B-45E5037CC8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7626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CEA3-5404-476A-A27C-56356766367B}" type="datetimeFigureOut">
              <a:rPr lang="zh-TW" altLang="en-US" smtClean="0"/>
              <a:t>2024/11/27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FD1B6-76CA-4DB4-B54B-45E5037CC8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78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CEA3-5404-476A-A27C-56356766367B}" type="datetimeFigureOut">
              <a:rPr lang="zh-TW" altLang="en-US" smtClean="0"/>
              <a:t>2024/11/27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FD1B6-76CA-4DB4-B54B-45E5037CC8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0742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CEA3-5404-476A-A27C-56356766367B}" type="datetimeFigureOut">
              <a:rPr lang="zh-TW" altLang="en-US" smtClean="0"/>
              <a:t>2024/11/27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FD1B6-76CA-4DB4-B54B-45E5037CC8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4453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CEA3-5404-476A-A27C-56356766367B}" type="datetimeFigureOut">
              <a:rPr lang="zh-TW" altLang="en-US" smtClean="0"/>
              <a:t>2024/11/27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FD1B6-76CA-4DB4-B54B-45E5037CC8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0921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99CEA3-5404-476A-A27C-56356766367B}" type="datetimeFigureOut">
              <a:rPr lang="zh-TW" altLang="en-US" smtClean="0"/>
              <a:t>2024/11/27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8FD1B6-76CA-4DB4-B54B-45E5037CC8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1909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圓角矩形 5">
            <a:extLst>
              <a:ext uri="{FF2B5EF4-FFF2-40B4-BE49-F238E27FC236}">
                <a16:creationId xmlns:a16="http://schemas.microsoft.com/office/drawing/2014/main" id="{C8386E32-6F32-443F-52CC-17E6C852B281}"/>
              </a:ext>
            </a:extLst>
          </p:cNvPr>
          <p:cNvSpPr/>
          <p:nvPr/>
        </p:nvSpPr>
        <p:spPr>
          <a:xfrm>
            <a:off x="11185788" y="9649503"/>
            <a:ext cx="9540000" cy="10144598"/>
          </a:xfrm>
          <a:prstGeom prst="roundRect">
            <a:avLst>
              <a:gd name="adj" fmla="val 9048"/>
            </a:avLst>
          </a:prstGeom>
          <a:solidFill>
            <a:schemeClr val="bg2">
              <a:alpha val="8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0DF3AE1-D694-CE2D-84BF-12CB6E8BE901}"/>
              </a:ext>
            </a:extLst>
          </p:cNvPr>
          <p:cNvSpPr txBox="1"/>
          <p:nvPr/>
        </p:nvSpPr>
        <p:spPr>
          <a:xfrm>
            <a:off x="0" y="3473720"/>
            <a:ext cx="21383625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8400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DevOps</a:t>
            </a:r>
            <a:r>
              <a:rPr lang="zh-TW" altLang="en-US" sz="8400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－自動化建置環境與憑證</a:t>
            </a:r>
            <a:endParaRPr lang="en-US" altLang="zh-TW" sz="8400" dirty="0">
              <a:solidFill>
                <a:schemeClr val="bg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5000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林聖博 余貫瑒</a:t>
            </a:r>
            <a:endParaRPr lang="en-US" altLang="zh-TW" sz="5000" dirty="0">
              <a:solidFill>
                <a:schemeClr val="bg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4000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專題編號：</a:t>
            </a:r>
            <a:r>
              <a:rPr lang="en-US" altLang="zh-TW" sz="4000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347-114-27</a:t>
            </a:r>
            <a:endParaRPr lang="zh-TW" altLang="en-US" sz="4000" dirty="0">
              <a:solidFill>
                <a:schemeClr val="bg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EDA548E7-2282-2DF8-F0C5-427C0F1D10A4}"/>
              </a:ext>
            </a:extLst>
          </p:cNvPr>
          <p:cNvSpPr/>
          <p:nvPr/>
        </p:nvSpPr>
        <p:spPr>
          <a:xfrm>
            <a:off x="631879" y="6377655"/>
            <a:ext cx="20106888" cy="2769990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TW" altLang="en-US" sz="3600" b="1" u="sng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摘要</a:t>
            </a:r>
            <a:endParaRPr lang="en-US" altLang="zh-TW" sz="3600" b="1" u="sng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</a:pPr>
            <a:r>
              <a:rPr lang="zh-TW" alt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本專題利用</a:t>
            </a:r>
            <a:r>
              <a:rPr lang="en-US" altLang="zh-TW" sz="3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Docker</a:t>
            </a:r>
            <a:r>
              <a:rPr lang="zh-TW" alt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來建立多個不同環境並管理網路應用程式伺服器，以</a:t>
            </a:r>
            <a:r>
              <a:rPr lang="en-US" altLang="zh-TW" sz="3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Docker</a:t>
            </a:r>
            <a:r>
              <a:rPr lang="zh-TW" alt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架設</a:t>
            </a:r>
            <a:r>
              <a:rPr lang="en-US" altLang="zh-TW" sz="3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AP</a:t>
            </a:r>
            <a:r>
              <a:rPr lang="zh-TW" alt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Server</a:t>
            </a:r>
            <a:r>
              <a:rPr lang="zh-TW" alt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，在</a:t>
            </a:r>
            <a:r>
              <a:rPr lang="en-US" altLang="zh-TW" sz="3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Web Server</a:t>
            </a:r>
            <a:r>
              <a:rPr lang="zh-TW" alt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建立</a:t>
            </a:r>
            <a:r>
              <a:rPr lang="en-US" altLang="zh-TW" sz="3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Reverse Proxy</a:t>
            </a:r>
            <a:r>
              <a:rPr lang="zh-TW" alt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，將需求轉送進入</a:t>
            </a:r>
            <a:r>
              <a:rPr lang="en-US" altLang="zh-TW" sz="3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Docker</a:t>
            </a:r>
            <a:r>
              <a:rPr lang="zh-TW" alt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容器內，再將憑證安裝在</a:t>
            </a:r>
            <a:r>
              <a:rPr lang="en-US" altLang="zh-TW" sz="3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Reverse Proxy</a:t>
            </a:r>
            <a:r>
              <a:rPr lang="zh-TW" alt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，達成以</a:t>
            </a:r>
            <a:r>
              <a:rPr lang="en-US" altLang="zh-TW" sz="3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HTTPS</a:t>
            </a:r>
            <a:r>
              <a:rPr lang="zh-TW" alt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協定連線進入</a:t>
            </a:r>
            <a:r>
              <a:rPr lang="en-US" altLang="zh-TW" sz="3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Docker</a:t>
            </a:r>
            <a:r>
              <a:rPr lang="zh-TW" alt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內部，並設定自動建置腳本，使建立與還原伺服器變得容易。</a:t>
            </a:r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F9BD6A1C-AFCC-FB40-54DB-1D900F0E3905}"/>
              </a:ext>
            </a:extLst>
          </p:cNvPr>
          <p:cNvSpPr/>
          <p:nvPr/>
        </p:nvSpPr>
        <p:spPr>
          <a:xfrm>
            <a:off x="643980" y="26955755"/>
            <a:ext cx="20106888" cy="2845656"/>
          </a:xfrm>
          <a:prstGeom prst="roundRect">
            <a:avLst/>
          </a:prstGeom>
          <a:solidFill>
            <a:schemeClr val="bg2">
              <a:alpha val="8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TW" altLang="en-US" sz="3600" b="1" u="sng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結論</a:t>
            </a:r>
            <a:endParaRPr lang="en-US" altLang="zh-TW" sz="3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</a:pPr>
            <a:r>
              <a:rPr lang="zh-TW" alt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我們期待這套流程能讓使用者在建置和維護</a:t>
            </a:r>
            <a:r>
              <a:rPr lang="en-US" altLang="zh-TW" sz="3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Web</a:t>
            </a:r>
            <a:r>
              <a:rPr lang="zh-TW" alt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應用程式的時候能夠加速工作進行、減少環境建置錯誤，並透過這種方式令</a:t>
            </a:r>
            <a:r>
              <a:rPr lang="en-US" altLang="zh-TW" sz="3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Docker</a:t>
            </a:r>
            <a:r>
              <a:rPr lang="zh-TW" alt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支援</a:t>
            </a:r>
            <a:r>
              <a:rPr lang="en-US" altLang="zh-TW" sz="3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HTTPS</a:t>
            </a:r>
            <a:r>
              <a:rPr lang="zh-TW" alt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，使伺服器能夠快速被建立，並保證系統運作正常且方便管理。</a:t>
            </a:r>
          </a:p>
          <a:p>
            <a:pPr algn="just"/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117E8E61-8276-5407-36A1-38CCBF0B6661}"/>
              </a:ext>
            </a:extLst>
          </p:cNvPr>
          <p:cNvGrpSpPr/>
          <p:nvPr/>
        </p:nvGrpSpPr>
        <p:grpSpPr>
          <a:xfrm>
            <a:off x="644858" y="9682802"/>
            <a:ext cx="9540000" cy="6026150"/>
            <a:chOff x="644858" y="9682802"/>
            <a:chExt cx="9540000" cy="6026150"/>
          </a:xfrm>
        </p:grpSpPr>
        <p:sp>
          <p:nvSpPr>
            <p:cNvPr id="6" name="圓角矩形 5">
              <a:extLst>
                <a:ext uri="{FF2B5EF4-FFF2-40B4-BE49-F238E27FC236}">
                  <a16:creationId xmlns:a16="http://schemas.microsoft.com/office/drawing/2014/main" id="{30C246DF-DEE3-E834-C56C-676C34FC48C1}"/>
                </a:ext>
              </a:extLst>
            </p:cNvPr>
            <p:cNvSpPr/>
            <p:nvPr/>
          </p:nvSpPr>
          <p:spPr>
            <a:xfrm>
              <a:off x="644858" y="9682802"/>
              <a:ext cx="9540000" cy="6026150"/>
            </a:xfrm>
            <a:prstGeom prst="roundRect">
              <a:avLst>
                <a:gd name="adj" fmla="val 9048"/>
              </a:avLst>
            </a:prstGeom>
            <a:solidFill>
              <a:schemeClr val="bg2">
                <a:alpha val="80000"/>
              </a:schemeClr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2C5429B0-9763-6A20-B7B0-9661FBB0B59E}"/>
                </a:ext>
              </a:extLst>
            </p:cNvPr>
            <p:cNvSpPr txBox="1"/>
            <p:nvPr/>
          </p:nvSpPr>
          <p:spPr>
            <a:xfrm>
              <a:off x="998287" y="10191611"/>
              <a:ext cx="88331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3600" b="1" u="sng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系統架構</a:t>
              </a:r>
              <a:endParaRPr lang="en-US" altLang="zh-TW" sz="3200" b="1" u="sng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endParaRPr>
            </a:p>
          </p:txBody>
        </p:sp>
        <p:grpSp>
          <p:nvGrpSpPr>
            <p:cNvPr id="37" name="群組 36">
              <a:extLst>
                <a:ext uri="{FF2B5EF4-FFF2-40B4-BE49-F238E27FC236}">
                  <a16:creationId xmlns:a16="http://schemas.microsoft.com/office/drawing/2014/main" id="{2A4496E5-A8D8-1FE2-A241-5FF3595E2D9F}"/>
                </a:ext>
              </a:extLst>
            </p:cNvPr>
            <p:cNvGrpSpPr/>
            <p:nvPr/>
          </p:nvGrpSpPr>
          <p:grpSpPr>
            <a:xfrm>
              <a:off x="914857" y="10868022"/>
              <a:ext cx="9000000" cy="4551353"/>
              <a:chOff x="754357" y="11243620"/>
              <a:chExt cx="9304356" cy="4551353"/>
            </a:xfrm>
          </p:grpSpPr>
          <p:grpSp>
            <p:nvGrpSpPr>
              <p:cNvPr id="30" name="群組 29">
                <a:extLst>
                  <a:ext uri="{FF2B5EF4-FFF2-40B4-BE49-F238E27FC236}">
                    <a16:creationId xmlns:a16="http://schemas.microsoft.com/office/drawing/2014/main" id="{B846DEAB-2896-8946-E270-B6109A023E00}"/>
                  </a:ext>
                </a:extLst>
              </p:cNvPr>
              <p:cNvGrpSpPr/>
              <p:nvPr/>
            </p:nvGrpSpPr>
            <p:grpSpPr>
              <a:xfrm>
                <a:off x="754357" y="11243620"/>
                <a:ext cx="9304356" cy="3706957"/>
                <a:chOff x="1447050" y="1498451"/>
                <a:chExt cx="9304356" cy="3706957"/>
              </a:xfrm>
            </p:grpSpPr>
            <p:pic>
              <p:nvPicPr>
                <p:cNvPr id="31" name="Picture 4">
                  <a:extLst>
                    <a:ext uri="{FF2B5EF4-FFF2-40B4-BE49-F238E27FC236}">
                      <a16:creationId xmlns:a16="http://schemas.microsoft.com/office/drawing/2014/main" id="{A48B31B3-3972-5B27-7B8C-BF3FFDDCFE6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447050" y="1498451"/>
                  <a:ext cx="9304356" cy="370695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grpSp>
              <p:nvGrpSpPr>
                <p:cNvPr id="32" name="群組 31">
                  <a:extLst>
                    <a:ext uri="{FF2B5EF4-FFF2-40B4-BE49-F238E27FC236}">
                      <a16:creationId xmlns:a16="http://schemas.microsoft.com/office/drawing/2014/main" id="{6BAA7D29-928E-0BA6-851A-93B07D72B61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9246661" y="1983696"/>
                  <a:ext cx="1504369" cy="3077153"/>
                  <a:chOff x="8718094" y="2057400"/>
                  <a:chExt cx="1314453" cy="2688684"/>
                </a:xfrm>
              </p:grpSpPr>
              <p:sp>
                <p:nvSpPr>
                  <p:cNvPr id="33" name="Google Shape;2319;p37">
                    <a:extLst>
                      <a:ext uri="{FF2B5EF4-FFF2-40B4-BE49-F238E27FC236}">
                        <a16:creationId xmlns:a16="http://schemas.microsoft.com/office/drawing/2014/main" id="{EC4B2F13-B52D-9214-0CA0-8B4DC4A3EAAD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8724900" y="2057400"/>
                    <a:ext cx="1307647" cy="838200"/>
                  </a:xfrm>
                  <a:prstGeom prst="roundRect">
                    <a:avLst>
                      <a:gd name="adj" fmla="val 16667"/>
                    </a:avLst>
                  </a:prstGeom>
                  <a:noFill/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algn="ctr"/>
                    <a:endParaRPr sz="2400">
                      <a:latin typeface="Montserrat Medium"/>
                      <a:ea typeface="Montserrat Medium"/>
                      <a:cs typeface="Montserrat Medium"/>
                      <a:sym typeface="Montserrat Medium"/>
                    </a:endParaRPr>
                  </a:p>
                </p:txBody>
              </p:sp>
              <p:sp>
                <p:nvSpPr>
                  <p:cNvPr id="34" name="Google Shape;2319;p37">
                    <a:extLst>
                      <a:ext uri="{FF2B5EF4-FFF2-40B4-BE49-F238E27FC236}">
                        <a16:creationId xmlns:a16="http://schemas.microsoft.com/office/drawing/2014/main" id="{666124C9-20C4-C530-B016-6F3C2BB233DB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8724899" y="2982642"/>
                    <a:ext cx="1307647" cy="838200"/>
                  </a:xfrm>
                  <a:prstGeom prst="roundRect">
                    <a:avLst>
                      <a:gd name="adj" fmla="val 16667"/>
                    </a:avLst>
                  </a:prstGeom>
                  <a:noFill/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algn="ctr"/>
                    <a:endParaRPr sz="2400">
                      <a:latin typeface="Montserrat Medium"/>
                      <a:ea typeface="Montserrat Medium"/>
                      <a:cs typeface="Montserrat Medium"/>
                      <a:sym typeface="Montserrat Medium"/>
                    </a:endParaRPr>
                  </a:p>
                </p:txBody>
              </p:sp>
              <p:sp>
                <p:nvSpPr>
                  <p:cNvPr id="35" name="Google Shape;2319;p37">
                    <a:extLst>
                      <a:ext uri="{FF2B5EF4-FFF2-40B4-BE49-F238E27FC236}">
                        <a16:creationId xmlns:a16="http://schemas.microsoft.com/office/drawing/2014/main" id="{16F01635-C17D-37B7-930C-AF219F70A80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8718094" y="3907884"/>
                    <a:ext cx="1307647" cy="838200"/>
                  </a:xfrm>
                  <a:prstGeom prst="roundRect">
                    <a:avLst>
                      <a:gd name="adj" fmla="val 16667"/>
                    </a:avLst>
                  </a:prstGeom>
                  <a:noFill/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algn="ctr"/>
                    <a:endParaRPr sz="2400">
                      <a:latin typeface="Montserrat Medium"/>
                      <a:ea typeface="Montserrat Medium"/>
                      <a:cs typeface="Montserrat Medium"/>
                      <a:sym typeface="Montserrat Medium"/>
                    </a:endParaRPr>
                  </a:p>
                </p:txBody>
              </p:sp>
            </p:grpSp>
          </p:grpSp>
          <p:sp>
            <p:nvSpPr>
              <p:cNvPr id="36" name="Text Box 59">
                <a:extLst>
                  <a:ext uri="{FF2B5EF4-FFF2-40B4-BE49-F238E27FC236}">
                    <a16:creationId xmlns:a16="http://schemas.microsoft.com/office/drawing/2014/main" id="{44D3C342-5631-64FA-018C-B60E539BEE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7826" y="15155450"/>
                <a:ext cx="4917417" cy="6395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84699" tIns="42349" rIns="84699" bIns="42349">
                <a:spAutoFit/>
              </a:bodyPr>
              <a:lstStyle>
                <a:defPPr>
                  <a:defRPr lang="zh-TW"/>
                </a:defPPr>
                <a:lvl1pPr algn="l" rtl="0" fontAlgn="base">
                  <a:spcBef>
                    <a:spcPct val="50000"/>
                  </a:spcBef>
                  <a:spcAft>
                    <a:spcPct val="0"/>
                  </a:spcAft>
                  <a:defRPr kumimoji="1" sz="2400" kern="1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  <a:cs typeface="+mn-cs"/>
                  </a:defRPr>
                </a:lvl1pPr>
                <a:lvl2pPr marL="457200" algn="l" rtl="0" fontAlgn="base">
                  <a:spcBef>
                    <a:spcPct val="50000"/>
                  </a:spcBef>
                  <a:spcAft>
                    <a:spcPct val="0"/>
                  </a:spcAft>
                  <a:defRPr kumimoji="1" sz="2400" kern="1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  <a:cs typeface="+mn-cs"/>
                  </a:defRPr>
                </a:lvl2pPr>
                <a:lvl3pPr marL="914400" algn="l" rtl="0" fontAlgn="base">
                  <a:spcBef>
                    <a:spcPct val="50000"/>
                  </a:spcBef>
                  <a:spcAft>
                    <a:spcPct val="0"/>
                  </a:spcAft>
                  <a:defRPr kumimoji="1" sz="2400" kern="1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  <a:cs typeface="+mn-cs"/>
                  </a:defRPr>
                </a:lvl3pPr>
                <a:lvl4pPr marL="1371600" algn="l" rtl="0" fontAlgn="base">
                  <a:spcBef>
                    <a:spcPct val="50000"/>
                  </a:spcBef>
                  <a:spcAft>
                    <a:spcPct val="0"/>
                  </a:spcAft>
                  <a:defRPr kumimoji="1" sz="2400" kern="1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  <a:cs typeface="+mn-cs"/>
                  </a:defRPr>
                </a:lvl4pPr>
                <a:lvl5pPr marL="1828800" algn="l" rtl="0" fontAlgn="base">
                  <a:spcBef>
                    <a:spcPct val="50000"/>
                  </a:spcBef>
                  <a:spcAft>
                    <a:spcPct val="0"/>
                  </a:spcAft>
                  <a:defRPr kumimoji="1" sz="2400" kern="1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kern="1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kern="1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kern="1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kern="1200">
                    <a:solidFill>
                      <a:schemeClr val="tx1"/>
                    </a:solidFill>
                    <a:latin typeface="Times New Roman" pitchFamily="18" charset="0"/>
                    <a:ea typeface="標楷體" pitchFamily="65" charset="-120"/>
                    <a:cs typeface="+mn-cs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zh-TW" altLang="en-US" sz="3600" dirty="0">
                    <a:cs typeface="Times New Roman" panose="02020603050405020304" pitchFamily="18" charset="0"/>
                  </a:rPr>
                  <a:t>圖</a:t>
                </a:r>
                <a:r>
                  <a:rPr lang="zh-CN" altLang="en-US" sz="3600" dirty="0">
                    <a:cs typeface="Times New Roman" panose="02020603050405020304" pitchFamily="18" charset="0"/>
                  </a:rPr>
                  <a:t>一</a:t>
                </a:r>
                <a:r>
                  <a:rPr lang="zh-TW" altLang="en-US" sz="3600" dirty="0">
                    <a:cs typeface="Times New Roman" panose="02020603050405020304" pitchFamily="18" charset="0"/>
                  </a:rPr>
                  <a:t>：系統架構圖</a:t>
                </a:r>
              </a:p>
            </p:txBody>
          </p:sp>
        </p:grpSp>
      </p:grp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80AD8687-7395-FDCC-CF58-2BFF10FF5EF4}"/>
              </a:ext>
            </a:extLst>
          </p:cNvPr>
          <p:cNvGrpSpPr/>
          <p:nvPr/>
        </p:nvGrpSpPr>
        <p:grpSpPr>
          <a:xfrm>
            <a:off x="631879" y="16258702"/>
            <a:ext cx="9540000" cy="10144598"/>
            <a:chOff x="588995" y="16724704"/>
            <a:chExt cx="9540000" cy="9852875"/>
          </a:xfrm>
        </p:grpSpPr>
        <p:sp>
          <p:nvSpPr>
            <p:cNvPr id="39" name="圓角矩形 5">
              <a:extLst>
                <a:ext uri="{FF2B5EF4-FFF2-40B4-BE49-F238E27FC236}">
                  <a16:creationId xmlns:a16="http://schemas.microsoft.com/office/drawing/2014/main" id="{77F0569B-C907-6316-E593-1592A7CB013D}"/>
                </a:ext>
              </a:extLst>
            </p:cNvPr>
            <p:cNvSpPr/>
            <p:nvPr/>
          </p:nvSpPr>
          <p:spPr>
            <a:xfrm>
              <a:off x="588995" y="16724704"/>
              <a:ext cx="9540000" cy="9852875"/>
            </a:xfrm>
            <a:prstGeom prst="roundRect">
              <a:avLst>
                <a:gd name="adj" fmla="val 9048"/>
              </a:avLst>
            </a:prstGeom>
            <a:solidFill>
              <a:schemeClr val="bg2">
                <a:alpha val="80000"/>
              </a:schemeClr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464698D0-E1B1-09CA-88E1-3B6656259FF0}"/>
                </a:ext>
              </a:extLst>
            </p:cNvPr>
            <p:cNvSpPr txBox="1"/>
            <p:nvPr/>
          </p:nvSpPr>
          <p:spPr>
            <a:xfrm>
              <a:off x="942424" y="17231404"/>
              <a:ext cx="8833142" cy="6277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3600" b="1" u="sng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伺服器建置</a:t>
              </a:r>
              <a:endParaRPr lang="en-US" altLang="zh-TW" sz="3200" b="1" u="sng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8BCBC65B-D2E5-FC3C-99C5-6BC5908B10C9}"/>
              </a:ext>
            </a:extLst>
          </p:cNvPr>
          <p:cNvSpPr txBox="1"/>
          <p:nvPr/>
        </p:nvSpPr>
        <p:spPr>
          <a:xfrm>
            <a:off x="11552196" y="10191610"/>
            <a:ext cx="8833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b="1" u="sng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建置流程</a:t>
            </a:r>
            <a:endParaRPr lang="en-US" altLang="zh-TW" sz="3200" b="1" u="sng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62" name="群組 61">
            <a:extLst>
              <a:ext uri="{FF2B5EF4-FFF2-40B4-BE49-F238E27FC236}">
                <a16:creationId xmlns:a16="http://schemas.microsoft.com/office/drawing/2014/main" id="{0F3B56C6-8138-E4C1-FD3C-788797730ED5}"/>
              </a:ext>
            </a:extLst>
          </p:cNvPr>
          <p:cNvGrpSpPr/>
          <p:nvPr/>
        </p:nvGrpSpPr>
        <p:grpSpPr>
          <a:xfrm>
            <a:off x="11198767" y="20394448"/>
            <a:ext cx="9540000" cy="6026150"/>
            <a:chOff x="636535" y="9925050"/>
            <a:chExt cx="9540000" cy="6026150"/>
          </a:xfrm>
        </p:grpSpPr>
        <p:sp>
          <p:nvSpPr>
            <p:cNvPr id="63" name="圓角矩形 5">
              <a:extLst>
                <a:ext uri="{FF2B5EF4-FFF2-40B4-BE49-F238E27FC236}">
                  <a16:creationId xmlns:a16="http://schemas.microsoft.com/office/drawing/2014/main" id="{AFFCA4C2-CED7-2224-ACF6-71CE7B1238DE}"/>
                </a:ext>
              </a:extLst>
            </p:cNvPr>
            <p:cNvSpPr/>
            <p:nvPr/>
          </p:nvSpPr>
          <p:spPr>
            <a:xfrm>
              <a:off x="636535" y="9925050"/>
              <a:ext cx="9540000" cy="6026150"/>
            </a:xfrm>
            <a:prstGeom prst="roundRect">
              <a:avLst>
                <a:gd name="adj" fmla="val 9048"/>
              </a:avLst>
            </a:prstGeom>
            <a:solidFill>
              <a:schemeClr val="bg2">
                <a:alpha val="80000"/>
              </a:schemeClr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063D8ECA-9DE9-D393-55BA-B6BC2C1CF6F8}"/>
                </a:ext>
              </a:extLst>
            </p:cNvPr>
            <p:cNvSpPr txBox="1"/>
            <p:nvPr/>
          </p:nvSpPr>
          <p:spPr>
            <a:xfrm>
              <a:off x="989964" y="10433859"/>
              <a:ext cx="88331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3600" b="1" u="sng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系統運作</a:t>
              </a:r>
              <a:endParaRPr lang="en-US" altLang="zh-TW" sz="3200" b="1" u="sng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67" name="Text Box 59">
              <a:extLst>
                <a:ext uri="{FF2B5EF4-FFF2-40B4-BE49-F238E27FC236}">
                  <a16:creationId xmlns:a16="http://schemas.microsoft.com/office/drawing/2014/main" id="{F587DAA1-C984-BCBD-C073-812DBD8B92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4847" y="15016340"/>
              <a:ext cx="4917417" cy="639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84699" tIns="42349" rIns="84699" bIns="42349">
              <a:spAutoFit/>
            </a:bodyPr>
            <a:lstStyle>
              <a:defPPr>
                <a:defRPr lang="zh-TW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itchFamily="18" charset="0"/>
                  <a:ea typeface="標楷體" pitchFamily="65" charset="-120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zh-TW" altLang="en-US" sz="3600" dirty="0">
                  <a:cs typeface="Times New Roman" panose="02020603050405020304" pitchFamily="18" charset="0"/>
                </a:rPr>
                <a:t>圖四：系統運作示意圖</a:t>
              </a:r>
            </a:p>
          </p:txBody>
        </p:sp>
      </p:grpSp>
      <p:pic>
        <p:nvPicPr>
          <p:cNvPr id="73" name="圖片 72">
            <a:extLst>
              <a:ext uri="{FF2B5EF4-FFF2-40B4-BE49-F238E27FC236}">
                <a16:creationId xmlns:a16="http://schemas.microsoft.com/office/drawing/2014/main" id="{2A0DE32D-3EDF-1865-3511-5286525E5E2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5787" y="22058397"/>
            <a:ext cx="9000000" cy="3048108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文字方塊 82">
            <a:extLst>
              <a:ext uri="{FF2B5EF4-FFF2-40B4-BE49-F238E27FC236}">
                <a16:creationId xmlns:a16="http://schemas.microsoft.com/office/drawing/2014/main" id="{94F4A0E8-22D4-170E-C649-95FD368475CF}"/>
              </a:ext>
            </a:extLst>
          </p:cNvPr>
          <p:cNvSpPr txBox="1"/>
          <p:nvPr/>
        </p:nvSpPr>
        <p:spPr>
          <a:xfrm>
            <a:off x="11508895" y="10898463"/>
            <a:ext cx="8833142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透過</a:t>
            </a:r>
            <a:r>
              <a:rPr lang="en-US" altLang="zh-TW" sz="3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Dockerfile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建立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image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後，使用腳本進行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Server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設置，填入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subsite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port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image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id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即可架設網站：</a:t>
            </a:r>
            <a:endParaRPr lang="en-US" altLang="zh-TW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just"/>
            <a:endParaRPr lang="en-US" altLang="zh-TW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742950" indent="-742950" algn="just">
              <a:buAutoNum type="arabicPeriod"/>
            </a:pP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單一伺服器</a:t>
            </a:r>
            <a:endParaRPr lang="en-US" altLang="zh-TW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 algn="just"/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使用下列腳本進行建置</a:t>
            </a:r>
            <a:endParaRPr lang="en-US" altLang="zh-TW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657350" lvl="2" indent="-742950" algn="just">
              <a:buFont typeface="Arial" panose="020B0604020202020204" pitchFamily="34" charset="0"/>
              <a:buChar char="•"/>
            </a:pP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create.sh</a:t>
            </a:r>
          </a:p>
          <a:p>
            <a:pPr marL="1657350" lvl="2" indent="-742950" algn="just">
              <a:buFont typeface="Arial" panose="020B0604020202020204" pitchFamily="34" charset="0"/>
              <a:buChar char="•"/>
            </a:pP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remove.sh</a:t>
            </a:r>
          </a:p>
          <a:p>
            <a:pPr algn="just"/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</a:t>
            </a:r>
          </a:p>
          <a:p>
            <a:pPr marL="742950" indent="-742950" algn="just">
              <a:buFont typeface="+mj-lt"/>
              <a:buAutoNum type="arabicPeriod" startAt="2"/>
            </a:pP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伺服器分離</a:t>
            </a:r>
            <a:endParaRPr lang="en-US" altLang="zh-TW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just"/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</a:t>
            </a:r>
            <a:r>
              <a:rPr lang="zh-TW" altLang="en-US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使用下列腳本進行建置</a:t>
            </a:r>
            <a:endParaRPr lang="en-US" altLang="zh-TW" sz="3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657350" lvl="2" indent="-742950" algn="just">
              <a:buFont typeface="Arial" panose="020B0604020202020204" pitchFamily="34" charset="0"/>
              <a:buChar char="•"/>
            </a:pP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create_APSERVER.sh</a:t>
            </a:r>
          </a:p>
          <a:p>
            <a:pPr marL="1657350" lvl="2" indent="-742950" algn="just">
              <a:buFont typeface="Arial" panose="020B0604020202020204" pitchFamily="34" charset="0"/>
              <a:buChar char="•"/>
            </a:pP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create_WEBSERVER.sh</a:t>
            </a:r>
          </a:p>
          <a:p>
            <a:pPr marL="1657350" lvl="2" indent="-742950" algn="just">
              <a:buFont typeface="Arial" panose="020B0604020202020204" pitchFamily="34" charset="0"/>
              <a:buChar char="•"/>
            </a:pP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remove_APSERVER.sh</a:t>
            </a:r>
          </a:p>
          <a:p>
            <a:pPr marL="1657350" lvl="2" indent="-742950" algn="just">
              <a:buFont typeface="Arial" panose="020B0604020202020204" pitchFamily="34" charset="0"/>
              <a:buChar char="•"/>
            </a:pP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remove_WEBSERVER.sh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3048AC1-64FF-9651-8A44-ACA0AB8A0C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952" y="22820009"/>
            <a:ext cx="9000000" cy="2347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9F8C7B1-1633-E1B3-A363-E2C9DD2FC0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857" y="17929072"/>
            <a:ext cx="9000000" cy="3094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Box 59">
            <a:extLst>
              <a:ext uri="{FF2B5EF4-FFF2-40B4-BE49-F238E27FC236}">
                <a16:creationId xmlns:a16="http://schemas.microsoft.com/office/drawing/2014/main" id="{4FBE1E49-A08C-4E6C-5FF4-3343DE4325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829" y="21341159"/>
            <a:ext cx="6702056" cy="639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4699" tIns="42349" rIns="84699" bIns="42349">
            <a:spAutoFit/>
          </a:bodyPr>
          <a:lstStyle>
            <a:defPPr>
              <a:defRPr lang="zh-TW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  <a:cs typeface="+mn-cs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zh-TW" altLang="en-US" sz="3600" dirty="0">
                <a:cs typeface="Times New Roman" panose="02020603050405020304" pitchFamily="18" charset="0"/>
              </a:rPr>
              <a:t>圖二：反向代理流程 </a:t>
            </a:r>
            <a:r>
              <a:rPr lang="en-US" altLang="zh-TW" sz="3600" dirty="0">
                <a:cs typeface="Times New Roman" panose="02020603050405020304" pitchFamily="18" charset="0"/>
              </a:rPr>
              <a:t>(Web Server)</a:t>
            </a:r>
            <a:endParaRPr lang="zh-TW" altLang="en-US" sz="3600" dirty="0">
              <a:cs typeface="Times New Roman" panose="02020603050405020304" pitchFamily="18" charset="0"/>
            </a:endParaRPr>
          </a:p>
        </p:txBody>
      </p:sp>
      <p:sp>
        <p:nvSpPr>
          <p:cNvPr id="14" name="Text Box 59">
            <a:extLst>
              <a:ext uri="{FF2B5EF4-FFF2-40B4-BE49-F238E27FC236}">
                <a16:creationId xmlns:a16="http://schemas.microsoft.com/office/drawing/2014/main" id="{3535E1FA-D3FB-6C4F-557A-33369A223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136" y="25485738"/>
            <a:ext cx="7121631" cy="639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4699" tIns="42349" rIns="84699" bIns="42349">
            <a:spAutoFit/>
          </a:bodyPr>
          <a:lstStyle>
            <a:defPPr>
              <a:defRPr lang="zh-TW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  <a:cs typeface="+mn-cs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zh-TW" altLang="en-US" sz="3600" dirty="0">
                <a:cs typeface="Times New Roman" panose="02020603050405020304" pitchFamily="18" charset="0"/>
              </a:rPr>
              <a:t>圖三：</a:t>
            </a:r>
            <a:r>
              <a:rPr lang="en-US" altLang="zh-TW" sz="3600" dirty="0">
                <a:cs typeface="Times New Roman" panose="02020603050405020304" pitchFamily="18" charset="0"/>
              </a:rPr>
              <a:t>Docker</a:t>
            </a:r>
            <a:r>
              <a:rPr lang="zh-TW" altLang="en-US" sz="3600" dirty="0">
                <a:cs typeface="Times New Roman" panose="02020603050405020304" pitchFamily="18" charset="0"/>
              </a:rPr>
              <a:t>建置流程 </a:t>
            </a:r>
            <a:r>
              <a:rPr lang="en-US" altLang="zh-TW" sz="3600" dirty="0">
                <a:cs typeface="Times New Roman" panose="02020603050405020304" pitchFamily="18" charset="0"/>
              </a:rPr>
              <a:t>(AP</a:t>
            </a:r>
            <a:r>
              <a:rPr lang="zh-TW" altLang="en-US" sz="3600" dirty="0"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cs typeface="Times New Roman" panose="02020603050405020304" pitchFamily="18" charset="0"/>
              </a:rPr>
              <a:t>Server)</a:t>
            </a:r>
            <a:endParaRPr lang="zh-TW" altLang="en-US" sz="36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8302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599</TotalTime>
  <Words>242</Words>
  <Application>Microsoft Office PowerPoint</Application>
  <PresentationFormat>自訂</PresentationFormat>
  <Paragraphs>28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Montserrat Medium</vt:lpstr>
      <vt:lpstr>Times New Roman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jean .</dc:creator>
  <cp:lastModifiedBy>聖博 林</cp:lastModifiedBy>
  <cp:revision>18</cp:revision>
  <cp:lastPrinted>2024-11-26T19:31:43Z</cp:lastPrinted>
  <dcterms:created xsi:type="dcterms:W3CDTF">2022-11-07T13:10:40Z</dcterms:created>
  <dcterms:modified xsi:type="dcterms:W3CDTF">2024-11-27T13:32:54Z</dcterms:modified>
</cp:coreProperties>
</file>